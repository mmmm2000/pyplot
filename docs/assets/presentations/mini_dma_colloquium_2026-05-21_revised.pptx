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 is not that stress-strain is wrong. It answers a different question.
For screening transformation behavior, I want to hold stress constant and see how the wire contracts when current changes.
That is why iso-stress current sweeps are a better first screening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 Id="rId2" Type="http://schemas.openxmlformats.org/officeDocument/2006/relationships/notesSlide" Target="../notesSlides/notesSlide13.xml" /><Relationship Id="rId3" Type="http://schemas.openxmlformats.org/officeDocument/2006/relationships/image" Target="../media/slide13-comparison.png" /></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sp>
      <p:pic>
        <p:nvPicPr>
          <p:cNvPr id="4" name="Image 0" descr="/Users/martin/PyPlot/outputs/manual-20260520-mini-dma-deck-v3/presentations/mini-dma-colloquium/source_unzipped/ppt/media/image.png">    </p:cNvPr>
          <p:cNvPicPr>
            <a:picLocks noChangeAspect="1"/>
          </p:cNvPicPr>
          <p:nvPr/>
        </p:nvPicPr>
        <p:blipFill>
          <a:blip r:embed="rId1"/>
          <a:srcRect l="18437" r="18437"/>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Mini DMA for</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Microwire Screening</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goal is better preparation, not one perfect plot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Many variables can be compared at once</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Preparation, geometry, transformation temperatures, stress, and strain</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Correlation matrix from the microwire dataset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goal is to connect preparation data with experimental results.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More measurements make it easier to find wires with high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We also need wires that survive high stress.</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anual_stress_strain_87ma.png">    </p:cNvPr>
          <p:cNvPicPr>
            <a:picLocks noChangeAspect="1"/>
          </p:cNvPicPr>
          <p:nvPr/>
        </p:nvPicPr>
        <p:blipFill>
          <a:blip r:embed="rId1"/>
          <a:stretch>
            <a:fillRect/>
          </a:stretch>
        </p:blipFill>
        <p:spPr>
          <a:xfrm>
            <a:off x="758952" y="1678190"/>
            <a:ext cx="6629400" cy="3931388"/>
          </a:xfrm>
          <a:prstGeom prst="rect">
            <a:avLst/>
          </a:prstGeom>
        </p:spPr>
      </p:pic>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50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Iso-stress sweeps match the question better</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353312"/>
            <a:ext cx="4892040" cy="4206240"/>
          </a:xfrm>
          <a:prstGeom prst="rect">
            <a:avLst/>
          </a:prstGeom>
          <a:solidFill>
            <a:srgbClr val="F6F8FB"/>
          </a:solidFill>
          <a:ln w="12700">
            <a:solidFill>
              <a:srgbClr val="D9DEE8"/>
            </a:solidFill>
            <a:prstDash val="solid"/>
          </a:ln>
        </p:spPr>
      </p:sp>
      <p:sp>
        <p:nvSpPr>
          <p:cNvPr id="5" name="Text 3"/>
          <p:cNvSpPr/>
          <p:nvPr/>
        </p:nvSpPr>
        <p:spPr>
          <a:xfrm>
            <a:off x="1060704" y="1664208"/>
            <a:ext cx="4114800" cy="320040"/>
          </a:xfrm>
          <a:prstGeom prst="rect">
            <a:avLst/>
          </a:prstGeom>
          <a:noFill/>
          <a:ln/>
        </p:spPr>
        <p:txBody>
          <a:bodyPr wrap="square" lIns="0" tIns="0" rIns="0" bIns="0" rtlCol="0" anchor="ctr"/>
          <a:lstStyle/>
          <a:p>
            <a:pPr indent="0" marL="0">
              <a:buNone/>
            </a:pPr>
            <a:r>
              <a:rPr lang="en-US" sz="2100" b="1" dirty="0">
                <a:solidFill>
                  <a:srgbClr val="151922"/>
                </a:solidFill>
              </a:rPr>
              <a:t>Manual stress-strain</a:t>
            </a:r>
            <a:endParaRPr lang="en-US" sz="2100" dirty="0"/>
          </a:p>
        </p:txBody>
      </p:sp>
      <p:sp>
        <p:nvSpPr>
          <p:cNvPr id="6" name="Text 4"/>
          <p:cNvSpPr/>
          <p:nvPr/>
        </p:nvSpPr>
        <p:spPr>
          <a:xfrm>
            <a:off x="1078992"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one current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Change displacement manually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Get one stress-strain loop</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Repeat slowly for another current</a:t>
            </a:r>
            <a:endParaRPr lang="en-US" sz="1900" dirty="0"/>
          </a:p>
        </p:txBody>
      </p:sp>
      <p:sp>
        <p:nvSpPr>
          <p:cNvPr id="7" name="Shape 5"/>
          <p:cNvSpPr/>
          <p:nvPr/>
        </p:nvSpPr>
        <p:spPr>
          <a:xfrm>
            <a:off x="6537960" y="1353312"/>
            <a:ext cx="4892040" cy="4206240"/>
          </a:xfrm>
          <a:prstGeom prst="rect">
            <a:avLst/>
          </a:prstGeom>
          <a:solidFill>
            <a:srgbClr val="F3FAF8"/>
          </a:solidFill>
          <a:ln w="12700">
            <a:solidFill>
              <a:srgbClr val="B6DCD4"/>
            </a:solidFill>
            <a:prstDash val="solid"/>
          </a:ln>
        </p:spPr>
      </p:sp>
      <p:sp>
        <p:nvSpPr>
          <p:cNvPr id="8" name="Text 6"/>
          <p:cNvSpPr/>
          <p:nvPr/>
        </p:nvSpPr>
        <p:spPr>
          <a:xfrm>
            <a:off x="6858000" y="1664208"/>
            <a:ext cx="4251960" cy="320040"/>
          </a:xfrm>
          <a:prstGeom prst="rect">
            <a:avLst/>
          </a:prstGeom>
          <a:noFill/>
          <a:ln/>
        </p:spPr>
        <p:txBody>
          <a:bodyPr wrap="square" lIns="0" tIns="0" rIns="0" bIns="0" rtlCol="0" anchor="ctr"/>
          <a:lstStyle/>
          <a:p>
            <a:pPr indent="0" marL="0">
              <a:buNone/>
            </a:pPr>
            <a:r>
              <a:rPr lang="en-US" sz="2100" b="1" dirty="0">
                <a:solidFill>
                  <a:srgbClr val="151922"/>
                </a:solidFill>
              </a:rPr>
              <a:t>Mini DMA iso-stress sweep</a:t>
            </a:r>
            <a:endParaRPr lang="en-US" sz="2100" dirty="0"/>
          </a:p>
        </p:txBody>
      </p:sp>
      <p:sp>
        <p:nvSpPr>
          <p:cNvPr id="9" name="Text 7"/>
          <p:cNvSpPr/>
          <p:nvPr/>
        </p:nvSpPr>
        <p:spPr>
          <a:xfrm>
            <a:off x="6876288"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target stress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Increase current continuously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Let motor hold stress constant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Read strain from motor displacement</a:t>
            </a:r>
            <a:endParaRPr lang="en-US" sz="1900" dirty="0"/>
          </a:p>
        </p:txBody>
      </p:sp>
      <p:sp>
        <p:nvSpPr>
          <p:cNvPr id="10" name="Text 8"/>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05</a:t>
            </a:r>
            <a:endParaRPr lang="en-US" sz="9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 is the precise reference measurement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526808"/>
            <a:ext cx="6675120" cy="4215865"/>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06</a:t>
            </a:r>
            <a:endParaRPr lang="en-US" sz="9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sp>
      <p:sp>
        <p:nvSpPr>
          <p:cNvPr id="11" name="Shape 9"/>
          <p:cNvSpPr/>
          <p:nvPr/>
        </p:nvSpPr>
        <p:spPr>
          <a:xfrm>
            <a:off x="7589520" y="2084832"/>
            <a:ext cx="822960" cy="0"/>
          </a:xfrm>
          <a:prstGeom prst="line">
            <a:avLst/>
          </a:prstGeom>
          <a:noFill/>
          <a:ln w="26670">
            <a:solidFill>
              <a:srgbClr val="D9DEE8"/>
            </a:solidFill>
            <a:prstDash val="solid"/>
            <a:tailEnd type="triangle"/>
          </a:ln>
        </p:spPr>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301224"/>
            <a:ext cx="2880360" cy="1819175"/>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4.png">    </p:cNvPr>
          <p:cNvPicPr>
            <a:picLocks noChangeAspect="1"/>
          </p:cNvPicPr>
          <p:nvPr/>
        </p:nvPicPr>
        <p:blipFill>
          <a:blip r:embed="rId1"/>
          <a:srcRect t="15299" b="15299"/>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sp>
      <p:pic>
        <p:nvPicPr>
          <p:cNvPr id="8" name="Image 1" descr="/Users/martin/PyPlot/outputs/manual-20260520-mini-dma-deck-v3/presentations/mini-dma-colloquium/source_unzipped/ppt/media/image5.png">    </p:cNvPr>
          <p:cNvPicPr>
            <a:picLocks noChangeAspect="1"/>
          </p:cNvPicPr>
          <p:nvPr/>
        </p:nvPicPr>
        <p:blipFill>
          <a:blip r:embed="rId2"/>
          <a:srcRect l="14863" r="14863"/>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sp>
      <p:pic>
        <p:nvPicPr>
          <p:cNvPr id="11" name="Image 2" descr="/Users/martin/PyPlot/outputs/manual-20260520-mini-dma-deck-v3/presentations/mini-dma-colloquium/source_unzipped/ppt/media/image.jpeg">    </p:cNvPr>
          <p:cNvPicPr>
            <a:picLocks noChangeAspect="1"/>
          </p:cNvPicPr>
          <p:nvPr/>
        </p:nvPicPr>
        <p:blipFill>
          <a:blip r:embed="rId3"/>
          <a:srcRect l="18952" r="18952"/>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jpeg">    </p:cNvPr>
          <p:cNvPicPr>
            <a:picLocks noChangeAspect="1"/>
          </p:cNvPicPr>
          <p:nvPr/>
        </p:nvPicPr>
        <p:blipFill>
          <a:blip r:embed="rId1"/>
          <a:srcRect l="10526" r="10526"/>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run starts by defining the real zero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779814"/>
            <a:ext cx="6172200" cy="3526971"/>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637498"/>
            <a:ext cx="6035040" cy="3811604"/>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ini_dma_current_sweep_50_200mpa.png">    </p:cNvPr>
          <p:cNvPicPr>
            <a:picLocks noChangeAspect="1"/>
          </p:cNvPicPr>
          <p:nvPr/>
        </p:nvPicPr>
        <p:blipFill>
          <a:blip r:embed="rId1"/>
          <a:stretch>
            <a:fillRect/>
          </a:stretch>
        </p:blipFill>
        <p:spPr>
          <a:xfrm>
            <a:off x="795528" y="1699641"/>
            <a:ext cx="6537960" cy="3714750"/>
          </a:xfrm>
          <a:prstGeom prst="rect">
            <a:avLst/>
          </a:prstGeom>
        </p:spPr>
      </p:pic>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 name="Comparison image"/>
          <p:cNvPicPr/>
          <p:nvPr/>
        </p:nvPicPr>
        <p:blipFill>
          <a:blip r:embed="rId3"/>
          <a:stretch>
            <a:fillRect/>
          </a:stretch>
        </p:blipFill>
        <p:spPr>
          <a:xfrm>
            <a:off x="384048" y="164592"/>
            <a:ext cx="11292840" cy="6272784"/>
          </a:xfrm>
          <a:prstGeom prst="rect">
            <a:avLst/>
          </a:prstGeom>
        </p:spPr>
      </p:pic>
      <p:sp>
        <p:nvSpPr>
          <p:cNvPr id="100" name="Page"/>
          <p:cNvSpPr txBox="1"/>
          <p:nvPr/>
        </p:nvSpPr>
        <p:spPr>
          <a:xfrm>
            <a:off x="11201400" y="6400800"/>
            <a:ext cx="502920" cy="201168"/>
          </a:xfrm>
          <a:prstGeom prst="rect">
            <a:avLst/>
          </a:prstGeom>
        </p:spPr>
        <p:txBody>
          <a:bodyPr wrap="square"/>
          <a:lstStyle/>
          <a:p>
            <a:pPr algn="right"/>
            <a:r>
              <a:rPr sz="900" b="0">
                <a:solidFill>
                  <a:srgbClr val="687386"/>
                </a:solidFill>
                <a:latin typeface="Helvetica"/>
              </a:rPr>
              <a:t>13</a:t>
            </a:r>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jpeg">    </p:cNvPr>
          <p:cNvPicPr>
            <a:picLocks noChangeAspect="1"/>
          </p:cNvPicPr>
          <p:nvPr/>
        </p:nvPicPr>
        <p:blipFill>
          <a:blip r:embed="rId1"/>
          <a:srcRect t="20445" b="20445"/>
          <a:stretch>
            <a:fillRect/>
          </a:stretch>
        </p:blipFill>
        <p:spPr>
          <a:xfrm>
            <a:off x="868680" y="1344168"/>
            <a:ext cx="5394960" cy="4251960"/>
          </a:xfrm>
          <a:prstGeom prst="rect">
            <a:avLst/>
          </a:prstGeom>
        </p:spPr>
      </p:pic>
      <p:sp>
        <p:nvSpPr>
          <p:cNvPr id="6" name="Text 3"/>
          <p:cNvSpPr/>
          <p:nvPr/>
        </p:nvSpPr>
        <p:spPr>
          <a:xfrm>
            <a:off x="914400" y="5349240"/>
            <a:ext cx="5303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Thermal camera hardware available for integration</a:t>
            </a:r>
            <a:endParaRPr lang="en-US" sz="850" dirty="0"/>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