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cba91515974c0c" /><Relationship Type="http://schemas.openxmlformats.org/officeDocument/2006/relationships/extended-properties" Target="/docProps/app.xml" Id="R2f113932ae874266" /><Relationship Type="http://schemas.openxmlformats.org/officeDocument/2006/relationships/officeDocument" Target="/ppt/presentation.xml" Id="R2ef5d4b3757a48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b6fdde08234c93"/>
  </p:sldMasterIdLst>
  <p:notesMasterIdLst>
    <p:notesMasterId xmlns:r="http://schemas.openxmlformats.org/officeDocument/2006/relationships" r:id="R47be08f85fe9412e"/>
  </p:notesMasterIdLst>
  <p:sldIdLst>
    <p:sldId xmlns:r="http://schemas.openxmlformats.org/officeDocument/2006/relationships" id="256" r:id="Ra8f20c896583459d"/>
    <p:sldId xmlns:r="http://schemas.openxmlformats.org/officeDocument/2006/relationships" id="257" r:id="R0a6a9046c0c24d26"/>
    <p:sldId xmlns:r="http://schemas.openxmlformats.org/officeDocument/2006/relationships" id="258" r:id="Rc6129fd841454bdf"/>
    <p:sldId xmlns:r="http://schemas.openxmlformats.org/officeDocument/2006/relationships" id="259" r:id="R605a372928d24af8"/>
    <p:sldId xmlns:r="http://schemas.openxmlformats.org/officeDocument/2006/relationships" id="260" r:id="R8356663233c847c9"/>
    <p:sldId xmlns:r="http://schemas.openxmlformats.org/officeDocument/2006/relationships" id="261" r:id="Rf8b413a6cd364a47"/>
    <p:sldId xmlns:r="http://schemas.openxmlformats.org/officeDocument/2006/relationships" id="262" r:id="R0b8a1f17d3cf422e"/>
    <p:sldId xmlns:r="http://schemas.openxmlformats.org/officeDocument/2006/relationships" id="263" r:id="R44541482ea4942cb"/>
    <p:sldId xmlns:r="http://schemas.openxmlformats.org/officeDocument/2006/relationships" id="264" r:id="R63855465da974eb5"/>
    <p:sldId xmlns:r="http://schemas.openxmlformats.org/officeDocument/2006/relationships" id="265" r:id="R4531b017c3d54459"/>
    <p:sldId xmlns:r="http://schemas.openxmlformats.org/officeDocument/2006/relationships" id="266" r:id="Rb15077beabac4c69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b6fdde08234c93" /><Relationship Type="http://schemas.openxmlformats.org/officeDocument/2006/relationships/theme" Target="/ppt/theme/theme1.xml" Id="R0252020b578e4bf6" /><Relationship Type="http://schemas.openxmlformats.org/officeDocument/2006/relationships/notesMaster" Target="/ppt/notesMasters/notesMaster1.xml" Id="R47be08f85fe9412e" /><Relationship Type="http://schemas.openxmlformats.org/officeDocument/2006/relationships/presProps" Target="/ppt/presProps.xml" Id="Rb526baaba0704e18" /><Relationship Type="http://schemas.openxmlformats.org/officeDocument/2006/relationships/viewProps" Target="/ppt/viewProps.xml" Id="Rcadc2b55e6504699" /><Relationship Type="http://schemas.openxmlformats.org/officeDocument/2006/relationships/tableStyles" Target="/ppt/tableStyles.xml" Id="R8d55795030a248f7" /><Relationship Type="http://schemas.openxmlformats.org/officeDocument/2006/relationships/slide" Target="/ppt/slides/slide1.xml" Id="Ra8f20c896583459d" /><Relationship Type="http://schemas.openxmlformats.org/officeDocument/2006/relationships/slide" Target="/ppt/slides/slide2.xml" Id="R0a6a9046c0c24d26" /><Relationship Type="http://schemas.openxmlformats.org/officeDocument/2006/relationships/slide" Target="/ppt/slides/slide3.xml" Id="Rc6129fd841454bdf" /><Relationship Type="http://schemas.openxmlformats.org/officeDocument/2006/relationships/slide" Target="/ppt/slides/slide4.xml" Id="R605a372928d24af8" /><Relationship Type="http://schemas.openxmlformats.org/officeDocument/2006/relationships/slide" Target="/ppt/slides/slide5.xml" Id="R8356663233c847c9" /><Relationship Type="http://schemas.openxmlformats.org/officeDocument/2006/relationships/slide" Target="/ppt/slides/slide6.xml" Id="Rf8b413a6cd364a47" /><Relationship Type="http://schemas.openxmlformats.org/officeDocument/2006/relationships/slide" Target="/ppt/slides/slide7.xml" Id="R0b8a1f17d3cf422e" /><Relationship Type="http://schemas.openxmlformats.org/officeDocument/2006/relationships/slide" Target="/ppt/slides/slide8.xml" Id="R44541482ea4942cb" /><Relationship Type="http://schemas.openxmlformats.org/officeDocument/2006/relationships/slide" Target="/ppt/slides/slide9.xml" Id="R63855465da974eb5" /><Relationship Type="http://schemas.openxmlformats.org/officeDocument/2006/relationships/slide" Target="/ppt/slides/slide10.xml" Id="R4531b017c3d54459" /><Relationship Type="http://schemas.openxmlformats.org/officeDocument/2006/relationships/slide" Target="/ppt/slides/slide11.xml" Id="Rb15077beabac4c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e6754c6586c43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cf89587900455f" /><Relationship Type="http://schemas.openxmlformats.org/officeDocument/2006/relationships/notesMaster" Target="/ppt/notesMasters/notesMaster1.xml" Id="R63b8243036664d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32e92c45394c3f" /><Relationship Type="http://schemas.openxmlformats.org/officeDocument/2006/relationships/notesMaster" Target="/ppt/notesMasters/notesMaster1.xml" Id="R42f07f6548694c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b44bc4cba34dc2" /><Relationship Type="http://schemas.openxmlformats.org/officeDocument/2006/relationships/notesMaster" Target="/ppt/notesMasters/notesMaster1.xml" Id="Rc4ed1787f3d941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c4b1d321ef4401f" /><Relationship Type="http://schemas.openxmlformats.org/officeDocument/2006/relationships/notesMaster" Target="/ppt/notesMasters/notesMaster1.xml" Id="R155655f5889045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763f43c33144e0" /><Relationship Type="http://schemas.openxmlformats.org/officeDocument/2006/relationships/notesMaster" Target="/ppt/notesMasters/notesMaster1.xml" Id="Rea2ab0ee047f46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b40a5940ed4815" /><Relationship Type="http://schemas.openxmlformats.org/officeDocument/2006/relationships/notesMaster" Target="/ppt/notesMasters/notesMaster1.xml" Id="R02cb86ad476f4b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31efa46ef545d2" /><Relationship Type="http://schemas.openxmlformats.org/officeDocument/2006/relationships/notesMaster" Target="/ppt/notesMasters/notesMaster1.xml" Id="Rab16661d49cb49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5e0a8348f54250" /><Relationship Type="http://schemas.openxmlformats.org/officeDocument/2006/relationships/notesMaster" Target="/ppt/notesMasters/notesMaster1.xml" Id="R182257033f2d47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b2aa44446b4aa2" /><Relationship Type="http://schemas.openxmlformats.org/officeDocument/2006/relationships/notesMaster" Target="/ppt/notesMasters/notesMaster1.xml" Id="Re13438e64f684b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3a924d6e784fa5" /><Relationship Type="http://schemas.openxmlformats.org/officeDocument/2006/relationships/notesMaster" Target="/ppt/notesMasters/notesMaster1.xml" Id="R2e523908a04f45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b5b678afb545b6" /><Relationship Type="http://schemas.openxmlformats.org/officeDocument/2006/relationships/notesMaster" Target="/ppt/notesMasters/notesMaster1.xml" Id="R41dd50e3d46f47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Limpat has already introduced the microwires themselves, so I will not repeat that part.</a:t>
            </a:r>
          </a:p>
          <a:p xmlns:a="http://schemas.openxmlformats.org/drawingml/2006/main">
            <a:r>
              <a:t>      I want to focus on the next problem, which is more practical: if we want to prepare good wires reproducibly, we need to measure enough of them.</a:t>
            </a:r>
          </a:p>
          <a:p xmlns:a="http://schemas.openxmlformats.org/drawingml/2006/main">
            <a:r>
              <a:t>      This talk is about the measurement workflow, and about the small setup we built to make that workflow faster.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My goal is not just to measure one nice wire.</a:t>
            </a:r>
          </a:p>
          <a:p xmlns:a="http://schemas.openxmlformats.org/drawingml/2006/main">
            <a:r>
              <a:t>      The real question is: how do we prepare good wires on purpose?</a:t>
            </a:r>
          </a:p>
          <a:p xmlns:a="http://schemas.openxmlformats.org/drawingml/2006/main">
            <a:r>
              <a:t>      In Prague we have many wires prepared under different conditions, and we need to connect those preparation choices to the final response.</a:t>
            </a:r>
          </a:p>
          <a:p xmlns:a="http://schemas.openxmlformats.org/drawingml/2006/main">
            <a:r>
              <a:t>      So the measurement workflow has to help select which samples deserve the slow detailed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difficulty is that every sample can be a little different.</a:t>
            </a:r>
          </a:p>
          <a:p xmlns:a="http://schemas.openxmlformats.org/drawingml/2006/main">
            <a:r>
              <a:t>      Even a very precise measurement does not tell the whole story if we only do it once.</a:t>
            </a:r>
          </a:p>
          <a:p xmlns:a="http://schemas.openxmlformats.org/drawingml/2006/main">
            <a:r>
              <a:t>      We need to compare many wires, many treatments, and ideally see trends.</a:t>
            </a:r>
          </a:p>
          <a:p xmlns:a="http://schemas.openxmlformats.org/drawingml/2006/main">
            <a:r>
              <a:t>      This correlation matrix is not here to be read in detail. It is here to show the scale of the comparison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each wire, the key values are quite concrete.</a:t>
            </a:r>
          </a:p>
          <a:p xmlns:a="http://schemas.openxmlformats.org/drawingml/2006/main">
            <a:r>
              <a:t>      At what temperature, or under what heating condition, does the transformation happen?</a:t>
            </a:r>
          </a:p>
          <a:p xmlns:a="http://schemas.openxmlformats.org/drawingml/2006/main">
            <a:r>
              <a:t>      How much strain do we get, and how does it depend on stress?</a:t>
            </a:r>
          </a:p>
          <a:p xmlns:a="http://schemas.openxmlformats.org/drawingml/2006/main">
            <a:r>
              <a:t>      Because the heating is electrical, current alone is not always the most useful variable.</a:t>
            </a:r>
          </a:p>
          <a:p xmlns:a="http://schemas.openxmlformats.org/drawingml/2006/main">
            <a:r>
              <a:t>      From current and resistance we can calculate power quickly, which is often closer to the actuator question.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commercial DMA is still the reference tool when we want precise strain and temperature values.</a:t>
            </a:r>
          </a:p>
          <a:p xmlns:a="http://schemas.openxmlformats.org/drawingml/2006/main">
            <a:r>
              <a:t>      But in practice it is not a quick screening tool.</a:t>
            </a:r>
          </a:p>
          <a:p xmlns:a="http://schemas.openxmlformats.org/drawingml/2006/main">
            <a:r>
              <a:t>      Each run takes time, it needs liquid nitrogen, and access to the instrument is limited.</a:t>
            </a:r>
          </a:p>
          <a:p xmlns:a="http://schemas.openxmlformats.org/drawingml/2006/main">
            <a:r>
              <a:t>      So if we have many samples, the measurement itself becomes the bottleneck.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idea is not to replace the commercial DMA.</a:t>
            </a:r>
          </a:p>
          <a:p xmlns:a="http://schemas.openxmlformats.org/drawingml/2006/main">
            <a:r>
              <a:t>      I see Mini DMA as a first-pass instrument.</a:t>
            </a:r>
          </a:p>
          <a:p xmlns:a="http://schemas.openxmlformats.org/drawingml/2006/main">
            <a:r>
              <a:t>      It lets us screen samples, try protocols, and understand which wires are worth sending to the precise measurement.</a:t>
            </a:r>
          </a:p>
          <a:p xmlns:a="http://schemas.openxmlformats.org/drawingml/2006/main">
            <a:r>
              <a:t>      In other words, it should make the commercial DMA time more focused and more useful.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hardware is deliberately simple.</a:t>
            </a:r>
          </a:p>
          <a:p xmlns:a="http://schemas.openxmlformats.org/drawingml/2006/main">
            <a:r>
              <a:t>      The motor changes the wire length, the balance tells us the load, and the power supply heats the wire by current.</a:t>
            </a:r>
          </a:p>
          <a:p xmlns:a="http://schemas.openxmlformats.org/drawingml/2006/main">
            <a:r>
              <a:t>      At the same time we record the electrical quantities, so later we can look not only at current, but also at resistance and calculated power.</a:t>
            </a:r>
          </a:p>
          <a:p xmlns:a="http://schemas.openxmlformats.org/drawingml/2006/main">
            <a:r>
              <a:t>      The interesting part is making these pieces behave as one controlled experiment.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gram sounds small, but for a 13 micrometer wire it is already around 74 MPa.</a:t>
            </a:r>
          </a:p>
          <a:p xmlns:a="http://schemas.openxmlformats.org/drawingml/2006/main">
            <a:r>
              <a:t>      So the balance resolution is meaningful.</a:t>
            </a:r>
          </a:p>
          <a:p xmlns:a="http://schemas.openxmlformats.org/drawingml/2006/main">
            <a:r>
              <a:t>      The downside is speed: the balance gives fresh useful data only a few times per second.</a:t>
            </a:r>
          </a:p>
          <a:p xmlns:a="http://schemas.openxmlformats.org/drawingml/2006/main">
            <a:r>
              <a:t>      The controller has to respect that. It cannot behave as if it had a fast load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the actual sweep, the setup has to define a sensible zero for strain.</a:t>
            </a:r>
          </a:p>
          <a:p xmlns:a="http://schemas.openxmlformats.org/drawingml/2006/main">
            <a:r>
              <a:t>      The wire may not be perfectly straight or preloaded when it is mounted, so the starting position alone is not enough.</a:t>
            </a:r>
          </a:p>
          <a:p xmlns:a="http://schemas.openxmlformats.org/drawingml/2006/main">
            <a:r>
              <a:t>      After that the controller approaches the stress target.</a:t>
            </a:r>
          </a:p>
          <a:p xmlns:a="http://schemas.openxmlformats.org/drawingml/2006/main">
            <a:r>
              <a:t>      Far away it can make larger corrections, but near the target it becomes conservative: move a little, wait for a fresh balance reading, and then decide again.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measurement from the setup.</a:t>
            </a:r>
          </a:p>
          <a:p xmlns:a="http://schemas.openxmlformats.org/drawingml/2006/main">
            <a:r>
              <a:t>      I kept only the lower stress curves here so the slide remains readable.</a:t>
            </a:r>
          </a:p>
          <a:p xmlns:a="http://schemas.openxmlformats.org/drawingml/2006/main">
            <a:r>
              <a:t>      The bottom axis is current, and the top axis is the calculated electrical power.</a:t>
            </a:r>
          </a:p>
          <a:p xmlns:a="http://schemas.openxmlformats.org/drawingml/2006/main">
            <a:r>
              <a:t>      Since resistance is logged together with current, power is not an extra measurement.</a:t>
            </a:r>
          </a:p>
          <a:p xmlns:a="http://schemas.openxmlformats.org/drawingml/2006/main">
            <a:r>
              <a:t>      This is not final validation yet, but it shows that the setup can produce an interpretable controlled sweep.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me, the main value of this setup is faster learning.</a:t>
            </a:r>
          </a:p>
          <a:p xmlns:a="http://schemas.openxmlformats.org/drawingml/2006/main">
            <a:r>
              <a:t>      If we can test more wires before using the commercial DMA, then we can build a better preparation map and choose better candidates for precise validation.</a:t>
            </a:r>
          </a:p>
          <a:p xmlns:a="http://schemas.openxmlformats.org/drawingml/2006/main">
            <a:r>
              <a:t>      There is also a broader point here.</a:t>
            </a:r>
          </a:p>
          <a:p xmlns:a="http://schemas.openxmlformats.org/drawingml/2006/main">
            <a:r>
              <a:t>      This setup was developed very quickly by one person, with AI helping in a lot of the engineering steps: choosing components, reading manuals, wiring, installing drivers, and writing software.</a:t>
            </a:r>
          </a:p>
          <a:p xmlns:a="http://schemas.openxmlformats.org/drawingml/2006/main">
            <a:r>
              <a:t>      Of course, the physical validation still has to be done by us. The experiment still has to make sense.</a:t>
            </a:r>
          </a:p>
          <a:p xmlns:a="http://schemas.openxmlformats.org/drawingml/2006/main">
            <a:r>
              <a:t>      But it changes what one researcher can realistically build when they have a clear measurement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20ab08073a44a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39aea1aae6743ac" /><Relationship Type="http://schemas.openxmlformats.org/officeDocument/2006/relationships/slideLayout" Target="/ppt/slideLayouts/slideLayout2.xml" Id="R00f70c9f2d7d4b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f70c9f2d7d4b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218415d8de4423" /><Relationship Type="http://schemas.openxmlformats.org/officeDocument/2006/relationships/image" Target="/ppt/media/image.png" Id="R0ed70fc36f054087" /><Relationship Type="http://schemas.openxmlformats.org/officeDocument/2006/relationships/notesSlide" Target="/ppt/notesSlides/notesSlide1.xml" Id="Rfd2cb9333a1648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60dc6b38ff46cc" /><Relationship Type="http://schemas.openxmlformats.org/officeDocument/2006/relationships/notesSlide" Target="/ppt/notesSlides/notesSlide2.xml" Id="R32f6725240614a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437815446642d6" /><Relationship Type="http://schemas.openxmlformats.org/officeDocument/2006/relationships/image" Target="/ppt/media/image2.png" Id="Rded8dc429a47442c" /><Relationship Type="http://schemas.openxmlformats.org/officeDocument/2006/relationships/notesSlide" Target="/ppt/notesSlides/notesSlide3.xml" Id="Rfb5869fff39a44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7d746d35bd4ed0" /><Relationship Type="http://schemas.openxmlformats.org/officeDocument/2006/relationships/image" Target="/ppt/media/image3.png" Id="Rb43ebf0cb84f4d62" /><Relationship Type="http://schemas.openxmlformats.org/officeDocument/2006/relationships/notesSlide" Target="/ppt/notesSlides/notesSlide4.xml" Id="Rcc0d5967cff141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d2b5e9f83646b4" /><Relationship Type="http://schemas.openxmlformats.org/officeDocument/2006/relationships/image" Target="/ppt/media/image4.png" Id="Ra3086c14f3a44525" /><Relationship Type="http://schemas.openxmlformats.org/officeDocument/2006/relationships/notesSlide" Target="/ppt/notesSlides/notesSlide5.xml" Id="R946db351147a49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492e0e5efb49a8" /><Relationship Type="http://schemas.openxmlformats.org/officeDocument/2006/relationships/image" Target="/ppt/media/image5.png" Id="R525ce8f033434041" /><Relationship Type="http://schemas.openxmlformats.org/officeDocument/2006/relationships/image" Target="/ppt/media/image6.png" Id="Rcac77c6581a0437d" /><Relationship Type="http://schemas.openxmlformats.org/officeDocument/2006/relationships/notesSlide" Target="/ppt/notesSlides/notesSlide6.xml" Id="R00de3a21b0ba44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d8e186a9c84fd5" /><Relationship Type="http://schemas.openxmlformats.org/officeDocument/2006/relationships/image" Target="/ppt/media/image7.png" Id="R1f1478047a364e88" /><Relationship Type="http://schemas.openxmlformats.org/officeDocument/2006/relationships/notesSlide" Target="/ppt/notesSlides/notesSlide7.xml" Id="Rfaeeeb7a173746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907f79fd614b74" /><Relationship Type="http://schemas.openxmlformats.org/officeDocument/2006/relationships/image" Target="/ppt/media/image8.png" Id="Rfe4f9f0a86fd4932" /><Relationship Type="http://schemas.openxmlformats.org/officeDocument/2006/relationships/image" Target="/ppt/media/image9.png" Id="R09b143abd3174b15" /><Relationship Type="http://schemas.openxmlformats.org/officeDocument/2006/relationships/notesSlide" Target="/ppt/notesSlides/notesSlide8.xml" Id="R270ab24378f741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585522ba8b4471" /><Relationship Type="http://schemas.openxmlformats.org/officeDocument/2006/relationships/image" Target="/ppt/media/image10.png" Id="R78e41b5951984e6e" /><Relationship Type="http://schemas.openxmlformats.org/officeDocument/2006/relationships/image" Target="/ppt/media/image11.png" Id="Rb2808ec751244414" /><Relationship Type="http://schemas.openxmlformats.org/officeDocument/2006/relationships/notesSlide" Target="/ppt/notesSlides/notesSlide9.xml" Id="Re77cbe1a3f8047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910f8766cc4eb1" /><Relationship Type="http://schemas.openxmlformats.org/officeDocument/2006/relationships/image" Target="/ppt/media/image12.png" Id="R730c4125c70d4c90" /><Relationship Type="http://schemas.openxmlformats.org/officeDocument/2006/relationships/notesSlide" Target="/ppt/notesSlides/notesSlide10.xml" Id="R6db4d44bb20047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d40ef59e984639" /><Relationship Type="http://schemas.openxmlformats.org/officeDocument/2006/relationships/image" Target="/ppt/media/image.jpeg" Id="R608202b06b444269" /><Relationship Type="http://schemas.openxmlformats.org/officeDocument/2006/relationships/notesSlide" Target="/ppt/notesSlides/notesSlide11.xml" Id="Rd827ae27b12d44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Ni-Fe-Ga microwire research">
            <a:extLst xmlns:a="http://schemas.openxmlformats.org/drawingml/2006/main">
              <a:ext uri="{FF2B5EF4-FFF2-40B4-BE49-F238E27FC236}">
                <a16:creationId xmlns:a16="http://schemas.microsoft.com/office/drawing/2014/main" id="{6B59961D-9CC3-42DF-8BCE-865BCC27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7410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NI-FE-GA MICROWIRE RESEARCH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54D5DE4-0D14-45CE-A81B-6013E35D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66800"/>
            <a:ext cx="7410450" cy="1543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025" b="1">
                <a:solidFill>
                  <a:srgbClr val="101828"/>
                </a:solidFill>
              </a:defRPr>
            </a:pPr>
            <a:r>
              <a:rPr sz="5025" b="1">
                <a:solidFill>
                  <a:srgbClr val="101828"/>
                </a:solidFill>
              </a:rPr>
              <a:t>Instrumentation for faster measurement workflows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D7B310A0-3690-4908-9CF9-9C2A49F4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body-Mini DMA as a screening">
            <a:extLst xmlns:a="http://schemas.openxmlformats.org/drawingml/2006/main">
              <a:ext uri="{FF2B5EF4-FFF2-40B4-BE49-F238E27FC236}">
                <a16:creationId xmlns:a16="http://schemas.microsoft.com/office/drawing/2014/main" id="{E7F0E167-492B-4426-A408-C108FACF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65341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475467"/>
                </a:solidFill>
              </a:defRPr>
            </a:pPr>
            <a:r>
              <a:rPr sz="2325">
                <a:solidFill>
                  <a:srgbClr val="475467"/>
                </a:solidFill>
              </a:rPr>
              <a:t>Mini DMA as a screening step before commercial DMA validation</a:t>
            </a:r>
          </a:p>
        </p:txBody>
      </p:sp>
      <p:sp>
        <p:nvSpPr>
          <p:cNvPr id="5" name="Mini DMA setup-panel">
            <a:extLst xmlns:a="http://schemas.openxmlformats.org/drawingml/2006/main">
              <a:ext uri="{FF2B5EF4-FFF2-40B4-BE49-F238E27FC236}">
                <a16:creationId xmlns:a16="http://schemas.microsoft.com/office/drawing/2014/main" id="{1F6D89D2-E6F9-4086-BCF3-04608AE2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6048" y="609600"/>
            <a:ext cx="8702802" cy="8671560"/>
          </a:xfrm>
          <a:prstGeom xmlns:a="http://schemas.openxmlformats.org/drawingml/2006/main" prst="roundRect">
            <a:avLst>
              <a:gd name="adj" fmla="val 879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6" name="Mini DMA setup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70fc36f054087"/>
          <a:srcRect xmlns:a="http://schemas.openxmlformats.org/drawingml/2006/main" l="12375" t="0" r="1237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6048" y="609600"/>
            <a:ext cx="8702802" cy="8671560"/>
          </a:xfrm>
          <a:prstGeom xmlns:a="http://schemas.openxmlformats.org/drawingml/2006/main" prst="rect">
            <a:avLst/>
          </a:prstGeom>
        </p:spPr>
      </p:pic>
      <p:sp>
        <p:nvSpPr>
          <p:cNvPr id="7" name="cover-author">
            <a:extLst xmlns:a="http://schemas.openxmlformats.org/drawingml/2006/main">
              <a:ext uri="{FF2B5EF4-FFF2-40B4-BE49-F238E27FC236}">
                <a16:creationId xmlns:a16="http://schemas.microsoft.com/office/drawing/2014/main" id="{E7E595E0-87D0-4EA3-A66E-14B2FFE3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467850"/>
            <a:ext cx="14325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7085"/>
                </a:solidFill>
              </a:defRPr>
            </a:pPr>
            <a:r>
              <a:rPr sz="1350" b="1">
                <a:solidFill>
                  <a:srgbClr val="667085"/>
                </a:solidFill>
              </a:rPr>
              <a:t>Martin Elias</a:t>
            </a:r>
          </a:p>
        </p:txBody>
      </p:sp>
      <p:sp>
        <p:nvSpPr>
          <p:cNvPr id="8" name="cover-date">
            <a:extLst xmlns:a="http://schemas.openxmlformats.org/drawingml/2006/main">
              <a:ext uri="{FF2B5EF4-FFF2-40B4-BE49-F238E27FC236}">
                <a16:creationId xmlns:a16="http://schemas.microsoft.com/office/drawing/2014/main" id="{59D40ACB-5E37-446C-B0D0-73ED0DE6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9467850"/>
            <a:ext cx="1619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21 May 2026</a:t>
            </a:r>
          </a:p>
        </p:txBody>
      </p:sp>
      <p:sp>
        <p:nvSpPr>
          <p:cNvPr id="9" name="cover-number">
            <a:extLst xmlns:a="http://schemas.openxmlformats.org/drawingml/2006/main">
              <a:ext uri="{FF2B5EF4-FFF2-40B4-BE49-F238E27FC236}">
                <a16:creationId xmlns:a16="http://schemas.microsoft.com/office/drawing/2014/main" id="{B54DCB8A-FF1A-46A1-9DF3-4BA5C9B6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8800" y="94678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597920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research goal">
            <a:extLst xmlns:a="http://schemas.openxmlformats.org/drawingml/2006/main">
              <a:ext uri="{FF2B5EF4-FFF2-40B4-BE49-F238E27FC236}">
                <a16:creationId xmlns:a16="http://schemas.microsoft.com/office/drawing/2014/main" id="{CB5D790D-BFB8-4BED-A925-A4768988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RESEARCH GOAL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70F438-3B46-43FE-9324-A177EF0D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101828"/>
                </a:solidFill>
              </a:defRPr>
            </a:pPr>
            <a:r>
              <a:rPr sz="3825" b="1">
                <a:solidFill>
                  <a:srgbClr val="101828"/>
                </a:solidFill>
              </a:rPr>
              <a:t>The goal is preparation rules, not one nice plot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CF4D2DBF-FE49-48EC-8570-984FDE01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flow-title-prepare">
            <a:extLst xmlns:a="http://schemas.openxmlformats.org/drawingml/2006/main">
              <a:ext uri="{FF2B5EF4-FFF2-40B4-BE49-F238E27FC236}">
                <a16:creationId xmlns:a16="http://schemas.microsoft.com/office/drawing/2014/main" id="{728CC844-B61F-4A50-9978-D077DB72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48768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4D89"/>
                </a:solidFill>
              </a:defRPr>
            </a:pPr>
            <a:r>
              <a:rPr sz="2325" b="1">
                <a:solidFill>
                  <a:srgbClr val="1B4D89"/>
                </a:solidFill>
              </a:rPr>
              <a:t>prepare</a:t>
            </a:r>
          </a:p>
        </p:txBody>
      </p:sp>
      <p:sp>
        <p:nvSpPr>
          <p:cNvPr id="5" name="flow-rule-prepare">
            <a:extLst xmlns:a="http://schemas.openxmlformats.org/drawingml/2006/main">
              <a:ext uri="{FF2B5EF4-FFF2-40B4-BE49-F238E27FC236}">
                <a16:creationId xmlns:a16="http://schemas.microsoft.com/office/drawing/2014/main" id="{BF865BF0-D261-42B3-8A01-1665E9A9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D89"/>
          </a:solidFill>
          <a:ln xmlns:a="http://schemas.openxmlformats.org/drawingml/2006/main" w="0">
            <a:solidFill>
              <a:srgbClr val="1B4D89"/>
            </a:solidFill>
            <a:prstDash val="solid"/>
          </a:ln>
        </p:spPr>
      </p:sp>
      <p:sp>
        <p:nvSpPr>
          <p:cNvPr id="6" name="flow-detail-prepare">
            <a:extLst xmlns:a="http://schemas.openxmlformats.org/drawingml/2006/main">
              <a:ext uri="{FF2B5EF4-FFF2-40B4-BE49-F238E27FC236}">
                <a16:creationId xmlns:a16="http://schemas.microsoft.com/office/drawing/2014/main" id="{3150C631-293C-4148-818B-CC149641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487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composition, annealing, pre-stress</a:t>
            </a:r>
          </a:p>
        </p:txBody>
      </p:sp>
      <p:sp>
        <p:nvSpPr>
          <p:cNvPr id="7" name="flow-arrow">
            <a:extLst xmlns:a="http://schemas.openxmlformats.org/drawingml/2006/main">
              <a:ext uri="{FF2B5EF4-FFF2-40B4-BE49-F238E27FC236}">
                <a16:creationId xmlns:a16="http://schemas.microsoft.com/office/drawing/2014/main" id="{480BDAFB-FCC5-4D68-A3D7-35693AB4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05000"/>
            <a:ext cx="533400" cy="7372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667085"/>
                </a:solidFill>
              </a:defRPr>
            </a:pPr>
            <a:r>
              <a:rPr sz="2850" b="1">
                <a:solidFill>
                  <a:srgbClr val="667085"/>
                </a:solidFill>
              </a:rPr>
              <a:t>-&gt;</a:t>
            </a:r>
          </a:p>
        </p:txBody>
      </p:sp>
      <p:sp>
        <p:nvSpPr>
          <p:cNvPr id="8" name="flow-title-measure">
            <a:extLst xmlns:a="http://schemas.openxmlformats.org/drawingml/2006/main">
              <a:ext uri="{FF2B5EF4-FFF2-40B4-BE49-F238E27FC236}">
                <a16:creationId xmlns:a16="http://schemas.microsoft.com/office/drawing/2014/main" id="{4258B205-7BCC-4AD4-86CB-B5ECC5E1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05000"/>
            <a:ext cx="48768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measure</a:t>
            </a:r>
          </a:p>
        </p:txBody>
      </p:sp>
      <p:sp>
        <p:nvSpPr>
          <p:cNvPr id="9" name="flow-rule-measure">
            <a:extLst xmlns:a="http://schemas.openxmlformats.org/drawingml/2006/main">
              <a:ext uri="{FF2B5EF4-FFF2-40B4-BE49-F238E27FC236}">
                <a16:creationId xmlns:a16="http://schemas.microsoft.com/office/drawing/2014/main" id="{7733BA82-C1B3-4F86-8C22-0582122A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10" name="flow-detail-measure">
            <a:extLst xmlns:a="http://schemas.openxmlformats.org/drawingml/2006/main">
              <a:ext uri="{FF2B5EF4-FFF2-40B4-BE49-F238E27FC236}">
                <a16:creationId xmlns:a16="http://schemas.microsoft.com/office/drawing/2014/main" id="{A20E2CF7-DB94-4B6D-82C3-385F4506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33650"/>
            <a:ext cx="487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strain, stress, current, power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7A8E2DE2-A760-4B85-954A-736832AA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1905000"/>
            <a:ext cx="533400" cy="7372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667085"/>
                </a:solidFill>
              </a:defRPr>
            </a:pPr>
            <a:r>
              <a:rPr sz="2850" b="1">
                <a:solidFill>
                  <a:srgbClr val="667085"/>
                </a:solidFill>
              </a:rPr>
              <a:t>-&gt;</a:t>
            </a:r>
          </a:p>
        </p:txBody>
      </p:sp>
      <p:sp>
        <p:nvSpPr>
          <p:cNvPr id="12" name="flow-title-select">
            <a:extLst xmlns:a="http://schemas.openxmlformats.org/drawingml/2006/main">
              <a:ext uri="{FF2B5EF4-FFF2-40B4-BE49-F238E27FC236}">
                <a16:creationId xmlns:a16="http://schemas.microsoft.com/office/drawing/2014/main" id="{FED20F7F-7723-403F-AA77-E57104FA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1905000"/>
            <a:ext cx="48768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5309"/>
                </a:solidFill>
              </a:defRPr>
            </a:pPr>
            <a:r>
              <a:rPr sz="2325" b="1">
                <a:solidFill>
                  <a:srgbClr val="B45309"/>
                </a:solidFill>
              </a:rPr>
              <a:t>select</a:t>
            </a:r>
          </a:p>
        </p:txBody>
      </p:sp>
      <p:sp>
        <p:nvSpPr>
          <p:cNvPr id="13" name="flow-rule-select">
            <a:extLst xmlns:a="http://schemas.openxmlformats.org/drawingml/2006/main">
              <a:ext uri="{FF2B5EF4-FFF2-40B4-BE49-F238E27FC236}">
                <a16:creationId xmlns:a16="http://schemas.microsoft.com/office/drawing/2014/main" id="{2AE9E5D6-9C2F-442B-B5F2-69905945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3812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flow-detail-select">
            <a:extLst xmlns:a="http://schemas.openxmlformats.org/drawingml/2006/main">
              <a:ext uri="{FF2B5EF4-FFF2-40B4-BE49-F238E27FC236}">
                <a16:creationId xmlns:a16="http://schemas.microsoft.com/office/drawing/2014/main" id="{3454094A-260B-41B6-8FE0-CF55A0F6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533650"/>
            <a:ext cx="487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best candidates for precise DMA</a:t>
            </a:r>
          </a:p>
        </p:txBody>
      </p:sp>
      <p:sp>
        <p:nvSpPr>
          <p:cNvPr id="1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B8ECD206-5249-4943-8501-259B0FF0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1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C9A9B8F-D5B1-415B-BF81-1D01ACD6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650045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throughput">
            <a:extLst xmlns:a="http://schemas.openxmlformats.org/drawingml/2006/main">
              <a:ext uri="{FF2B5EF4-FFF2-40B4-BE49-F238E27FC236}">
                <a16:creationId xmlns:a16="http://schemas.microsoft.com/office/drawing/2014/main" id="{A98C8706-342A-4711-991C-5CA8FE0F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THROUGHPUT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EC901C-542F-4700-AB83-68BCFDD9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01828"/>
                </a:solidFill>
              </a:defRPr>
            </a:pPr>
            <a:r>
              <a:rPr sz="4050" b="1">
                <a:solidFill>
                  <a:srgbClr val="101828"/>
                </a:solidFill>
              </a:rPr>
              <a:t>One precise run is not enough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AAF826FB-533F-4F2C-8541-92806A5A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metric-value-samples and treatments">
            <a:extLst xmlns:a="http://schemas.openxmlformats.org/drawingml/2006/main">
              <a:ext uri="{FF2B5EF4-FFF2-40B4-BE49-F238E27FC236}">
                <a16:creationId xmlns:a16="http://schemas.microsoft.com/office/drawing/2014/main" id="{72F5377B-AE15-44AC-9F50-686F1B80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6248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B4D89"/>
                </a:solidFill>
              </a:defRPr>
            </a:pPr>
            <a:r>
              <a:rPr sz="3600" b="1">
                <a:solidFill>
                  <a:srgbClr val="1B4D89"/>
                </a:solidFill>
              </a:rPr>
              <a:t>many</a:t>
            </a:r>
          </a:p>
        </p:txBody>
      </p:sp>
      <p:sp>
        <p:nvSpPr>
          <p:cNvPr id="5" name="metric-label-samples and treatments">
            <a:extLst xmlns:a="http://schemas.openxmlformats.org/drawingml/2006/main">
              <a:ext uri="{FF2B5EF4-FFF2-40B4-BE49-F238E27FC236}">
                <a16:creationId xmlns:a16="http://schemas.microsoft.com/office/drawing/2014/main" id="{65D2448E-AE96-48E4-A1CE-7FEDD184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6248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samples and treatments</a:t>
            </a:r>
          </a:p>
        </p:txBody>
      </p:sp>
      <p:sp>
        <p:nvSpPr>
          <p:cNvPr id="6" name="metric-value-stress and heating conditions">
            <a:extLst xmlns:a="http://schemas.openxmlformats.org/drawingml/2006/main">
              <a:ext uri="{FF2B5EF4-FFF2-40B4-BE49-F238E27FC236}">
                <a16:creationId xmlns:a16="http://schemas.microsoft.com/office/drawing/2014/main" id="{C0EBDF6C-313C-447F-85F8-A229D3CB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248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E7490"/>
                </a:solidFill>
              </a:defRPr>
            </a:pPr>
            <a:r>
              <a:rPr sz="3600" b="1">
                <a:solidFill>
                  <a:srgbClr val="0E7490"/>
                </a:solidFill>
              </a:rPr>
              <a:t>many</a:t>
            </a:r>
          </a:p>
        </p:txBody>
      </p:sp>
      <p:sp>
        <p:nvSpPr>
          <p:cNvPr id="7" name="metric-label-stress and heating conditions">
            <a:extLst xmlns:a="http://schemas.openxmlformats.org/drawingml/2006/main">
              <a:ext uri="{FF2B5EF4-FFF2-40B4-BE49-F238E27FC236}">
                <a16:creationId xmlns:a16="http://schemas.microsoft.com/office/drawing/2014/main" id="{9FC1962D-9D10-456F-A18D-E000BD2C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248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stress and heating conditions</a:t>
            </a:r>
          </a:p>
        </p:txBody>
      </p:sp>
      <p:sp>
        <p:nvSpPr>
          <p:cNvPr id="8" name="metric-value-not isolated anecdotes">
            <a:extLst xmlns:a="http://schemas.openxmlformats.org/drawingml/2006/main">
              <a:ext uri="{FF2B5EF4-FFF2-40B4-BE49-F238E27FC236}">
                <a16:creationId xmlns:a16="http://schemas.microsoft.com/office/drawing/2014/main" id="{DDB23C8C-0BD6-4265-84EE-7843792A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6248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B45309"/>
                </a:solidFill>
              </a:defRPr>
            </a:pPr>
            <a:r>
              <a:rPr sz="3600" b="1">
                <a:solidFill>
                  <a:srgbClr val="B45309"/>
                </a:solidFill>
              </a:rPr>
              <a:t>trends</a:t>
            </a:r>
          </a:p>
        </p:txBody>
      </p:sp>
      <p:sp>
        <p:nvSpPr>
          <p:cNvPr id="9" name="metric-label-not isolated anecdotes">
            <a:extLst xmlns:a="http://schemas.openxmlformats.org/drawingml/2006/main">
              <a:ext uri="{FF2B5EF4-FFF2-40B4-BE49-F238E27FC236}">
                <a16:creationId xmlns:a16="http://schemas.microsoft.com/office/drawing/2014/main" id="{A16AD86D-F620-4485-BAE4-D12AAD16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6248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not isolated anecdotes</a:t>
            </a:r>
          </a:p>
        </p:txBody>
      </p:sp>
      <p:sp>
        <p:nvSpPr>
          <p:cNvPr id="10" name="Parameter correlation matrix-panel">
            <a:extLst xmlns:a="http://schemas.openxmlformats.org/drawingml/2006/main">
              <a:ext uri="{FF2B5EF4-FFF2-40B4-BE49-F238E27FC236}">
                <a16:creationId xmlns:a16="http://schemas.microsoft.com/office/drawing/2014/main" id="{75F7C0BD-9CDB-4A53-8C93-383656C0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8860" y="1937385"/>
            <a:ext cx="9772841" cy="7328535"/>
          </a:xfrm>
          <a:prstGeom xmlns:a="http://schemas.openxmlformats.org/drawingml/2006/main" prst="roundRect">
            <a:avLst>
              <a:gd name="adj" fmla="val 1040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11" name="Parameter correlation matrix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d8dc429a47442c"/>
          <a:stretch xmlns:a="http://schemas.openxmlformats.org/drawingml/2006/main"/>
        </p:blipFill>
        <p:spPr>
          <a:xfrm xmlns:a="http://schemas.openxmlformats.org/drawingml/2006/main">
            <a:off x="7638860" y="2170619"/>
            <a:ext cx="9772841" cy="6862068"/>
          </a:xfrm>
          <a:prstGeom xmlns:a="http://schemas.openxmlformats.org/drawingml/2006/main" prst="rect">
            <a:avLst/>
          </a:prstGeom>
        </p:spPr>
      </p:pic>
      <p:sp>
        <p:nvSpPr>
          <p:cNvPr id="12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7DA1BD4D-1BE5-4B2F-8738-FAAAA5A7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A69082D-34E9-4C61-8D7E-CB7C8EBD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360931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easurement question">
            <a:extLst xmlns:a="http://schemas.openxmlformats.org/drawingml/2006/main">
              <a:ext uri="{FF2B5EF4-FFF2-40B4-BE49-F238E27FC236}">
                <a16:creationId xmlns:a16="http://schemas.microsoft.com/office/drawing/2014/main" id="{55FB4E9E-5DDD-4D93-9775-7759CF12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MEASUREMENT QUESTION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596D48-057D-4701-A9BD-B1773C54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101828"/>
                </a:solidFill>
              </a:defRPr>
            </a:pPr>
            <a:r>
              <a:rPr sz="4125" b="1">
                <a:solidFill>
                  <a:srgbClr val="101828"/>
                </a:solidFill>
              </a:rPr>
              <a:t>What each run has to tell us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54ADC0AB-F964-4C92-A5C0-EBC5EB62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dash-transiti">
            <a:extLst xmlns:a="http://schemas.openxmlformats.org/drawingml/2006/main">
              <a:ext uri="{FF2B5EF4-FFF2-40B4-BE49-F238E27FC236}">
                <a16:creationId xmlns:a16="http://schemas.microsoft.com/office/drawing/2014/main" id="{B0845ED3-D4AA-4737-AC8C-EB83A934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247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-</a:t>
            </a:r>
          </a:p>
        </p:txBody>
      </p:sp>
      <p:sp>
        <p:nvSpPr>
          <p:cNvPr id="5" name="item-text-transition behav">
            <a:extLst xmlns:a="http://schemas.openxmlformats.org/drawingml/2006/main">
              <a:ext uri="{FF2B5EF4-FFF2-40B4-BE49-F238E27FC236}">
                <a16:creationId xmlns:a16="http://schemas.microsoft.com/office/drawing/2014/main" id="{53CFA4AB-1F06-4F1E-AAA4-4F4A3D20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43100"/>
            <a:ext cx="72961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101828"/>
                </a:solidFill>
              </a:defRPr>
            </a:pPr>
            <a:r>
              <a:rPr sz="2325">
                <a:solidFill>
                  <a:srgbClr val="101828"/>
                </a:solidFill>
              </a:rPr>
              <a:t>transition behavior</a:t>
            </a:r>
          </a:p>
        </p:txBody>
      </p:sp>
      <p:sp>
        <p:nvSpPr>
          <p:cNvPr id="6" name="dash-recovera">
            <a:extLst xmlns:a="http://schemas.openxmlformats.org/drawingml/2006/main">
              <a:ext uri="{FF2B5EF4-FFF2-40B4-BE49-F238E27FC236}">
                <a16:creationId xmlns:a16="http://schemas.microsoft.com/office/drawing/2014/main" id="{9AED3DAB-8D3A-4E3D-A294-A21AE231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47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-</a:t>
            </a:r>
          </a:p>
        </p:txBody>
      </p:sp>
      <p:sp>
        <p:nvSpPr>
          <p:cNvPr id="7" name="item-text-recoverable stra">
            <a:extLst xmlns:a="http://schemas.openxmlformats.org/drawingml/2006/main">
              <a:ext uri="{FF2B5EF4-FFF2-40B4-BE49-F238E27FC236}">
                <a16:creationId xmlns:a16="http://schemas.microsoft.com/office/drawing/2014/main" id="{6C6A22E9-9E0D-4136-A55D-871D11BC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76500"/>
            <a:ext cx="72961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101828"/>
                </a:solidFill>
              </a:defRPr>
            </a:pPr>
            <a:r>
              <a:rPr sz="2325">
                <a:solidFill>
                  <a:srgbClr val="101828"/>
                </a:solidFill>
              </a:rPr>
              <a:t>recoverable strain</a:t>
            </a:r>
          </a:p>
        </p:txBody>
      </p:sp>
      <p:sp>
        <p:nvSpPr>
          <p:cNvPr id="8" name="dash-stress d">
            <a:extLst xmlns:a="http://schemas.openxmlformats.org/drawingml/2006/main">
              <a:ext uri="{FF2B5EF4-FFF2-40B4-BE49-F238E27FC236}">
                <a16:creationId xmlns:a16="http://schemas.microsoft.com/office/drawing/2014/main" id="{79AFBB0C-37D9-4B46-970E-85B0BB1B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247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-</a:t>
            </a:r>
          </a:p>
        </p:txBody>
      </p:sp>
      <p:sp>
        <p:nvSpPr>
          <p:cNvPr id="9" name="item-text-stress dependenc">
            <a:extLst xmlns:a="http://schemas.openxmlformats.org/drawingml/2006/main">
              <a:ext uri="{FF2B5EF4-FFF2-40B4-BE49-F238E27FC236}">
                <a16:creationId xmlns:a16="http://schemas.microsoft.com/office/drawing/2014/main" id="{9E6EB88E-2A87-4A7D-82F2-EE149F9F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009900"/>
            <a:ext cx="72961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101828"/>
                </a:solidFill>
              </a:defRPr>
            </a:pPr>
            <a:r>
              <a:rPr sz="2325">
                <a:solidFill>
                  <a:srgbClr val="101828"/>
                </a:solidFill>
              </a:rPr>
              <a:t>stress dependence</a:t>
            </a:r>
          </a:p>
        </p:txBody>
      </p:sp>
      <p:sp>
        <p:nvSpPr>
          <p:cNvPr id="10" name="dash-current">
            <a:extLst xmlns:a="http://schemas.openxmlformats.org/drawingml/2006/main">
              <a:ext uri="{FF2B5EF4-FFF2-40B4-BE49-F238E27FC236}">
                <a16:creationId xmlns:a16="http://schemas.microsoft.com/office/drawing/2014/main" id="{80F0AA1E-3258-4AD3-BD27-9BA638FD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247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-</a:t>
            </a:r>
          </a:p>
        </p:txBody>
      </p:sp>
      <p:sp>
        <p:nvSpPr>
          <p:cNvPr id="11" name="item-text-current + resist">
            <a:extLst xmlns:a="http://schemas.openxmlformats.org/drawingml/2006/main">
              <a:ext uri="{FF2B5EF4-FFF2-40B4-BE49-F238E27FC236}">
                <a16:creationId xmlns:a16="http://schemas.microsoft.com/office/drawing/2014/main" id="{3EFAA9C7-FC6B-4AD3-9ADC-E30E4ACA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24250"/>
            <a:ext cx="72961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101828"/>
                </a:solidFill>
              </a:defRPr>
            </a:pPr>
            <a:r>
              <a:rPr sz="2325">
                <a:solidFill>
                  <a:srgbClr val="101828"/>
                </a:solidFill>
              </a:rPr>
              <a:t>current + resistance -&gt; power</a:t>
            </a:r>
          </a:p>
        </p:txBody>
      </p:sp>
      <p:sp>
        <p:nvSpPr>
          <p:cNvPr id="12" name="dash-repeatab">
            <a:extLst xmlns:a="http://schemas.openxmlformats.org/drawingml/2006/main">
              <a:ext uri="{FF2B5EF4-FFF2-40B4-BE49-F238E27FC236}">
                <a16:creationId xmlns:a16="http://schemas.microsoft.com/office/drawing/2014/main" id="{875AF461-953E-484B-97C1-167D99F6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247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-</a:t>
            </a:r>
          </a:p>
        </p:txBody>
      </p:sp>
      <p:sp>
        <p:nvSpPr>
          <p:cNvPr id="13" name="item-text-repeatability">
            <a:extLst xmlns:a="http://schemas.openxmlformats.org/drawingml/2006/main">
              <a:ext uri="{FF2B5EF4-FFF2-40B4-BE49-F238E27FC236}">
                <a16:creationId xmlns:a16="http://schemas.microsoft.com/office/drawing/2014/main" id="{97838953-3057-48D9-8B82-07B53DD3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57650"/>
            <a:ext cx="72961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101828"/>
                </a:solidFill>
              </a:defRPr>
            </a:pPr>
            <a:r>
              <a:rPr sz="2325">
                <a:solidFill>
                  <a:srgbClr val="101828"/>
                </a:solidFill>
              </a:rPr>
              <a:t>repeatability</a:t>
            </a:r>
          </a:p>
        </p:txBody>
      </p:sp>
      <p:sp>
        <p:nvSpPr>
          <p:cNvPr id="14" name="Manual stress-strain measurement-panel">
            <a:extLst xmlns:a="http://schemas.openxmlformats.org/drawingml/2006/main">
              <a:ext uri="{FF2B5EF4-FFF2-40B4-BE49-F238E27FC236}">
                <a16:creationId xmlns:a16="http://schemas.microsoft.com/office/drawing/2014/main" id="{D3B3D854-FA75-4026-A7DB-9A91B4CC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0754" y="1948815"/>
            <a:ext cx="8330946" cy="7317105"/>
          </a:xfrm>
          <a:prstGeom xmlns:a="http://schemas.openxmlformats.org/drawingml/2006/main" prst="roundRect">
            <a:avLst>
              <a:gd name="adj" fmla="val 1041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15" name="Manual stress-strain measuremen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3ebf0cb84f4d62"/>
          <a:stretch xmlns:a="http://schemas.openxmlformats.org/drawingml/2006/main"/>
        </p:blipFill>
        <p:spPr>
          <a:xfrm xmlns:a="http://schemas.openxmlformats.org/drawingml/2006/main">
            <a:off x="9080754" y="3137145"/>
            <a:ext cx="8330946" cy="4940445"/>
          </a:xfrm>
          <a:prstGeom xmlns:a="http://schemas.openxmlformats.org/drawingml/2006/main" prst="rect">
            <a:avLst/>
          </a:prstGeom>
        </p:spPr>
      </p:pic>
      <p:sp>
        <p:nvSpPr>
          <p:cNvPr id="16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522A9F32-6621-41BA-9439-3706B9B4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1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50EDC68-D621-4A3C-BB5C-FBD81087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849012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reference method">
            <a:extLst xmlns:a="http://schemas.openxmlformats.org/drawingml/2006/main">
              <a:ext uri="{FF2B5EF4-FFF2-40B4-BE49-F238E27FC236}">
                <a16:creationId xmlns:a16="http://schemas.microsoft.com/office/drawing/2014/main" id="{A4EB1FDD-A6B6-41AD-B312-9DF29D49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REFERENCE METHOD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CED91F-5D7C-4348-9240-7F73035D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Commercial DMA is excellent, but it becomes the bottleneck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B00FEDA3-A3D9-498F-B4B8-3BFF9D8A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Commercial DMA strain-temperature graph-panel">
            <a:extLst xmlns:a="http://schemas.openxmlformats.org/drawingml/2006/main">
              <a:ext uri="{FF2B5EF4-FFF2-40B4-BE49-F238E27FC236}">
                <a16:creationId xmlns:a16="http://schemas.microsoft.com/office/drawing/2014/main" id="{D1424F6F-84C2-4BED-BB5D-B57F50AE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8805"/>
            <a:ext cx="9314307" cy="7397115"/>
          </a:xfrm>
          <a:prstGeom xmlns:a="http://schemas.openxmlformats.org/drawingml/2006/main" prst="roundRect">
            <a:avLst>
              <a:gd name="adj" fmla="val 1030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5" name="Commercial DMA strain-temperature graph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86c14f3a44525"/>
          <a:stretch xmlns:a="http://schemas.openxmlformats.org/drawingml/2006/main"/>
        </p:blipFill>
        <p:spPr>
          <a:xfrm xmlns:a="http://schemas.openxmlformats.org/drawingml/2006/main">
            <a:off x="876300" y="2626002"/>
            <a:ext cx="9314307" cy="5882720"/>
          </a:xfrm>
          <a:prstGeom xmlns:a="http://schemas.openxmlformats.org/drawingml/2006/main" prst="rect">
            <a:avLst/>
          </a:prstGeom>
        </p:spPr>
      </p:pic>
      <p:sp>
        <p:nvSpPr>
          <p:cNvPr id="6" name="metric-value-strain and temperature values">
            <a:extLst xmlns:a="http://schemas.openxmlformats.org/drawingml/2006/main">
              <a:ext uri="{FF2B5EF4-FFF2-40B4-BE49-F238E27FC236}">
                <a16:creationId xmlns:a16="http://schemas.microsoft.com/office/drawing/2014/main" id="{8AF77862-6DD0-48A3-ACD2-E6D4AD9D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866900"/>
            <a:ext cx="6743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E7490"/>
                </a:solidFill>
              </a:defRPr>
            </a:pPr>
            <a:r>
              <a:rPr sz="3600" b="1">
                <a:solidFill>
                  <a:srgbClr val="0E7490"/>
                </a:solidFill>
              </a:rPr>
              <a:t>precise</a:t>
            </a:r>
          </a:p>
        </p:txBody>
      </p:sp>
      <p:sp>
        <p:nvSpPr>
          <p:cNvPr id="7" name="metric-label-strain and temperature values">
            <a:extLst xmlns:a="http://schemas.openxmlformats.org/drawingml/2006/main">
              <a:ext uri="{FF2B5EF4-FFF2-40B4-BE49-F238E27FC236}">
                <a16:creationId xmlns:a16="http://schemas.microsoft.com/office/drawing/2014/main" id="{A2D193CF-EE36-447F-AC1F-96C58D6F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95550"/>
            <a:ext cx="6743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strain and temperature values</a:t>
            </a:r>
          </a:p>
        </p:txBody>
      </p:sp>
      <p:sp>
        <p:nvSpPr>
          <p:cNvPr id="8" name="metric-value-not ideal as a first filter">
            <a:extLst xmlns:a="http://schemas.openxmlformats.org/drawingml/2006/main">
              <a:ext uri="{FF2B5EF4-FFF2-40B4-BE49-F238E27FC236}">
                <a16:creationId xmlns:a16="http://schemas.microsoft.com/office/drawing/2014/main" id="{E1A80433-A53F-4AB7-9758-C04D404E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086100"/>
            <a:ext cx="6743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B45309"/>
                </a:solidFill>
              </a:defRPr>
            </a:pPr>
            <a:r>
              <a:rPr sz="3600" b="1">
                <a:solidFill>
                  <a:srgbClr val="B45309"/>
                </a:solidFill>
              </a:rPr>
              <a:t>slow</a:t>
            </a:r>
          </a:p>
        </p:txBody>
      </p:sp>
      <p:sp>
        <p:nvSpPr>
          <p:cNvPr id="9" name="metric-label-not ideal as a first filter">
            <a:extLst xmlns:a="http://schemas.openxmlformats.org/drawingml/2006/main">
              <a:ext uri="{FF2B5EF4-FFF2-40B4-BE49-F238E27FC236}">
                <a16:creationId xmlns:a16="http://schemas.microsoft.com/office/drawing/2014/main" id="{908C67EC-E9E6-4CA8-B978-82DCB244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14750"/>
            <a:ext cx="6743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not ideal as a first filter</a:t>
            </a:r>
          </a:p>
        </p:txBody>
      </p:sp>
      <p:sp>
        <p:nvSpPr>
          <p:cNvPr id="10" name="metric-value-resource and access cost">
            <a:extLst xmlns:a="http://schemas.openxmlformats.org/drawingml/2006/main">
              <a:ext uri="{FF2B5EF4-FFF2-40B4-BE49-F238E27FC236}">
                <a16:creationId xmlns:a16="http://schemas.microsoft.com/office/drawing/2014/main" id="{2CAF3869-32BB-4803-86E3-BC9F4E50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86250"/>
            <a:ext cx="6743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B4D89"/>
                </a:solidFill>
              </a:defRPr>
            </a:pPr>
            <a:r>
              <a:rPr sz="3600" b="1">
                <a:solidFill>
                  <a:srgbClr val="1B4D89"/>
                </a:solidFill>
              </a:rPr>
              <a:t>LN2</a:t>
            </a:r>
          </a:p>
        </p:txBody>
      </p:sp>
      <p:sp>
        <p:nvSpPr>
          <p:cNvPr id="11" name="metric-label-resource and access cost">
            <a:extLst xmlns:a="http://schemas.openxmlformats.org/drawingml/2006/main">
              <a:ext uri="{FF2B5EF4-FFF2-40B4-BE49-F238E27FC236}">
                <a16:creationId xmlns:a16="http://schemas.microsoft.com/office/drawing/2014/main" id="{F1883FA7-4E39-463D-A6D0-0FDC8C69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914900"/>
            <a:ext cx="6743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resource and access cost</a:t>
            </a:r>
          </a:p>
        </p:txBody>
      </p:sp>
      <p:sp>
        <p:nvSpPr>
          <p:cNvPr id="12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FB6BB22F-27FF-4E16-849E-BD157C69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8D9D8A6-BEBA-4C73-9376-74BEA84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12319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strategy">
            <a:extLst xmlns:a="http://schemas.openxmlformats.org/drawingml/2006/main">
              <a:ext uri="{FF2B5EF4-FFF2-40B4-BE49-F238E27FC236}">
                <a16:creationId xmlns:a16="http://schemas.microsoft.com/office/drawing/2014/main" id="{04BB6DB7-52F6-40C6-A2BF-BBA73BD7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7DA5F4-D430-4F54-A178-F6A85C2E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101828"/>
                </a:solidFill>
              </a:defRPr>
            </a:pPr>
            <a:r>
              <a:rPr sz="3825" b="1">
                <a:solidFill>
                  <a:srgbClr val="101828"/>
                </a:solidFill>
              </a:rPr>
              <a:t>Screen first, validate selected samples precisely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A06B459A-00FC-4A72-9B56-B2D3CE25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flow-title-many wires">
            <a:extLst xmlns:a="http://schemas.openxmlformats.org/drawingml/2006/main">
              <a:ext uri="{FF2B5EF4-FFF2-40B4-BE49-F238E27FC236}">
                <a16:creationId xmlns:a16="http://schemas.microsoft.com/office/drawing/2014/main" id="{7C48210C-A4AB-49AF-B216-E8D198D6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7905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4D89"/>
                </a:solidFill>
              </a:defRPr>
            </a:pPr>
            <a:r>
              <a:rPr sz="2325" b="1">
                <a:solidFill>
                  <a:srgbClr val="1B4D89"/>
                </a:solidFill>
              </a:rPr>
              <a:t>many wires</a:t>
            </a:r>
          </a:p>
        </p:txBody>
      </p:sp>
      <p:sp>
        <p:nvSpPr>
          <p:cNvPr id="5" name="flow-rule-many wires">
            <a:extLst xmlns:a="http://schemas.openxmlformats.org/drawingml/2006/main">
              <a:ext uri="{FF2B5EF4-FFF2-40B4-BE49-F238E27FC236}">
                <a16:creationId xmlns:a16="http://schemas.microsoft.com/office/drawing/2014/main" id="{78B49451-1F53-4D11-A0F3-16E9BBA5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D89"/>
          </a:solidFill>
          <a:ln xmlns:a="http://schemas.openxmlformats.org/drawingml/2006/main" w="0">
            <a:solidFill>
              <a:srgbClr val="1B4D89"/>
            </a:solidFill>
            <a:prstDash val="solid"/>
          </a:ln>
        </p:spPr>
      </p:sp>
      <p:sp>
        <p:nvSpPr>
          <p:cNvPr id="6" name="flow-detail-many wires">
            <a:extLst xmlns:a="http://schemas.openxmlformats.org/drawingml/2006/main">
              <a:ext uri="{FF2B5EF4-FFF2-40B4-BE49-F238E27FC236}">
                <a16:creationId xmlns:a16="http://schemas.microsoft.com/office/drawing/2014/main" id="{034CFF8B-B3EA-44C3-9983-93727F36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790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fast screening and protocol development</a:t>
            </a:r>
          </a:p>
        </p:txBody>
      </p:sp>
      <p:sp>
        <p:nvSpPr>
          <p:cNvPr id="7" name="flow-title-Mini DMA">
            <a:extLst xmlns:a="http://schemas.openxmlformats.org/drawingml/2006/main">
              <a:ext uri="{FF2B5EF4-FFF2-40B4-BE49-F238E27FC236}">
                <a16:creationId xmlns:a16="http://schemas.microsoft.com/office/drawing/2014/main" id="{D3747FF5-B23B-42D5-9E23-405BEF88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48000"/>
            <a:ext cx="7905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Mini DMA</a:t>
            </a:r>
          </a:p>
        </p:txBody>
      </p:sp>
      <p:sp>
        <p:nvSpPr>
          <p:cNvPr id="8" name="flow-rule-Mini DMA">
            <a:extLst xmlns:a="http://schemas.openxmlformats.org/drawingml/2006/main">
              <a:ext uri="{FF2B5EF4-FFF2-40B4-BE49-F238E27FC236}">
                <a16:creationId xmlns:a16="http://schemas.microsoft.com/office/drawing/2014/main" id="{E0C13406-7FF4-4CC9-829B-B4CCBC71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9" name="flow-detail-Mini DMA">
            <a:extLst xmlns:a="http://schemas.openxmlformats.org/drawingml/2006/main">
              <a:ext uri="{FF2B5EF4-FFF2-40B4-BE49-F238E27FC236}">
                <a16:creationId xmlns:a16="http://schemas.microsoft.com/office/drawing/2014/main" id="{89F7CFAF-A3EC-4AC9-B34B-689BDCBB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790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controlled current sweeps under load</a:t>
            </a:r>
          </a:p>
        </p:txBody>
      </p:sp>
      <p:sp>
        <p:nvSpPr>
          <p:cNvPr id="10" name="flow-title-selected wires">
            <a:extLst xmlns:a="http://schemas.openxmlformats.org/drawingml/2006/main">
              <a:ext uri="{FF2B5EF4-FFF2-40B4-BE49-F238E27FC236}">
                <a16:creationId xmlns:a16="http://schemas.microsoft.com/office/drawing/2014/main" id="{8C56045C-6C1C-44F0-84EE-5335F82E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7905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5309"/>
                </a:solidFill>
              </a:defRPr>
            </a:pPr>
            <a:r>
              <a:rPr sz="2325" b="1">
                <a:solidFill>
                  <a:srgbClr val="B45309"/>
                </a:solidFill>
              </a:rPr>
              <a:t>selected wires</a:t>
            </a:r>
          </a:p>
        </p:txBody>
      </p:sp>
      <p:sp>
        <p:nvSpPr>
          <p:cNvPr id="11" name="flow-rule-selected wires">
            <a:extLst xmlns:a="http://schemas.openxmlformats.org/drawingml/2006/main">
              <a:ext uri="{FF2B5EF4-FFF2-40B4-BE49-F238E27FC236}">
                <a16:creationId xmlns:a16="http://schemas.microsoft.com/office/drawing/2014/main" id="{C1762140-A2D7-4A36-B2ED-B65AC9AF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2" name="flow-detail-selected wires">
            <a:extLst xmlns:a="http://schemas.openxmlformats.org/drawingml/2006/main">
              <a:ext uri="{FF2B5EF4-FFF2-40B4-BE49-F238E27FC236}">
                <a16:creationId xmlns:a16="http://schemas.microsoft.com/office/drawing/2014/main" id="{E36D9527-B0D8-471E-B39B-82D53A9D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790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commercial DMA for final validation</a:t>
            </a:r>
          </a:p>
        </p:txBody>
      </p:sp>
      <p:sp>
        <p:nvSpPr>
          <p:cNvPr id="13" name="Mini DMA setup-panel">
            <a:extLst xmlns:a="http://schemas.openxmlformats.org/drawingml/2006/main">
              <a:ext uri="{FF2B5EF4-FFF2-40B4-BE49-F238E27FC236}">
                <a16:creationId xmlns:a16="http://schemas.microsoft.com/office/drawing/2014/main" id="{58B74A14-F2B8-4C4E-8CBB-6B28D05A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2387" y="1903095"/>
            <a:ext cx="8219313" cy="3595688"/>
          </a:xfrm>
          <a:prstGeom xmlns:a="http://schemas.openxmlformats.org/drawingml/2006/main" prst="roundRect">
            <a:avLst>
              <a:gd name="adj" fmla="val 2119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14" name="Mini DMA setup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ce8f033434041"/>
          <a:srcRect xmlns:a="http://schemas.openxmlformats.org/drawingml/2006/main" l="0" t="20828" r="0" b="208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2387" y="1903095"/>
            <a:ext cx="8219313" cy="3595688"/>
          </a:xfrm>
          <a:prstGeom xmlns:a="http://schemas.openxmlformats.org/drawingml/2006/main" prst="rect">
            <a:avLst/>
          </a:prstGeom>
        </p:spPr>
      </p:pic>
      <p:sp>
        <p:nvSpPr>
          <p:cNvPr id="15" name="Commercial DMA result-panel">
            <a:extLst xmlns:a="http://schemas.openxmlformats.org/drawingml/2006/main">
              <a:ext uri="{FF2B5EF4-FFF2-40B4-BE49-F238E27FC236}">
                <a16:creationId xmlns:a16="http://schemas.microsoft.com/office/drawing/2014/main" id="{00652254-EDBA-4009-8A15-BC868B83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2387" y="5670233"/>
            <a:ext cx="8219313" cy="3595688"/>
          </a:xfrm>
          <a:prstGeom xmlns:a="http://schemas.openxmlformats.org/drawingml/2006/main" prst="roundRect">
            <a:avLst>
              <a:gd name="adj" fmla="val 2119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16" name="Commercial DMA resul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77c6581a0437d"/>
          <a:stretch xmlns:a="http://schemas.openxmlformats.org/drawingml/2006/main"/>
        </p:blipFill>
        <p:spPr>
          <a:xfrm xmlns:a="http://schemas.openxmlformats.org/drawingml/2006/main">
            <a:off x="10455458" y="5670233"/>
            <a:ext cx="5693172" cy="3595688"/>
          </a:xfrm>
          <a:prstGeom xmlns:a="http://schemas.openxmlformats.org/drawingml/2006/main" prst="rect">
            <a:avLst/>
          </a:prstGeom>
        </p:spPr>
      </p:pic>
      <p:sp>
        <p:nvSpPr>
          <p:cNvPr id="1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ED32E94C-8D55-441F-BAB3-22744261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18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0A0CCEE-6054-4453-82EB-BF64B53C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912594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instrument concept">
            <a:extLst xmlns:a="http://schemas.openxmlformats.org/drawingml/2006/main">
              <a:ext uri="{FF2B5EF4-FFF2-40B4-BE49-F238E27FC236}">
                <a16:creationId xmlns:a16="http://schemas.microsoft.com/office/drawing/2014/main" id="{B504161A-B37D-4F52-87C1-776B4615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INSTRUMENT CONCEPT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B9634A-E0FD-4436-A1AA-31F1FC4D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Mini DMA combines simple hardware with controlled logging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0D4CD45E-19B2-473D-A65D-F6BB91D6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Mini DMA hardware-panel">
            <a:extLst xmlns:a="http://schemas.openxmlformats.org/drawingml/2006/main">
              <a:ext uri="{FF2B5EF4-FFF2-40B4-BE49-F238E27FC236}">
                <a16:creationId xmlns:a16="http://schemas.microsoft.com/office/drawing/2014/main" id="{C7139FD2-46F4-465C-9BED-53929726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8805"/>
            <a:ext cx="8993124" cy="7397115"/>
          </a:xfrm>
          <a:prstGeom xmlns:a="http://schemas.openxmlformats.org/drawingml/2006/main" prst="roundRect">
            <a:avLst>
              <a:gd name="adj" fmla="val 1030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5" name="Mini DMA hardwa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1478047a364e88"/>
          <a:srcRect xmlns:a="http://schemas.openxmlformats.org/drawingml/2006/main" l="4421" t="0" r="442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300" y="1868805"/>
            <a:ext cx="8993124" cy="7397115"/>
          </a:xfrm>
          <a:prstGeom xmlns:a="http://schemas.openxmlformats.org/drawingml/2006/main" prst="rect">
            <a:avLst/>
          </a:prstGeom>
        </p:spPr>
      </p:pic>
      <p:sp>
        <p:nvSpPr>
          <p:cNvPr id="6" name="flow-title-motor">
            <a:extLst xmlns:a="http://schemas.openxmlformats.org/drawingml/2006/main">
              <a:ext uri="{FF2B5EF4-FFF2-40B4-BE49-F238E27FC236}">
                <a16:creationId xmlns:a16="http://schemas.microsoft.com/office/drawing/2014/main" id="{49E0A875-B713-4E82-9608-A6CB6C30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866900"/>
            <a:ext cx="70675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4D89"/>
                </a:solidFill>
              </a:defRPr>
            </a:pPr>
            <a:r>
              <a:rPr sz="2325" b="1">
                <a:solidFill>
                  <a:srgbClr val="1B4D89"/>
                </a:solidFill>
              </a:rPr>
              <a:t>motor</a:t>
            </a:r>
          </a:p>
        </p:txBody>
      </p:sp>
      <p:sp>
        <p:nvSpPr>
          <p:cNvPr id="7" name="flow-rule-motor">
            <a:extLst xmlns:a="http://schemas.openxmlformats.org/drawingml/2006/main">
              <a:ext uri="{FF2B5EF4-FFF2-40B4-BE49-F238E27FC236}">
                <a16:creationId xmlns:a16="http://schemas.microsoft.com/office/drawing/2014/main" id="{33CA5739-7A97-47A6-9A15-976C33B9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3431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D89"/>
          </a:solidFill>
          <a:ln xmlns:a="http://schemas.openxmlformats.org/drawingml/2006/main" w="0">
            <a:solidFill>
              <a:srgbClr val="1B4D89"/>
            </a:solidFill>
            <a:prstDash val="solid"/>
          </a:ln>
        </p:spPr>
      </p:sp>
      <p:sp>
        <p:nvSpPr>
          <p:cNvPr id="8" name="flow-detail-motor">
            <a:extLst xmlns:a="http://schemas.openxmlformats.org/drawingml/2006/main">
              <a:ext uri="{FF2B5EF4-FFF2-40B4-BE49-F238E27FC236}">
                <a16:creationId xmlns:a16="http://schemas.microsoft.com/office/drawing/2014/main" id="{E5A1FC9D-7ACD-4448-8C47-568BA249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495550"/>
            <a:ext cx="7067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controls displacement</a:t>
            </a:r>
          </a:p>
        </p:txBody>
      </p:sp>
      <p:sp>
        <p:nvSpPr>
          <p:cNvPr id="9" name="flow-title-balance">
            <a:extLst xmlns:a="http://schemas.openxmlformats.org/drawingml/2006/main">
              <a:ext uri="{FF2B5EF4-FFF2-40B4-BE49-F238E27FC236}">
                <a16:creationId xmlns:a16="http://schemas.microsoft.com/office/drawing/2014/main" id="{B4B3106F-EF3D-4766-9EC9-773A8D00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028950"/>
            <a:ext cx="70675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balance</a:t>
            </a:r>
          </a:p>
        </p:txBody>
      </p:sp>
      <p:sp>
        <p:nvSpPr>
          <p:cNvPr id="10" name="flow-rule-balance">
            <a:extLst xmlns:a="http://schemas.openxmlformats.org/drawingml/2006/main">
              <a:ext uri="{FF2B5EF4-FFF2-40B4-BE49-F238E27FC236}">
                <a16:creationId xmlns:a16="http://schemas.microsoft.com/office/drawing/2014/main" id="{EB9D293B-5AF3-41B1-A6AD-C7A300D5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4861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11" name="flow-detail-balance">
            <a:extLst xmlns:a="http://schemas.openxmlformats.org/drawingml/2006/main">
              <a:ext uri="{FF2B5EF4-FFF2-40B4-BE49-F238E27FC236}">
                <a16:creationId xmlns:a16="http://schemas.microsoft.com/office/drawing/2014/main" id="{27FF865D-30D5-44A4-8D25-EB8B6624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638550"/>
            <a:ext cx="7067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measures load</a:t>
            </a:r>
          </a:p>
        </p:txBody>
      </p:sp>
      <p:sp>
        <p:nvSpPr>
          <p:cNvPr id="12" name="flow-title-power supply">
            <a:extLst xmlns:a="http://schemas.openxmlformats.org/drawingml/2006/main">
              <a:ext uri="{FF2B5EF4-FFF2-40B4-BE49-F238E27FC236}">
                <a16:creationId xmlns:a16="http://schemas.microsoft.com/office/drawing/2014/main" id="{B3B5D00E-2791-4429-89DA-91619A96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171950"/>
            <a:ext cx="70675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5309"/>
                </a:solidFill>
              </a:defRPr>
            </a:pPr>
            <a:r>
              <a:rPr sz="2325" b="1">
                <a:solidFill>
                  <a:srgbClr val="B45309"/>
                </a:solidFill>
              </a:rPr>
              <a:t>power supply</a:t>
            </a:r>
          </a:p>
        </p:txBody>
      </p:sp>
      <p:sp>
        <p:nvSpPr>
          <p:cNvPr id="13" name="flow-rule-power supply">
            <a:extLst xmlns:a="http://schemas.openxmlformats.org/drawingml/2006/main">
              <a:ext uri="{FF2B5EF4-FFF2-40B4-BE49-F238E27FC236}">
                <a16:creationId xmlns:a16="http://schemas.microsoft.com/office/drawing/2014/main" id="{54798F67-3A8E-4DCC-A400-0C828538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6482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flow-detail-power supply">
            <a:extLst xmlns:a="http://schemas.openxmlformats.org/drawingml/2006/main">
              <a:ext uri="{FF2B5EF4-FFF2-40B4-BE49-F238E27FC236}">
                <a16:creationId xmlns:a16="http://schemas.microsoft.com/office/drawing/2014/main" id="{1F596501-FF4B-435F-844D-D0209A96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800600"/>
            <a:ext cx="7067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heats by current</a:t>
            </a:r>
          </a:p>
        </p:txBody>
      </p:sp>
      <p:sp>
        <p:nvSpPr>
          <p:cNvPr id="15" name="flow-title-software">
            <a:extLst xmlns:a="http://schemas.openxmlformats.org/drawingml/2006/main">
              <a:ext uri="{FF2B5EF4-FFF2-40B4-BE49-F238E27FC236}">
                <a16:creationId xmlns:a16="http://schemas.microsoft.com/office/drawing/2014/main" id="{7ACC4F2F-0BDA-4555-BF71-5EA66848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14950"/>
            <a:ext cx="70675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3F7D32"/>
                </a:solidFill>
              </a:defRPr>
            </a:pPr>
            <a:r>
              <a:rPr sz="2325" b="1">
                <a:solidFill>
                  <a:srgbClr val="3F7D32"/>
                </a:solidFill>
              </a:rPr>
              <a:t>software</a:t>
            </a:r>
          </a:p>
        </p:txBody>
      </p:sp>
      <p:sp>
        <p:nvSpPr>
          <p:cNvPr id="16" name="flow-rule-software">
            <a:extLst xmlns:a="http://schemas.openxmlformats.org/drawingml/2006/main">
              <a:ext uri="{FF2B5EF4-FFF2-40B4-BE49-F238E27FC236}">
                <a16:creationId xmlns:a16="http://schemas.microsoft.com/office/drawing/2014/main" id="{BE67A9EB-95B2-4A99-8F4D-B96C6E58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7912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32"/>
          </a:solidFill>
          <a:ln xmlns:a="http://schemas.openxmlformats.org/drawingml/2006/main" w="0">
            <a:solidFill>
              <a:srgbClr val="3F7D32"/>
            </a:solidFill>
            <a:prstDash val="solid"/>
          </a:ln>
        </p:spPr>
      </p:sp>
      <p:sp>
        <p:nvSpPr>
          <p:cNvPr id="17" name="flow-detail-software">
            <a:extLst xmlns:a="http://schemas.openxmlformats.org/drawingml/2006/main">
              <a:ext uri="{FF2B5EF4-FFF2-40B4-BE49-F238E27FC236}">
                <a16:creationId xmlns:a16="http://schemas.microsoft.com/office/drawing/2014/main" id="{04354486-8497-46EA-ABD1-C5DAE36A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943600"/>
            <a:ext cx="7067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logs current, resistance, power, strain</a:t>
            </a:r>
          </a:p>
        </p:txBody>
      </p:sp>
      <p:sp>
        <p:nvSpPr>
          <p:cNvPr id="18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56DCE2B9-8BC4-4245-995C-38C82FC0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19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0049AAB-5B51-4040-84BC-36153A71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762928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control scale">
            <a:extLst xmlns:a="http://schemas.openxmlformats.org/drawingml/2006/main">
              <a:ext uri="{FF2B5EF4-FFF2-40B4-BE49-F238E27FC236}">
                <a16:creationId xmlns:a16="http://schemas.microsoft.com/office/drawing/2014/main" id="{82FCA7FD-9461-4683-A79B-5C389C76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CONTROL SCALE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E9C0E4-7452-413A-B99D-68C9A5A4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101828"/>
                </a:solidFill>
              </a:defRPr>
            </a:pPr>
            <a:r>
              <a:rPr sz="4125" b="1">
                <a:solidFill>
                  <a:srgbClr val="101828"/>
                </a:solidFill>
              </a:rPr>
              <a:t>At microwire scale, grams are not small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851FD934-D5DE-406A-B525-FFB9E5AF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metric-value-wire diameter for this estimate">
            <a:extLst xmlns:a="http://schemas.openxmlformats.org/drawingml/2006/main">
              <a:ext uri="{FF2B5EF4-FFF2-40B4-BE49-F238E27FC236}">
                <a16:creationId xmlns:a16="http://schemas.microsoft.com/office/drawing/2014/main" id="{88E82A48-B19F-4537-B5E5-237360AB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73723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13 um</a:t>
            </a:r>
          </a:p>
        </p:txBody>
      </p:sp>
      <p:sp>
        <p:nvSpPr>
          <p:cNvPr id="5" name="metric-label-wire diameter for this estimate">
            <a:extLst xmlns:a="http://schemas.openxmlformats.org/drawingml/2006/main">
              <a:ext uri="{FF2B5EF4-FFF2-40B4-BE49-F238E27FC236}">
                <a16:creationId xmlns:a16="http://schemas.microsoft.com/office/drawing/2014/main" id="{33443670-E7C7-47FE-BF93-981F9C8E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7372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wire diameter for this estimate</a:t>
            </a:r>
          </a:p>
        </p:txBody>
      </p:sp>
      <p:sp>
        <p:nvSpPr>
          <p:cNvPr id="6" name="metric-value-load becomes large stress">
            <a:extLst xmlns:a="http://schemas.openxmlformats.org/drawingml/2006/main">
              <a:ext uri="{FF2B5EF4-FFF2-40B4-BE49-F238E27FC236}">
                <a16:creationId xmlns:a16="http://schemas.microsoft.com/office/drawing/2014/main" id="{D908A85C-B801-472D-A91F-8ECFAF74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73723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E7490"/>
                </a:solidFill>
              </a:defRPr>
            </a:pPr>
            <a:r>
              <a:rPr sz="3600" b="1">
                <a:solidFill>
                  <a:srgbClr val="0E7490"/>
                </a:solidFill>
              </a:rPr>
              <a:t>1 g ~= 74 MPa</a:t>
            </a:r>
          </a:p>
        </p:txBody>
      </p:sp>
      <p:sp>
        <p:nvSpPr>
          <p:cNvPr id="7" name="metric-label-load becomes large stress">
            <a:extLst xmlns:a="http://schemas.openxmlformats.org/drawingml/2006/main">
              <a:ext uri="{FF2B5EF4-FFF2-40B4-BE49-F238E27FC236}">
                <a16:creationId xmlns:a16="http://schemas.microsoft.com/office/drawing/2014/main" id="{E7EA891C-941F-4089-AE75-31A2B5A1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7372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load becomes large stress</a:t>
            </a:r>
          </a:p>
        </p:txBody>
      </p:sp>
      <p:sp>
        <p:nvSpPr>
          <p:cNvPr id="8" name="metric-value-balance digit is meaningful">
            <a:extLst xmlns:a="http://schemas.openxmlformats.org/drawingml/2006/main">
              <a:ext uri="{FF2B5EF4-FFF2-40B4-BE49-F238E27FC236}">
                <a16:creationId xmlns:a16="http://schemas.microsoft.com/office/drawing/2014/main" id="{C2F12313-992C-44AC-B43D-383A4F97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73723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B4D89"/>
                </a:solidFill>
              </a:defRPr>
            </a:pPr>
            <a:r>
              <a:rPr sz="3600" b="1">
                <a:solidFill>
                  <a:srgbClr val="1B4D89"/>
                </a:solidFill>
              </a:rPr>
              <a:t>0.005 g ~= 0.37 MPa</a:t>
            </a:r>
          </a:p>
        </p:txBody>
      </p:sp>
      <p:sp>
        <p:nvSpPr>
          <p:cNvPr id="9" name="metric-label-balance digit is meaningful">
            <a:extLst xmlns:a="http://schemas.openxmlformats.org/drawingml/2006/main">
              <a:ext uri="{FF2B5EF4-FFF2-40B4-BE49-F238E27FC236}">
                <a16:creationId xmlns:a16="http://schemas.microsoft.com/office/drawing/2014/main" id="{B53CC136-2EC7-450B-BA33-FA2C4A6D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7372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balance digit is meaningful</a:t>
            </a:r>
          </a:p>
        </p:txBody>
      </p:sp>
      <p:sp>
        <p:nvSpPr>
          <p:cNvPr id="10" name="metric-value-fresh load feedback is slow">
            <a:extLst xmlns:a="http://schemas.openxmlformats.org/drawingml/2006/main">
              <a:ext uri="{FF2B5EF4-FFF2-40B4-BE49-F238E27FC236}">
                <a16:creationId xmlns:a16="http://schemas.microsoft.com/office/drawing/2014/main" id="{F0EE5EA1-5913-406D-B53C-7BE84DA9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81650"/>
            <a:ext cx="73723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B45309"/>
                </a:solidFill>
              </a:defRPr>
            </a:pPr>
            <a:r>
              <a:rPr sz="3600" b="1">
                <a:solidFill>
                  <a:srgbClr val="B45309"/>
                </a:solidFill>
              </a:rPr>
              <a:t>~5 Hz</a:t>
            </a:r>
          </a:p>
        </p:txBody>
      </p:sp>
      <p:sp>
        <p:nvSpPr>
          <p:cNvPr id="11" name="metric-label-fresh load feedback is slow">
            <a:extLst xmlns:a="http://schemas.openxmlformats.org/drawingml/2006/main">
              <a:ext uri="{FF2B5EF4-FFF2-40B4-BE49-F238E27FC236}">
                <a16:creationId xmlns:a16="http://schemas.microsoft.com/office/drawing/2014/main" id="{ADF01318-6B14-4BB2-A300-BFDE27F6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10300"/>
            <a:ext cx="7372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fresh load feedback is slow</a:t>
            </a:r>
          </a:p>
        </p:txBody>
      </p:sp>
      <p:sp>
        <p:nvSpPr>
          <p:cNvPr id="12" name="Mounted wire-panel">
            <a:extLst xmlns:a="http://schemas.openxmlformats.org/drawingml/2006/main">
              <a:ext uri="{FF2B5EF4-FFF2-40B4-BE49-F238E27FC236}">
                <a16:creationId xmlns:a16="http://schemas.microsoft.com/office/drawing/2014/main" id="{9C83F651-906A-4A68-9D57-6FA8DADD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046" y="1948815"/>
            <a:ext cx="4245102" cy="7317105"/>
          </a:xfrm>
          <a:prstGeom xmlns:a="http://schemas.openxmlformats.org/drawingml/2006/main" prst="roundRect">
            <a:avLst>
              <a:gd name="adj" fmla="val 1795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13" name="Mounted wi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4f9f0a86fd4932"/>
          <a:srcRect xmlns:a="http://schemas.openxmlformats.org/drawingml/2006/main" l="0" t="6909" r="0" b="69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50046" y="1948815"/>
            <a:ext cx="4245102" cy="7317105"/>
          </a:xfrm>
          <a:prstGeom xmlns:a="http://schemas.openxmlformats.org/drawingml/2006/main" prst="rect">
            <a:avLst/>
          </a:prstGeom>
        </p:spPr>
      </p:pic>
      <p:sp>
        <p:nvSpPr>
          <p:cNvPr id="14" name="Balance load reading-panel">
            <a:extLst xmlns:a="http://schemas.openxmlformats.org/drawingml/2006/main">
              <a:ext uri="{FF2B5EF4-FFF2-40B4-BE49-F238E27FC236}">
                <a16:creationId xmlns:a16="http://schemas.microsoft.com/office/drawing/2014/main" id="{4D4AF9F7-61A9-45D1-8B7A-1C21BCCA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6598" y="1948815"/>
            <a:ext cx="4245102" cy="7317105"/>
          </a:xfrm>
          <a:prstGeom xmlns:a="http://schemas.openxmlformats.org/drawingml/2006/main" prst="roundRect">
            <a:avLst>
              <a:gd name="adj" fmla="val 1795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15" name="Balance load readi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b143abd3174b15"/>
          <a:srcRect xmlns:a="http://schemas.openxmlformats.org/drawingml/2006/main" l="21704" t="0" r="217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166598" y="1948815"/>
            <a:ext cx="4245102" cy="7317105"/>
          </a:xfrm>
          <a:prstGeom xmlns:a="http://schemas.openxmlformats.org/drawingml/2006/main" prst="rect">
            <a:avLst/>
          </a:prstGeom>
        </p:spPr>
      </p:pic>
      <p:sp>
        <p:nvSpPr>
          <p:cNvPr id="16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6A72EFB9-A296-4921-8DCF-2D166F17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1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DD0327B4-71F4-481F-98CF-7286A92A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036265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closed-loop control">
            <a:extLst xmlns:a="http://schemas.openxmlformats.org/drawingml/2006/main">
              <a:ext uri="{FF2B5EF4-FFF2-40B4-BE49-F238E27FC236}">
                <a16:creationId xmlns:a16="http://schemas.microsoft.com/office/drawing/2014/main" id="{67E94E57-F1D2-4AA9-B8FC-CE472F45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CLOSED-LOOP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F8341E-13A3-4DE9-B3EE-99411AFC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1828"/>
                </a:solidFill>
              </a:defRPr>
            </a:pPr>
            <a:r>
              <a:rPr sz="3900" b="1">
                <a:solidFill>
                  <a:srgbClr val="101828"/>
                </a:solidFill>
              </a:rPr>
              <a:t>Define l0, then approach the target carefully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BBB946F5-46C3-4394-ACBA-1802A350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Initial length calibration-panel">
            <a:extLst xmlns:a="http://schemas.openxmlformats.org/drawingml/2006/main">
              <a:ext uri="{FF2B5EF4-FFF2-40B4-BE49-F238E27FC236}">
                <a16:creationId xmlns:a16="http://schemas.microsoft.com/office/drawing/2014/main" id="{C9528082-60E1-4388-9842-BD448014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14525"/>
            <a:ext cx="8134350" cy="6296025"/>
          </a:xfrm>
          <a:prstGeom xmlns:a="http://schemas.openxmlformats.org/drawingml/2006/main" prst="roundRect">
            <a:avLst>
              <a:gd name="adj" fmla="val 1210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5" name="Initial length calibrat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e41b5951984e6e"/>
          <a:stretch xmlns:a="http://schemas.openxmlformats.org/drawingml/2006/main"/>
        </p:blipFill>
        <p:spPr>
          <a:xfrm xmlns:a="http://schemas.openxmlformats.org/drawingml/2006/main">
            <a:off x="876300" y="2738438"/>
            <a:ext cx="8134350" cy="4648200"/>
          </a:xfrm>
          <a:prstGeom xmlns:a="http://schemas.openxmlformats.org/drawingml/2006/main" prst="rect">
            <a:avLst/>
          </a:prstGeom>
        </p:spPr>
      </p:pic>
      <p:sp>
        <p:nvSpPr>
          <p:cNvPr id="6" name="Target approach control-panel">
            <a:extLst xmlns:a="http://schemas.openxmlformats.org/drawingml/2006/main">
              <a:ext uri="{FF2B5EF4-FFF2-40B4-BE49-F238E27FC236}">
                <a16:creationId xmlns:a16="http://schemas.microsoft.com/office/drawing/2014/main" id="{1E0E43E7-6493-4FB9-8BE3-A7B94031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914525"/>
            <a:ext cx="8134350" cy="6296025"/>
          </a:xfrm>
          <a:prstGeom xmlns:a="http://schemas.openxmlformats.org/drawingml/2006/main" prst="roundRect">
            <a:avLst>
              <a:gd name="adj" fmla="val 1210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7" name="Target approach contro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808ec751244414"/>
          <a:stretch xmlns:a="http://schemas.openxmlformats.org/drawingml/2006/main"/>
        </p:blipFill>
        <p:spPr>
          <a:xfrm xmlns:a="http://schemas.openxmlformats.org/drawingml/2006/main">
            <a:off x="9277350" y="2493795"/>
            <a:ext cx="8134350" cy="5137484"/>
          </a:xfrm>
          <a:prstGeom xmlns:a="http://schemas.openxmlformats.org/drawingml/2006/main" prst="rect">
            <a:avLst/>
          </a:prstGeom>
        </p:spPr>
      </p:pic>
      <p:sp>
        <p:nvSpPr>
          <p:cNvPr id="8" name="flow-title-before sweep">
            <a:extLst xmlns:a="http://schemas.openxmlformats.org/drawingml/2006/main">
              <a:ext uri="{FF2B5EF4-FFF2-40B4-BE49-F238E27FC236}">
                <a16:creationId xmlns:a16="http://schemas.microsoft.com/office/drawing/2014/main" id="{AE4EE27A-D63A-46E0-ABBA-47B4814C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0"/>
            <a:ext cx="5314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4D89"/>
                </a:solidFill>
              </a:defRPr>
            </a:pPr>
            <a:r>
              <a:rPr sz="2325" b="1">
                <a:solidFill>
                  <a:srgbClr val="1B4D89"/>
                </a:solidFill>
              </a:rPr>
              <a:t>before sweep</a:t>
            </a:r>
          </a:p>
        </p:txBody>
      </p:sp>
      <p:sp>
        <p:nvSpPr>
          <p:cNvPr id="9" name="flow-rule-before sweep">
            <a:extLst xmlns:a="http://schemas.openxmlformats.org/drawingml/2006/main">
              <a:ext uri="{FF2B5EF4-FFF2-40B4-BE49-F238E27FC236}">
                <a16:creationId xmlns:a16="http://schemas.microsoft.com/office/drawing/2014/main" id="{0414E532-3DEF-437C-B4A4-4FE115FE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8582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D89"/>
          </a:solidFill>
          <a:ln xmlns:a="http://schemas.openxmlformats.org/drawingml/2006/main" w="0">
            <a:solidFill>
              <a:srgbClr val="1B4D89"/>
            </a:solidFill>
            <a:prstDash val="solid"/>
          </a:ln>
        </p:spPr>
      </p:sp>
      <p:sp>
        <p:nvSpPr>
          <p:cNvPr id="10" name="flow-detail-before sweep">
            <a:extLst xmlns:a="http://schemas.openxmlformats.org/drawingml/2006/main">
              <a:ext uri="{FF2B5EF4-FFF2-40B4-BE49-F238E27FC236}">
                <a16:creationId xmlns:a16="http://schemas.microsoft.com/office/drawing/2014/main" id="{38369103-6E95-4032-BC16-064148B8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010650"/>
            <a:ext cx="5314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estimate usable initial length</a:t>
            </a:r>
          </a:p>
        </p:txBody>
      </p:sp>
      <p:sp>
        <p:nvSpPr>
          <p:cNvPr id="11" name="flow-title-far from target">
            <a:extLst xmlns:a="http://schemas.openxmlformats.org/drawingml/2006/main">
              <a:ext uri="{FF2B5EF4-FFF2-40B4-BE49-F238E27FC236}">
                <a16:creationId xmlns:a16="http://schemas.microsoft.com/office/drawing/2014/main" id="{BBD0A928-27BB-4C94-AD73-32ECC54C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8382000"/>
            <a:ext cx="5314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far from target</a:t>
            </a:r>
          </a:p>
        </p:txBody>
      </p:sp>
      <p:sp>
        <p:nvSpPr>
          <p:cNvPr id="12" name="flow-rule-far from target">
            <a:extLst xmlns:a="http://schemas.openxmlformats.org/drawingml/2006/main">
              <a:ext uri="{FF2B5EF4-FFF2-40B4-BE49-F238E27FC236}">
                <a16:creationId xmlns:a16="http://schemas.microsoft.com/office/drawing/2014/main" id="{39BE94C0-B5BC-4E27-A8B9-449181C6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88582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13" name="flow-detail-far from target">
            <a:extLst xmlns:a="http://schemas.openxmlformats.org/drawingml/2006/main">
              <a:ext uri="{FF2B5EF4-FFF2-40B4-BE49-F238E27FC236}">
                <a16:creationId xmlns:a16="http://schemas.microsoft.com/office/drawing/2014/main" id="{A1B93F0D-3ADC-416A-9F35-9369D477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9010650"/>
            <a:ext cx="5314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larger corrections</a:t>
            </a:r>
          </a:p>
        </p:txBody>
      </p:sp>
      <p:sp>
        <p:nvSpPr>
          <p:cNvPr id="14" name="flow-title-near target">
            <a:extLst xmlns:a="http://schemas.openxmlformats.org/drawingml/2006/main">
              <a:ext uri="{FF2B5EF4-FFF2-40B4-BE49-F238E27FC236}">
                <a16:creationId xmlns:a16="http://schemas.microsoft.com/office/drawing/2014/main" id="{A4B57FDA-DE0A-4A20-BFB2-30E89476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8382000"/>
            <a:ext cx="5314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5309"/>
                </a:solidFill>
              </a:defRPr>
            </a:pPr>
            <a:r>
              <a:rPr sz="2325" b="1">
                <a:solidFill>
                  <a:srgbClr val="B45309"/>
                </a:solidFill>
              </a:rPr>
              <a:t>near target</a:t>
            </a:r>
          </a:p>
        </p:txBody>
      </p:sp>
      <p:sp>
        <p:nvSpPr>
          <p:cNvPr id="15" name="flow-rule-near target">
            <a:extLst xmlns:a="http://schemas.openxmlformats.org/drawingml/2006/main">
              <a:ext uri="{FF2B5EF4-FFF2-40B4-BE49-F238E27FC236}">
                <a16:creationId xmlns:a16="http://schemas.microsoft.com/office/drawing/2014/main" id="{6C3034A2-6E78-4172-B44D-EDF710AE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88582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flow-detail-near target">
            <a:extLst xmlns:a="http://schemas.openxmlformats.org/drawingml/2006/main">
              <a:ext uri="{FF2B5EF4-FFF2-40B4-BE49-F238E27FC236}">
                <a16:creationId xmlns:a16="http://schemas.microsoft.com/office/drawing/2014/main" id="{B48B8D47-6219-4149-9375-DAD60F22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9010650"/>
            <a:ext cx="5314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small moves gated by fresh feedback</a:t>
            </a:r>
          </a:p>
        </p:txBody>
      </p:sp>
      <p:sp>
        <p:nvSpPr>
          <p:cNvPr id="1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179FB057-FED1-4560-BAF4-E75E306C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18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A2AC5445-5597-4963-BCE6-A8A6B9B7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79934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first result">
            <a:extLst xmlns:a="http://schemas.openxmlformats.org/drawingml/2006/main">
              <a:ext uri="{FF2B5EF4-FFF2-40B4-BE49-F238E27FC236}">
                <a16:creationId xmlns:a16="http://schemas.microsoft.com/office/drawing/2014/main" id="{EBB7F5C6-8673-42D4-BB9F-011DF28A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FIRST RESULT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9A013A-85CD-4C13-B82B-D28FB30C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01828"/>
                </a:solidFill>
              </a:defRPr>
            </a:pPr>
            <a:r>
              <a:rPr sz="3675" b="1">
                <a:solidFill>
                  <a:srgbClr val="101828"/>
                </a:solidFill>
              </a:rPr>
              <a:t>Current sweeps can also be read as power sweeps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0A48D3D3-5633-4B56-B113-5DC8F9B2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Mini DMA strain curve with top power axis-panel">
            <a:extLst xmlns:a="http://schemas.openxmlformats.org/drawingml/2006/main">
              <a:ext uri="{FF2B5EF4-FFF2-40B4-BE49-F238E27FC236}">
                <a16:creationId xmlns:a16="http://schemas.microsoft.com/office/drawing/2014/main" id="{50BADC66-0564-4C0A-9765-E90B91BB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0235"/>
            <a:ext cx="10302240" cy="7385685"/>
          </a:xfrm>
          <a:prstGeom xmlns:a="http://schemas.openxmlformats.org/drawingml/2006/main" prst="roundRect">
            <a:avLst>
              <a:gd name="adj" fmla="val 1032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5" name="Mini DMA strain curve with top power axi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c4125c70d4c90"/>
          <a:stretch xmlns:a="http://schemas.openxmlformats.org/drawingml/2006/main"/>
        </p:blipFill>
        <p:spPr>
          <a:xfrm xmlns:a="http://schemas.openxmlformats.org/drawingml/2006/main">
            <a:off x="876300" y="2418017"/>
            <a:ext cx="10302240" cy="6310122"/>
          </a:xfrm>
          <a:prstGeom xmlns:a="http://schemas.openxmlformats.org/drawingml/2006/main" prst="rect">
            <a:avLst/>
          </a:prstGeom>
        </p:spPr>
      </p:pic>
      <p:sp>
        <p:nvSpPr>
          <p:cNvPr id="6" name="metric-value-measured current">
            <a:extLst xmlns:a="http://schemas.openxmlformats.org/drawingml/2006/main">
              <a:ext uri="{FF2B5EF4-FFF2-40B4-BE49-F238E27FC236}">
                <a16:creationId xmlns:a16="http://schemas.microsoft.com/office/drawing/2014/main" id="{9979E7CF-258F-4F60-8C53-FDFECEB6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1885950"/>
            <a:ext cx="57912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B4D89"/>
                </a:solidFill>
              </a:defRPr>
            </a:pPr>
            <a:r>
              <a:rPr sz="3600" b="1">
                <a:solidFill>
                  <a:srgbClr val="1B4D89"/>
                </a:solidFill>
              </a:rPr>
              <a:t>bottom axis</a:t>
            </a:r>
          </a:p>
        </p:txBody>
      </p:sp>
      <p:sp>
        <p:nvSpPr>
          <p:cNvPr id="7" name="metric-label-measured current">
            <a:extLst xmlns:a="http://schemas.openxmlformats.org/drawingml/2006/main">
              <a:ext uri="{FF2B5EF4-FFF2-40B4-BE49-F238E27FC236}">
                <a16:creationId xmlns:a16="http://schemas.microsoft.com/office/drawing/2014/main" id="{39F642E1-EA6C-4B44-A436-F2AF948F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2514600"/>
            <a:ext cx="5791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measured current</a:t>
            </a:r>
          </a:p>
        </p:txBody>
      </p:sp>
      <p:sp>
        <p:nvSpPr>
          <p:cNvPr id="8" name="metric-value-calculated P = I^2 R">
            <a:extLst xmlns:a="http://schemas.openxmlformats.org/drawingml/2006/main">
              <a:ext uri="{FF2B5EF4-FFF2-40B4-BE49-F238E27FC236}">
                <a16:creationId xmlns:a16="http://schemas.microsoft.com/office/drawing/2014/main" id="{9C5D4047-2525-4CAA-87B8-42B34DDE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3086100"/>
            <a:ext cx="57912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E7490"/>
                </a:solidFill>
              </a:defRPr>
            </a:pPr>
            <a:r>
              <a:rPr sz="3600" b="1">
                <a:solidFill>
                  <a:srgbClr val="0E7490"/>
                </a:solidFill>
              </a:rPr>
              <a:t>top axis</a:t>
            </a:r>
          </a:p>
        </p:txBody>
      </p:sp>
      <p:sp>
        <p:nvSpPr>
          <p:cNvPr id="9" name="metric-label-calculated P = I^2 R">
            <a:extLst xmlns:a="http://schemas.openxmlformats.org/drawingml/2006/main">
              <a:ext uri="{FF2B5EF4-FFF2-40B4-BE49-F238E27FC236}">
                <a16:creationId xmlns:a16="http://schemas.microsoft.com/office/drawing/2014/main" id="{843BD0AA-3E53-4C0D-80A0-ED686E60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3714750"/>
            <a:ext cx="5791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calculated P = I^2 R</a:t>
            </a:r>
          </a:p>
        </p:txBody>
      </p:sp>
      <p:sp>
        <p:nvSpPr>
          <p:cNvPr id="10" name="metric-value-controlled sweep with interpretable response">
            <a:extLst xmlns:a="http://schemas.openxmlformats.org/drawingml/2006/main">
              <a:ext uri="{FF2B5EF4-FFF2-40B4-BE49-F238E27FC236}">
                <a16:creationId xmlns:a16="http://schemas.microsoft.com/office/drawing/2014/main" id="{F44B7668-D050-4718-9DAF-2D821096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4305300"/>
            <a:ext cx="57912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B45309"/>
                </a:solidFill>
              </a:defRPr>
            </a:pPr>
            <a:r>
              <a:rPr sz="3600" b="1">
                <a:solidFill>
                  <a:srgbClr val="B45309"/>
                </a:solidFill>
              </a:rPr>
              <a:t>first proof</a:t>
            </a:r>
          </a:p>
        </p:txBody>
      </p:sp>
      <p:sp>
        <p:nvSpPr>
          <p:cNvPr id="11" name="metric-label-controlled sweep with interpretable response">
            <a:extLst xmlns:a="http://schemas.openxmlformats.org/drawingml/2006/main">
              <a:ext uri="{FF2B5EF4-FFF2-40B4-BE49-F238E27FC236}">
                <a16:creationId xmlns:a16="http://schemas.microsoft.com/office/drawing/2014/main" id="{276696D9-6325-4B56-9B3C-56CC942C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4933950"/>
            <a:ext cx="5791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75467"/>
                </a:solidFill>
              </a:defRPr>
            </a:pPr>
            <a:r>
              <a:rPr sz="1725">
                <a:solidFill>
                  <a:srgbClr val="475467"/>
                </a:solidFill>
              </a:rPr>
              <a:t>controlled sweep with interpretable response</a:t>
            </a:r>
          </a:p>
        </p:txBody>
      </p:sp>
      <p:sp>
        <p:nvSpPr>
          <p:cNvPr id="12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EBD06FDA-2302-429A-8F09-7C02DFE5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85A3713-9D51-4CB8-B310-6A088388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325088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closing">
            <a:extLst xmlns:a="http://schemas.openxmlformats.org/drawingml/2006/main">
              <a:ext uri="{FF2B5EF4-FFF2-40B4-BE49-F238E27FC236}">
                <a16:creationId xmlns:a16="http://schemas.microsoft.com/office/drawing/2014/main" id="{9F979A2C-26B2-4356-8848-C0E88DEF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6535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CLOSING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59211B-8C2F-4FDF-8DD6-0AA3EF32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95350"/>
            <a:ext cx="165354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1828"/>
                </a:solidFill>
              </a:defRPr>
            </a:pPr>
            <a:r>
              <a:rPr sz="4200" b="1">
                <a:solidFill>
                  <a:srgbClr val="101828"/>
                </a:solidFill>
              </a:rPr>
              <a:t>The useful output is faster learning</a:t>
            </a:r>
          </a:p>
        </p:txBody>
      </p:sp>
      <p:sp>
        <p:nvSpPr>
          <p:cNvPr id="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8E9B1F53-D4CA-48D5-95B6-2FA58161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4" name="dash-more sam">
            <a:extLst xmlns:a="http://schemas.openxmlformats.org/drawingml/2006/main">
              <a:ext uri="{FF2B5EF4-FFF2-40B4-BE49-F238E27FC236}">
                <a16:creationId xmlns:a16="http://schemas.microsoft.com/office/drawing/2014/main" id="{8970C1CC-314C-4B9C-A011-D87B0D65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247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-</a:t>
            </a:r>
          </a:p>
        </p:txBody>
      </p:sp>
      <p:sp>
        <p:nvSpPr>
          <p:cNvPr id="5" name="item-text-more samples bef">
            <a:extLst xmlns:a="http://schemas.openxmlformats.org/drawingml/2006/main">
              <a:ext uri="{FF2B5EF4-FFF2-40B4-BE49-F238E27FC236}">
                <a16:creationId xmlns:a16="http://schemas.microsoft.com/office/drawing/2014/main" id="{23FA19CD-8C26-4ADC-ADA2-FDB4CAA8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62150"/>
            <a:ext cx="7772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101828"/>
                </a:solidFill>
              </a:defRPr>
            </a:pPr>
            <a:r>
              <a:rPr sz="2325">
                <a:solidFill>
                  <a:srgbClr val="101828"/>
                </a:solidFill>
              </a:rPr>
              <a:t>more samples before commercial DMA</a:t>
            </a:r>
          </a:p>
        </p:txBody>
      </p:sp>
      <p:sp>
        <p:nvSpPr>
          <p:cNvPr id="6" name="dash-better c">
            <a:extLst xmlns:a="http://schemas.openxmlformats.org/drawingml/2006/main">
              <a:ext uri="{FF2B5EF4-FFF2-40B4-BE49-F238E27FC236}">
                <a16:creationId xmlns:a16="http://schemas.microsoft.com/office/drawing/2014/main" id="{BE2A4462-8D71-4C5F-9882-FB588652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47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-</a:t>
            </a:r>
          </a:p>
        </p:txBody>
      </p:sp>
      <p:sp>
        <p:nvSpPr>
          <p:cNvPr id="7" name="item-text-better candidate">
            <a:extLst xmlns:a="http://schemas.openxmlformats.org/drawingml/2006/main">
              <a:ext uri="{FF2B5EF4-FFF2-40B4-BE49-F238E27FC236}">
                <a16:creationId xmlns:a16="http://schemas.microsoft.com/office/drawing/2014/main" id="{068A9CD1-DAAA-4C4E-B082-FE7BC6D5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95550"/>
            <a:ext cx="7772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101828"/>
                </a:solidFill>
              </a:defRPr>
            </a:pPr>
            <a:r>
              <a:rPr sz="2325">
                <a:solidFill>
                  <a:srgbClr val="101828"/>
                </a:solidFill>
              </a:rPr>
              <a:t>better candidates for validation</a:t>
            </a:r>
          </a:p>
        </p:txBody>
      </p:sp>
      <p:sp>
        <p:nvSpPr>
          <p:cNvPr id="8" name="dash-faster i">
            <a:extLst xmlns:a="http://schemas.openxmlformats.org/drawingml/2006/main">
              <a:ext uri="{FF2B5EF4-FFF2-40B4-BE49-F238E27FC236}">
                <a16:creationId xmlns:a16="http://schemas.microsoft.com/office/drawing/2014/main" id="{D61B76FC-8868-438C-9A2A-C395B2E2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247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E7490"/>
                </a:solidFill>
              </a:defRPr>
            </a:pPr>
            <a:r>
              <a:rPr sz="2325" b="1">
                <a:solidFill>
                  <a:srgbClr val="0E7490"/>
                </a:solidFill>
              </a:rPr>
              <a:t>-</a:t>
            </a:r>
          </a:p>
        </p:txBody>
      </p:sp>
      <p:sp>
        <p:nvSpPr>
          <p:cNvPr id="9" name="item-text-faster iteration">
            <a:extLst xmlns:a="http://schemas.openxmlformats.org/drawingml/2006/main">
              <a:ext uri="{FF2B5EF4-FFF2-40B4-BE49-F238E27FC236}">
                <a16:creationId xmlns:a16="http://schemas.microsoft.com/office/drawing/2014/main" id="{94CBB370-56E6-43C3-B8DC-BB60453A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009900"/>
            <a:ext cx="7772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101828"/>
                </a:solidFill>
              </a:defRPr>
            </a:pPr>
            <a:r>
              <a:rPr sz="2325">
                <a:solidFill>
                  <a:srgbClr val="101828"/>
                </a:solidFill>
              </a:rPr>
              <a:t>faster iteration while the idea is fresh</a:t>
            </a:r>
          </a:p>
        </p:txBody>
      </p:sp>
      <p:sp>
        <p:nvSpPr>
          <p:cNvPr id="10" name="closing-separator">
            <a:extLst xmlns:a="http://schemas.openxmlformats.org/drawingml/2006/main">
              <a:ext uri="{FF2B5EF4-FFF2-40B4-BE49-F238E27FC236}">
                <a16:creationId xmlns:a16="http://schemas.microsoft.com/office/drawing/2014/main" id="{6F145744-4B92-492D-8382-9876B431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19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11" name="closing-ai-line">
            <a:extLst xmlns:a="http://schemas.openxmlformats.org/drawingml/2006/main">
              <a:ext uri="{FF2B5EF4-FFF2-40B4-BE49-F238E27FC236}">
                <a16:creationId xmlns:a16="http://schemas.microsoft.com/office/drawing/2014/main" id="{42DFAB1F-2193-4D67-A481-C6E0E754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81724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</a:defRPr>
            </a:pPr>
            <a:r>
              <a:rPr sz="2400" b="1">
                <a:solidFill>
                  <a:srgbClr val="101828"/>
                </a:solidFill>
              </a:rPr>
              <a:t>AI compressed the engineering path; experiments keep the instrument honest.</a:t>
            </a:r>
          </a:p>
        </p:txBody>
      </p:sp>
      <p:sp>
        <p:nvSpPr>
          <p:cNvPr id="12" name="Mini DMA electronics-panel">
            <a:extLst xmlns:a="http://schemas.openxmlformats.org/drawingml/2006/main">
              <a:ext uri="{FF2B5EF4-FFF2-40B4-BE49-F238E27FC236}">
                <a16:creationId xmlns:a16="http://schemas.microsoft.com/office/drawing/2014/main" id="{784B54A5-5B08-4F00-9B43-DAB0DE68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1386" y="1960245"/>
            <a:ext cx="7850314" cy="6250305"/>
          </a:xfrm>
          <a:prstGeom xmlns:a="http://schemas.openxmlformats.org/drawingml/2006/main" prst="roundRect">
            <a:avLst>
              <a:gd name="adj" fmla="val 1219"/>
            </a:avLst>
          </a:prstGeom>
          <a:solidFill xmlns:a="http://schemas.openxmlformats.org/drawingml/2006/main">
            <a:srgbClr val="FFFFFF"/>
          </a:solidFill>
        </p:spPr>
      </p:sp>
      <p:pic>
        <p:nvPicPr>
          <p:cNvPr id="13" name="Mini DMA electronic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202b06b444269"/>
          <a:srcRect xmlns:a="http://schemas.openxmlformats.org/drawingml/2006/main" l="0" t="20143" r="0" b="20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1386" y="1960245"/>
            <a:ext cx="7850314" cy="6250305"/>
          </a:xfrm>
          <a:prstGeom xmlns:a="http://schemas.openxmlformats.org/drawingml/2006/main" prst="rect">
            <a:avLst/>
          </a:prstGeom>
        </p:spPr>
      </p:pic>
      <p:sp>
        <p:nvSpPr>
          <p:cNvPr id="14" name="timeline-index-1">
            <a:extLst xmlns:a="http://schemas.openxmlformats.org/drawingml/2006/main">
              <a:ext uri="{FF2B5EF4-FFF2-40B4-BE49-F238E27FC236}">
                <a16:creationId xmlns:a16="http://schemas.microsoft.com/office/drawing/2014/main" id="{5BA4B44D-96DE-40FB-9A2D-48D7053D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8477250"/>
            <a:ext cx="1828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4D89"/>
                </a:solidFill>
              </a:defRPr>
            </a:pPr>
            <a:r>
              <a:rPr sz="1800" b="1">
                <a:solidFill>
                  <a:srgbClr val="1B4D89"/>
                </a:solidFill>
              </a:rPr>
              <a:t>1</a:t>
            </a:r>
          </a:p>
        </p:txBody>
      </p:sp>
      <p:sp>
        <p:nvSpPr>
          <p:cNvPr id="15" name="timeline-label-1">
            <a:extLst xmlns:a="http://schemas.openxmlformats.org/drawingml/2006/main">
              <a:ext uri="{FF2B5EF4-FFF2-40B4-BE49-F238E27FC236}">
                <a16:creationId xmlns:a16="http://schemas.microsoft.com/office/drawing/2014/main" id="{62F2532B-FC5A-4BC3-8C8E-8286F93B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8839200"/>
            <a:ext cx="1828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components</a:t>
            </a:r>
          </a:p>
        </p:txBody>
      </p:sp>
      <p:sp>
        <p:nvSpPr>
          <p:cNvPr id="16" name="timeline-rule-1">
            <a:extLst xmlns:a="http://schemas.openxmlformats.org/drawingml/2006/main">
              <a:ext uri="{FF2B5EF4-FFF2-40B4-BE49-F238E27FC236}">
                <a16:creationId xmlns:a16="http://schemas.microsoft.com/office/drawing/2014/main" id="{C5820B31-BFF9-43CE-B4FB-27B4B17D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9220200"/>
            <a:ext cx="1104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D89"/>
          </a:solidFill>
          <a:ln xmlns:a="http://schemas.openxmlformats.org/drawingml/2006/main" w="0">
            <a:solidFill>
              <a:srgbClr val="1B4D89"/>
            </a:solidFill>
            <a:prstDash val="solid"/>
          </a:ln>
        </p:spPr>
      </p:sp>
      <p:sp>
        <p:nvSpPr>
          <p:cNvPr id="17" name="timeline-index-2">
            <a:extLst xmlns:a="http://schemas.openxmlformats.org/drawingml/2006/main">
              <a:ext uri="{FF2B5EF4-FFF2-40B4-BE49-F238E27FC236}">
                <a16:creationId xmlns:a16="http://schemas.microsoft.com/office/drawing/2014/main" id="{731FCC1E-D620-433A-A3A8-6303C5C1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8477250"/>
            <a:ext cx="1828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E7490"/>
                </a:solidFill>
              </a:defRPr>
            </a:pPr>
            <a:r>
              <a:rPr sz="1800" b="1">
                <a:solidFill>
                  <a:srgbClr val="0E7490"/>
                </a:solidFill>
              </a:rPr>
              <a:t>2</a:t>
            </a:r>
          </a:p>
        </p:txBody>
      </p:sp>
      <p:sp>
        <p:nvSpPr>
          <p:cNvPr id="18" name="timeline-label-2">
            <a:extLst xmlns:a="http://schemas.openxmlformats.org/drawingml/2006/main">
              <a:ext uri="{FF2B5EF4-FFF2-40B4-BE49-F238E27FC236}">
                <a16:creationId xmlns:a16="http://schemas.microsoft.com/office/drawing/2014/main" id="{D781C8E4-EFA7-4CAF-AEAE-5980DF20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8839200"/>
            <a:ext cx="1828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wiring</a:t>
            </a:r>
          </a:p>
        </p:txBody>
      </p:sp>
      <p:sp>
        <p:nvSpPr>
          <p:cNvPr id="19" name="timeline-rule-2">
            <a:extLst xmlns:a="http://schemas.openxmlformats.org/drawingml/2006/main">
              <a:ext uri="{FF2B5EF4-FFF2-40B4-BE49-F238E27FC236}">
                <a16:creationId xmlns:a16="http://schemas.microsoft.com/office/drawing/2014/main" id="{E7C5FF38-90B1-4A37-9F63-6B2791AA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9220200"/>
            <a:ext cx="1104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20" name="timeline-index-3">
            <a:extLst xmlns:a="http://schemas.openxmlformats.org/drawingml/2006/main">
              <a:ext uri="{FF2B5EF4-FFF2-40B4-BE49-F238E27FC236}">
                <a16:creationId xmlns:a16="http://schemas.microsoft.com/office/drawing/2014/main" id="{2C67F454-C4E6-4E66-B1F3-B046780D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8477250"/>
            <a:ext cx="1828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5309"/>
                </a:solidFill>
              </a:defRPr>
            </a:pPr>
            <a:r>
              <a:rPr sz="1800" b="1">
                <a:solidFill>
                  <a:srgbClr val="B45309"/>
                </a:solidFill>
              </a:rPr>
              <a:t>3</a:t>
            </a:r>
          </a:p>
        </p:txBody>
      </p:sp>
      <p:sp>
        <p:nvSpPr>
          <p:cNvPr id="21" name="timeline-label-3">
            <a:extLst xmlns:a="http://schemas.openxmlformats.org/drawingml/2006/main">
              <a:ext uri="{FF2B5EF4-FFF2-40B4-BE49-F238E27FC236}">
                <a16:creationId xmlns:a16="http://schemas.microsoft.com/office/drawing/2014/main" id="{A2D70D03-4A47-4BE2-9F5A-9BF5C226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8839200"/>
            <a:ext cx="1828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drivers</a:t>
            </a:r>
          </a:p>
        </p:txBody>
      </p:sp>
      <p:sp>
        <p:nvSpPr>
          <p:cNvPr id="22" name="timeline-rule-3">
            <a:extLst xmlns:a="http://schemas.openxmlformats.org/drawingml/2006/main">
              <a:ext uri="{FF2B5EF4-FFF2-40B4-BE49-F238E27FC236}">
                <a16:creationId xmlns:a16="http://schemas.microsoft.com/office/drawing/2014/main" id="{2469E7A3-1F62-404B-B487-402CD3E0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9220200"/>
            <a:ext cx="1104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3" name="timeline-index-4">
            <a:extLst xmlns:a="http://schemas.openxmlformats.org/drawingml/2006/main">
              <a:ext uri="{FF2B5EF4-FFF2-40B4-BE49-F238E27FC236}">
                <a16:creationId xmlns:a16="http://schemas.microsoft.com/office/drawing/2014/main" id="{1AC77530-63BB-45CF-AA02-AA0C521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2900" y="8477250"/>
            <a:ext cx="1828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F7D32"/>
                </a:solidFill>
              </a:defRPr>
            </a:pPr>
            <a:r>
              <a:rPr sz="1800" b="1">
                <a:solidFill>
                  <a:srgbClr val="3F7D32"/>
                </a:solidFill>
              </a:rPr>
              <a:t>4</a:t>
            </a:r>
          </a:p>
        </p:txBody>
      </p:sp>
      <p:sp>
        <p:nvSpPr>
          <p:cNvPr id="24" name="timeline-label-4">
            <a:extLst xmlns:a="http://schemas.openxmlformats.org/drawingml/2006/main">
              <a:ext uri="{FF2B5EF4-FFF2-40B4-BE49-F238E27FC236}">
                <a16:creationId xmlns:a16="http://schemas.microsoft.com/office/drawing/2014/main" id="{BB625237-187B-410B-81EF-931F2318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2900" y="8839200"/>
            <a:ext cx="1828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software</a:t>
            </a:r>
          </a:p>
        </p:txBody>
      </p:sp>
      <p:sp>
        <p:nvSpPr>
          <p:cNvPr id="25" name="timeline-rule-4">
            <a:extLst xmlns:a="http://schemas.openxmlformats.org/drawingml/2006/main">
              <a:ext uri="{FF2B5EF4-FFF2-40B4-BE49-F238E27FC236}">
                <a16:creationId xmlns:a16="http://schemas.microsoft.com/office/drawing/2014/main" id="{49FB3B9F-8D12-4E6D-8AB7-63E8D2C6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2900" y="9220200"/>
            <a:ext cx="1104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32"/>
          </a:solidFill>
          <a:ln xmlns:a="http://schemas.openxmlformats.org/drawingml/2006/main" w="0">
            <a:solidFill>
              <a:srgbClr val="3F7D32"/>
            </a:solidFill>
            <a:prstDash val="solid"/>
          </a:ln>
        </p:spPr>
      </p:sp>
      <p:sp>
        <p:nvSpPr>
          <p:cNvPr id="26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0E8FECC0-72CF-432D-BDAD-EA14C756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525000"/>
            <a:ext cx="1596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Martin Elias - Ni-Fe-Ga instrumentation</a:t>
            </a:r>
          </a:p>
        </p:txBody>
      </p:sp>
      <p:sp>
        <p:nvSpPr>
          <p:cNvPr id="2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CF49987-CF43-4CAC-AA48-9913E015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525000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743200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2026-05-21T07:24:32.2850000Z</dcterms:created>
  <dcterms:modified xsi:type="dcterms:W3CDTF">2026-05-21T07:24:32.2850000Z</dcterms:modified>
</coreProperties>
</file>