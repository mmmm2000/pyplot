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why we built a small Mini DMA setup and where it fits in our microwire workflow.
The main point is not that it replaces a commercial DMA. The point is that it lets us screen many samples quickly before choosing the few that deserve slower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here is preparation. We need a way to learn which preparation choices are promising before spending a lot of time on detailed validation.
So the workflow is many samples, fast feedback, then selected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Mini DMA is closely connected to the EDA work. The EDA is trying to connect fabrication and process data with experimental response.
For example, here we already see process variables ranked by correlation with strain in the manual dataset.
The Mini DMA gives us a way to generate more response data faster, so the correlations are not based only on slow manual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setup, I was doing stress-strain measurements manually.
They are useful, but one measurement at one current value could take around half an hour of hands-on work.
That is not practical if the goal is to screen many wires and many preparation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limitation is not that stress-strain is wrong. It answers a different question.
For screening transformation behavior, I want to hold stress constant and see how the wire contracts when current changes.
That is why iso-stress current sweeps are a better first screening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DMA is still the reference measurement. It is more precise and it is the method we trust for validation.
The problem is using it as the first filter. If every preparation variant has to go through this step first, feedback is too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intended workflow.
The Mini DMA sits before commercial DMA. It is not presented as a better commercial instrument.
It is a faster decision tool that lets us reserve the reference measurement for the best candidates.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is intentionally simple. The stepper motor provides controlled displacement, and the scale measures force through the change in weight.
The smallest motor step is 10 micrometers. The scale resolution is 0.05 grams, and the scale has about 200 milliseconds of latency.
The power supply is used to heat the wire by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measurement works like an isostress measurement on a commercial DMA.
I set a stress target. Then the current increases and the wire heats.
When transformation starts, the wire contracts, so the load on the scale changes and the calculated stress rises.
The motor then moves down to bring the stress back to the target. Since we know how much the motor moved, we know the strain.
On cooling, the wire elongates again and the motor moves in the opposite direction to hold the same stress.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setup only knows motor displacement, I first need to establish the initial wire length.
At the start of a run, the system moves to a known stress target, for example 20 MPa, and asks me to enter the measured wire length.
Then it moves back toward zero load. The wire can still pull slightly even when it is not perfectly straight, so I do not simply use the first low force value.
Instead, I fit the linear part of load versus displacement and detect where the response stops following that line. That becomes the new baseline.
Since I know the displacement from the measured target state to this baseline, I can calculate the effective initial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has to be precise but not painfully slow.
When it is far from the target, the motor takes larger steps and can move continuously in a cruise mode.
Because the scale value has about 200 milliseconds of latency, the controller checks retrospectively whether it is approaching correctly.
Near the target, it switches to a more careful mode: move, wait for a fresh scale value, then move again.
The closer it gets, the smaller the step becomes, down to a single 10 micrometer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measurement from the Mini DMA setup.
For this presentation I would keep only the lower stress curves on the plot, because the full version is too cluttered.
Since the current is measured during the sweep, we can also calculate the electrical power needed to reach a given contraction, for example 10 percent.
That matters for practical actuator applications, where the power requirement is part of the usefulness of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approximate numbers, and I would say that out loud.
The important point is the order of magnitude.
A commercial DMA is still the better validation instrument, but a setup that costs a few hundred euros can be used much more freely for screening.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removed the synthetic thermal graph here because it was not the real image you wanted.
The next step is to connect the thermal camera to the same measurement so we know not only the current and power, but also the actual temperature of the wire.
That would also let us measure the thermal response during transformation, including the elastocaloric effect.
I could not find the real thermocamera frame from the older presentation in the local repo, so this slide uses only the real camera-hardware photo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that this was not only a hardware project. It was also an example of what AI makes possible now.
ChatGPT helped choose the components and explained the wiring in very concrete terms, down to which cable should go to which pin.
Then I connected it to the PC and Codex wrote the software, installed the correct drivers, and helped make the setup actually run.
Overall, it took around two weeks. A few years ago I would probably need someone for electronics and someone else for software.
Now, if someone has a small experimental idea, they can get surprisingly far by themselves. That is the part I want people to notice and use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9FC"/>
          </a:solidFill>
          <a:ln w="12700">
            <a:solidFill>
              <a:srgbClr val="333333">
                <a:alpha val="0"/>
              </a:srgbClr>
            </a:solidFill>
            <a:prstDash val="solid"/>
          </a:ln>
        </p:spPr>
      </p:sp>
      <p:sp>
        <p:nvSpPr>
          <p:cNvPr id="3" name="Shape 1"/>
          <p:cNvSpPr/>
          <p:nvPr/>
        </p:nvSpPr>
        <p:spPr>
          <a:xfrm>
            <a:off x="6400800" y="0"/>
            <a:ext cx="5788152" cy="6858000"/>
          </a:xfrm>
          <a:prstGeom prst="rect">
            <a:avLst/>
          </a:prstGeom>
          <a:solidFill>
            <a:srgbClr val="FFFFFF"/>
          </a:solidFill>
          <a:ln w="12700">
            <a:solidFill>
              <a:srgbClr val="D9DEE8"/>
            </a:solidFill>
            <a:prstDash val="solid"/>
          </a:ln>
        </p:spPr>
      </p:sp>
      <p:pic>
        <p:nvPicPr>
          <p:cNvPr id="4" name="Image 0" descr="/Users/martin/PyPlot/outputs/manual-20260520-mini-dma-deck-v3/presentations/mini-dma-colloquium/source_unzipped/ppt/media/image.png">    </p:cNvPr>
          <p:cNvPicPr>
            <a:picLocks noChangeAspect="1"/>
          </p:cNvPicPr>
          <p:nvPr/>
        </p:nvPicPr>
        <p:blipFill>
          <a:blip r:embed="rId1"/>
          <a:stretch>
            <a:fillRect/>
          </a:stretch>
        </p:blipFill>
        <p:spPr>
          <a:xfrm>
            <a:off x="6446520" y="45720"/>
            <a:ext cx="5696712" cy="6766560"/>
          </a:xfrm>
          <a:prstGeom prst="rect">
            <a:avLst/>
          </a:prstGeom>
        </p:spPr>
      </p:pic>
      <p:sp>
        <p:nvSpPr>
          <p:cNvPr id="5" name="Shape 2"/>
          <p:cNvSpPr/>
          <p:nvPr/>
        </p:nvSpPr>
        <p:spPr>
          <a:xfrm>
            <a:off x="5806440" y="0"/>
            <a:ext cx="960120" cy="6858000"/>
          </a:xfrm>
          <a:prstGeom prst="rect">
            <a:avLst/>
          </a:prstGeom>
          <a:solidFill>
            <a:srgbClr val="F7F9FC">
              <a:alpha val="92000"/>
            </a:srgbClr>
          </a:solidFill>
          <a:ln w="12700">
            <a:solidFill>
              <a:srgbClr val="333333">
                <a:alpha val="0"/>
              </a:srgbClr>
            </a:solidFill>
            <a:prstDash val="solid"/>
          </a:ln>
        </p:spPr>
      </p:sp>
      <p:sp>
        <p:nvSpPr>
          <p:cNvPr id="6" name="Text 3"/>
          <p:cNvSpPr/>
          <p:nvPr/>
        </p:nvSpPr>
        <p:spPr>
          <a:xfrm>
            <a:off x="658368" y="1444752"/>
            <a:ext cx="5074920" cy="1325880"/>
          </a:xfrm>
          <a:prstGeom prst="rect">
            <a:avLst/>
          </a:prstGeom>
          <a:noFill/>
          <a:ln/>
        </p:spPr>
        <p:txBody>
          <a:bodyPr wrap="square" lIns="0" tIns="0" rIns="0" bIns="0" rtlCol="0" anchor="ctr">
            <a:normAutofit/>
          </a:bodyPr>
          <a:lstStyle/>
          <a:p>
            <a:pPr indent="0" marL="0">
              <a:buNone/>
            </a:pPr>
            <a:r>
              <a:rPr lang="en-US" sz="3400" b="1" dirty="0">
                <a:solidFill>
                  <a:srgbClr val="151922"/>
                </a:solidFill>
                <a:latin typeface="Helvetica Neue" pitchFamily="34" charset="0"/>
                <a:ea typeface="Helvetica Neue" pitchFamily="34" charset="-122"/>
                <a:cs typeface="Helvetica Neue" pitchFamily="34" charset="-120"/>
              </a:rPr>
              <a:t>Mini DMA for</a:t>
            </a:r>
            <a:endParaRPr lang="en-US" sz="3400" dirty="0"/>
          </a:p>
          <a:p>
            <a:pPr indent="0" marL="0">
              <a:buNone/>
            </a:pPr>
            <a:r>
              <a:rPr lang="en-US" sz="3400" b="1" dirty="0">
                <a:solidFill>
                  <a:srgbClr val="151922"/>
                </a:solidFill>
                <a:latin typeface="Helvetica Neue" pitchFamily="34" charset="0"/>
                <a:ea typeface="Helvetica Neue" pitchFamily="34" charset="-122"/>
                <a:cs typeface="Helvetica Neue" pitchFamily="34" charset="-120"/>
              </a:rPr>
              <a:t>Microwire Screening</a:t>
            </a:r>
            <a:endParaRPr lang="en-US" sz="3400" dirty="0"/>
          </a:p>
        </p:txBody>
      </p:sp>
      <p:sp>
        <p:nvSpPr>
          <p:cNvPr id="7" name="Text 4"/>
          <p:cNvSpPr/>
          <p:nvPr/>
        </p:nvSpPr>
        <p:spPr>
          <a:xfrm>
            <a:off x="694944" y="2971800"/>
            <a:ext cx="4983480" cy="420624"/>
          </a:xfrm>
          <a:prstGeom prst="rect">
            <a:avLst/>
          </a:prstGeom>
          <a:noFill/>
          <a:ln/>
        </p:spPr>
        <p:txBody>
          <a:bodyPr wrap="square" lIns="0" tIns="0" rIns="0" bIns="0" rtlCol="0" anchor="ctr">
            <a:normAutofit/>
          </a:bodyPr>
          <a:lstStyle/>
          <a:p>
            <a:pPr indent="0" marL="0">
              <a:buNone/>
            </a:pPr>
            <a:r>
              <a:rPr lang="en-US" sz="1600" dirty="0">
                <a:solidFill>
                  <a:srgbClr val="2F3642"/>
                </a:solidFill>
              </a:rPr>
              <a:t>Fast iso-stress measurements before commercial DMA validation</a:t>
            </a:r>
            <a:endParaRPr lang="en-US" sz="1600" dirty="0"/>
          </a:p>
        </p:txBody>
      </p:sp>
      <p:sp>
        <p:nvSpPr>
          <p:cNvPr id="8" name="Shape 5"/>
          <p:cNvSpPr/>
          <p:nvPr/>
        </p:nvSpPr>
        <p:spPr>
          <a:xfrm>
            <a:off x="713232" y="3657600"/>
            <a:ext cx="3200400" cy="0"/>
          </a:xfrm>
          <a:prstGeom prst="line">
            <a:avLst/>
          </a:prstGeom>
          <a:noFill/>
          <a:ln w="30480">
            <a:solidFill>
              <a:srgbClr val="1F4E79"/>
            </a:solidFill>
            <a:prstDash val="solid"/>
          </a:ln>
        </p:spPr>
      </p:sp>
      <p:sp>
        <p:nvSpPr>
          <p:cNvPr id="9" name="Text 6"/>
          <p:cNvSpPr/>
          <p:nvPr/>
        </p:nvSpPr>
        <p:spPr>
          <a:xfrm>
            <a:off x="713232" y="3895344"/>
            <a:ext cx="3383280" cy="228600"/>
          </a:xfrm>
          <a:prstGeom prst="rect">
            <a:avLst/>
          </a:prstGeom>
          <a:noFill/>
          <a:ln/>
        </p:spPr>
        <p:txBody>
          <a:bodyPr wrap="square" lIns="0" tIns="0" rIns="0" bIns="0" rtlCol="0" anchor="ctr">
            <a:normAutofit/>
          </a:bodyPr>
          <a:lstStyle/>
          <a:p>
            <a:pPr indent="0" marL="0">
              <a:buNone/>
            </a:pPr>
            <a:r>
              <a:rPr lang="en-US" sz="1100" dirty="0">
                <a:solidFill>
                  <a:srgbClr val="687386"/>
                </a:solidFill>
              </a:rPr>
              <a:t>Martin Elias | 21 May 2026</a:t>
            </a:r>
            <a:endParaRPr lang="en-US" sz="11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The goal is better preparation, not one perfect plot</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31520" y="1737360"/>
            <a:ext cx="2423160" cy="868680"/>
          </a:xfrm>
          <a:prstGeom prst="rect">
            <a:avLst>
              <a:gd name="adj" fmla="val 5263"/>
            </a:avLst>
          </a:prstGeom>
          <a:solidFill>
            <a:srgbClr val="FFFFFF"/>
          </a:solidFill>
          <a:ln w="17780">
            <a:solidFill>
              <a:srgbClr val="1F4E79"/>
            </a:solidFill>
            <a:prstDash val="solid"/>
          </a:ln>
        </p:spPr>
      </p:sp>
      <p:sp>
        <p:nvSpPr>
          <p:cNvPr id="5" name="Text 3"/>
          <p:cNvSpPr/>
          <p:nvPr/>
        </p:nvSpPr>
        <p:spPr>
          <a:xfrm>
            <a:off x="89611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1F4E79"/>
                </a:solidFill>
                <a:latin typeface="Helvetica" pitchFamily="34" charset="0"/>
                <a:ea typeface="Helvetica" pitchFamily="34" charset="-122"/>
                <a:cs typeface="Helvetica" pitchFamily="34" charset="-120"/>
              </a:rPr>
              <a:t>Many samples</a:t>
            </a:r>
            <a:endParaRPr lang="en-US" sz="2200" dirty="0"/>
          </a:p>
        </p:txBody>
      </p:sp>
      <p:sp>
        <p:nvSpPr>
          <p:cNvPr id="6" name="Shape 4"/>
          <p:cNvSpPr/>
          <p:nvPr/>
        </p:nvSpPr>
        <p:spPr>
          <a:xfrm>
            <a:off x="4846320" y="1737360"/>
            <a:ext cx="2423160" cy="868680"/>
          </a:xfrm>
          <a:prstGeom prst="rect">
            <a:avLst>
              <a:gd name="adj" fmla="val 5263"/>
            </a:avLst>
          </a:prstGeom>
          <a:solidFill>
            <a:srgbClr val="FFFFFF"/>
          </a:solidFill>
          <a:ln w="17780">
            <a:solidFill>
              <a:srgbClr val="2F8F83"/>
            </a:solidFill>
            <a:prstDash val="solid"/>
          </a:ln>
        </p:spPr>
      </p:sp>
      <p:sp>
        <p:nvSpPr>
          <p:cNvPr id="7" name="Text 5"/>
          <p:cNvSpPr/>
          <p:nvPr/>
        </p:nvSpPr>
        <p:spPr>
          <a:xfrm>
            <a:off x="501091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2F8F83"/>
                </a:solidFill>
                <a:latin typeface="Helvetica" pitchFamily="34" charset="0"/>
                <a:ea typeface="Helvetica" pitchFamily="34" charset="-122"/>
                <a:cs typeface="Helvetica" pitchFamily="34" charset="-120"/>
              </a:rPr>
              <a:t>Fast feedback</a:t>
            </a:r>
            <a:endParaRPr lang="en-US" sz="2200" dirty="0"/>
          </a:p>
        </p:txBody>
      </p:sp>
      <p:sp>
        <p:nvSpPr>
          <p:cNvPr id="8" name="Shape 6"/>
          <p:cNvSpPr/>
          <p:nvPr/>
        </p:nvSpPr>
        <p:spPr>
          <a:xfrm>
            <a:off x="8915400" y="1737360"/>
            <a:ext cx="2423160" cy="868680"/>
          </a:xfrm>
          <a:prstGeom prst="rect">
            <a:avLst>
              <a:gd name="adj" fmla="val 5263"/>
            </a:avLst>
          </a:prstGeom>
          <a:solidFill>
            <a:srgbClr val="FFFFFF"/>
          </a:solidFill>
          <a:ln w="17780">
            <a:solidFill>
              <a:srgbClr val="F08B2D"/>
            </a:solidFill>
            <a:prstDash val="solid"/>
          </a:ln>
        </p:spPr>
      </p:sp>
      <p:sp>
        <p:nvSpPr>
          <p:cNvPr id="9" name="Text 7"/>
          <p:cNvSpPr/>
          <p:nvPr/>
        </p:nvSpPr>
        <p:spPr>
          <a:xfrm>
            <a:off x="907999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F08B2D"/>
                </a:solidFill>
                <a:latin typeface="Helvetica" pitchFamily="34" charset="0"/>
                <a:ea typeface="Helvetica" pitchFamily="34" charset="-122"/>
                <a:cs typeface="Helvetica" pitchFamily="34" charset="-120"/>
              </a:rPr>
              <a:t>Selected validation</a:t>
            </a:r>
            <a:endParaRPr lang="en-US" sz="2200" dirty="0"/>
          </a:p>
        </p:txBody>
      </p:sp>
      <p:sp>
        <p:nvSpPr>
          <p:cNvPr id="10" name="Shape 8"/>
          <p:cNvSpPr/>
          <p:nvPr/>
        </p:nvSpPr>
        <p:spPr>
          <a:xfrm>
            <a:off x="3383280" y="2176272"/>
            <a:ext cx="1143000" cy="0"/>
          </a:xfrm>
          <a:prstGeom prst="line">
            <a:avLst/>
          </a:prstGeom>
          <a:noFill/>
          <a:ln w="25400">
            <a:solidFill>
              <a:srgbClr val="D9DEE8"/>
            </a:solidFill>
            <a:prstDash val="solid"/>
            <a:headEnd type="none"/>
            <a:tailEnd type="triangle"/>
          </a:ln>
        </p:spPr>
      </p:sp>
      <p:sp>
        <p:nvSpPr>
          <p:cNvPr id="11" name="Shape 9"/>
          <p:cNvSpPr/>
          <p:nvPr/>
        </p:nvSpPr>
        <p:spPr>
          <a:xfrm>
            <a:off x="7498080" y="2176272"/>
            <a:ext cx="1143000" cy="0"/>
          </a:xfrm>
          <a:prstGeom prst="line">
            <a:avLst/>
          </a:prstGeom>
          <a:noFill/>
          <a:ln w="25400">
            <a:solidFill>
              <a:srgbClr val="D9DEE8"/>
            </a:solidFill>
            <a:prstDash val="solid"/>
            <a:headEnd type="none"/>
            <a:tailEnd type="triangle"/>
          </a:ln>
        </p:spPr>
      </p:sp>
      <p:sp>
        <p:nvSpPr>
          <p:cNvPr id="12" name="Text 10"/>
          <p:cNvSpPr/>
          <p:nvPr/>
        </p:nvSpPr>
        <p:spPr>
          <a:xfrm>
            <a:off x="1005840" y="3730752"/>
            <a:ext cx="10149840" cy="1325880"/>
          </a:xfrm>
          <a:prstGeom prst="rect">
            <a:avLst/>
          </a:prstGeom>
          <a:noFill/>
          <a:ln/>
        </p:spPr>
        <p:txBody>
          <a:bodyPr wrap="square" lIns="635" tIns="635" rIns="635" bIns="635" rtlCol="0" anchor="ctr">
            <a:normAutofit/>
          </a:bodyPr>
          <a:lstStyle/>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Microwire properties depend on preparation choices.</a:t>
            </a:r>
            <a:endParaRPr lang="en-US" sz="2200" dirty="0"/>
          </a:p>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Screening has to be fast enough to guide the next batch.</a:t>
            </a:r>
            <a:endParaRPr lang="en-US" sz="2200" dirty="0"/>
          </a:p>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Commercial DMA remains the reference step, but not the first step.</a:t>
            </a:r>
            <a:endParaRPr lang="en-US" sz="2200" dirty="0"/>
          </a:p>
        </p:txBody>
      </p:sp>
      <p:sp>
        <p:nvSpPr>
          <p:cNvPr id="13" name="Text 11"/>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EDA already links preparation to measured response</a:t>
            </a:r>
            <a:endParaRPr lang="en-US" sz="2500" dirty="0"/>
          </a:p>
        </p:txBody>
      </p:sp>
      <p:sp>
        <p:nvSpPr>
          <p:cNvPr id="3" name="Text 1"/>
          <p:cNvSpPr/>
          <p:nvPr/>
        </p:nvSpPr>
        <p:spPr>
          <a:xfrm>
            <a:off x="585216" y="804672"/>
            <a:ext cx="8138160" cy="237744"/>
          </a:xfrm>
          <a:prstGeom prst="rect">
            <a:avLst/>
          </a:prstGeom>
          <a:noFill/>
          <a:ln/>
        </p:spPr>
        <p:txBody>
          <a:bodyPr wrap="square" lIns="0" tIns="0" rIns="0" bIns="0" rtlCol="0" anchor="ctr">
            <a:normAutofit/>
          </a:bodyPr>
          <a:lstStyle/>
          <a:p>
            <a:pPr indent="0" marL="0">
              <a:buNone/>
            </a:pPr>
            <a:r>
              <a:rPr lang="en-US" sz="1050" dirty="0">
                <a:solidFill>
                  <a:srgbClr val="687386"/>
                </a:solidFill>
                <a:latin typeface="Helvetica" pitchFamily="34" charset="0"/>
                <a:ea typeface="Helvetica" pitchFamily="34" charset="-122"/>
                <a:cs typeface="Helvetica" pitchFamily="34" charset="-120"/>
              </a:rPr>
              <a:t>Microwire EDA result from the manual dataset</a:t>
            </a:r>
            <a:endParaRPr lang="en-US" sz="1050" dirty="0"/>
          </a:p>
        </p:txBody>
      </p:sp>
      <p:sp>
        <p:nvSpPr>
          <p:cNvPr id="4" name="Shape 2"/>
          <p:cNvSpPr/>
          <p:nvPr/>
        </p:nvSpPr>
        <p:spPr>
          <a:xfrm>
            <a:off x="585216" y="1078992"/>
            <a:ext cx="11018520" cy="0"/>
          </a:xfrm>
          <a:prstGeom prst="line">
            <a:avLst/>
          </a:prstGeom>
          <a:noFill/>
          <a:ln w="12700">
            <a:solidFill>
              <a:srgbClr val="D9DEE8"/>
            </a:solidFill>
            <a:prstDash val="solid"/>
          </a:ln>
        </p:spPr>
      </p:sp>
      <p:sp>
        <p:nvSpPr>
          <p:cNvPr id="5" name="Shape 3"/>
          <p:cNvSpPr/>
          <p:nvPr/>
        </p:nvSpPr>
        <p:spPr>
          <a:xfrm>
            <a:off x="868680" y="1298448"/>
            <a:ext cx="6812280" cy="4800600"/>
          </a:xfrm>
          <a:prstGeom prst="rect">
            <a:avLst/>
          </a:prstGeom>
          <a:solidFill>
            <a:srgbClr val="FFFFFF"/>
          </a:solidFill>
          <a:ln w="12700">
            <a:solidFill>
              <a:srgbClr val="D9DEE8"/>
            </a:solidFill>
            <a:prstDash val="solid"/>
          </a:ln>
        </p:spPr>
      </p:sp>
      <p:pic>
        <p:nvPicPr>
          <p:cNvPr id="6" name="Image 0" descr="/Users/martin/PyPlot/artifacts/microwire_eda_manual/output/Praha-Manual-EDA/figures/process_strain_correlation.png">    </p:cNvPr>
          <p:cNvPicPr>
            <a:picLocks noChangeAspect="1"/>
          </p:cNvPicPr>
          <p:nvPr/>
        </p:nvPicPr>
        <p:blipFill>
          <a:blip r:embed="rId1"/>
          <a:stretch>
            <a:fillRect/>
          </a:stretch>
        </p:blipFill>
        <p:spPr>
          <a:xfrm>
            <a:off x="914400" y="1344168"/>
            <a:ext cx="6720840" cy="4709160"/>
          </a:xfrm>
          <a:prstGeom prst="rect">
            <a:avLst/>
          </a:prstGeom>
        </p:spPr>
      </p:pic>
      <p:sp>
        <p:nvSpPr>
          <p:cNvPr id="7" name="Text 4"/>
          <p:cNvSpPr/>
          <p:nvPr/>
        </p:nvSpPr>
        <p:spPr>
          <a:xfrm>
            <a:off x="960120" y="5806440"/>
            <a:ext cx="66294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Existing Microwire EDA output</a:t>
            </a:r>
            <a:endParaRPr lang="en-US" sz="850" dirty="0"/>
          </a:p>
        </p:txBody>
      </p:sp>
      <p:sp>
        <p:nvSpPr>
          <p:cNvPr id="8" name="Text 5"/>
          <p:cNvSpPr/>
          <p:nvPr/>
        </p:nvSpPr>
        <p:spPr>
          <a:xfrm>
            <a:off x="7909560" y="1536192"/>
            <a:ext cx="3520440" cy="4297680"/>
          </a:xfrm>
          <a:prstGeom prst="rect">
            <a:avLst/>
          </a:prstGeom>
          <a:noFill/>
          <a:ln/>
        </p:spPr>
        <p:txBody>
          <a:bodyPr wrap="square" lIns="635" tIns="635" rIns="635" bIns="635" rtlCol="0" anchor="ctr">
            <a:normAutofit/>
          </a:bodyPr>
          <a:lstStyle/>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The analysis is already looking for process variables that correlate with strain.</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Mini DMA adds faster experimental outputs to the same correlation problem.</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The practical question is: which preparation choices deserve more work?</a:t>
            </a:r>
            <a:endParaRPr lang="en-US" sz="1900" dirty="0"/>
          </a:p>
        </p:txBody>
      </p:sp>
      <p:sp>
        <p:nvSpPr>
          <p:cNvPr id="9" name="Text 6"/>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Manual stress-strain measurements were useful but slow</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13232" y="1243584"/>
            <a:ext cx="6720840" cy="480060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assets/manual_stress_strain_87ma.png">    </p:cNvPr>
          <p:cNvPicPr>
            <a:picLocks noChangeAspect="1"/>
          </p:cNvPicPr>
          <p:nvPr/>
        </p:nvPicPr>
        <p:blipFill>
          <a:blip r:embed="rId1"/>
          <a:stretch>
            <a:fillRect/>
          </a:stretch>
        </p:blipFill>
        <p:spPr>
          <a:xfrm>
            <a:off x="758952" y="1289304"/>
            <a:ext cx="6629400" cy="4709160"/>
          </a:xfrm>
          <a:prstGeom prst="rect">
            <a:avLst/>
          </a:prstGeom>
        </p:spPr>
      </p:pic>
      <p:sp>
        <p:nvSpPr>
          <p:cNvPr id="6" name="Text 3"/>
          <p:cNvSpPr/>
          <p:nvPr/>
        </p:nvSpPr>
        <p:spPr>
          <a:xfrm>
            <a:off x="804672" y="5751576"/>
            <a:ext cx="65379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Manual stress-strain sample: 87 mA</a:t>
            </a:r>
            <a:endParaRPr lang="en-US" sz="850" dirty="0"/>
          </a:p>
        </p:txBody>
      </p:sp>
      <p:sp>
        <p:nvSpPr>
          <p:cNvPr id="7" name="Shape 4"/>
          <p:cNvSpPr/>
          <p:nvPr/>
        </p:nvSpPr>
        <p:spPr>
          <a:xfrm>
            <a:off x="7909560" y="1481328"/>
            <a:ext cx="2880360" cy="960120"/>
          </a:xfrm>
          <a:prstGeom prst="rect">
            <a:avLst>
              <a:gd name="adj" fmla="val 4762"/>
            </a:avLst>
          </a:prstGeom>
          <a:solidFill>
            <a:srgbClr val="FFFFFF"/>
          </a:solidFill>
          <a:ln w="17780">
            <a:solidFill>
              <a:srgbClr val="D94F4F"/>
            </a:solidFill>
            <a:prstDash val="solid"/>
          </a:ln>
        </p:spPr>
      </p:sp>
      <p:sp>
        <p:nvSpPr>
          <p:cNvPr id="8" name="Text 5"/>
          <p:cNvSpPr/>
          <p:nvPr/>
        </p:nvSpPr>
        <p:spPr>
          <a:xfrm>
            <a:off x="8074152" y="1609344"/>
            <a:ext cx="2551176" cy="731520"/>
          </a:xfrm>
          <a:prstGeom prst="rect">
            <a:avLst/>
          </a:prstGeom>
          <a:noFill/>
          <a:ln/>
        </p:spPr>
        <p:txBody>
          <a:bodyPr wrap="square" lIns="381" tIns="381" rIns="381" bIns="381" rtlCol="0" anchor="ctr">
            <a:normAutofit/>
          </a:bodyPr>
          <a:lstStyle/>
          <a:p>
            <a:pPr algn="ctr" indent="0" marL="0">
              <a:buNone/>
            </a:pPr>
            <a:r>
              <a:rPr lang="en-US" sz="2000" b="1" dirty="0">
                <a:solidFill>
                  <a:srgbClr val="D94F4F"/>
                </a:solidFill>
                <a:latin typeface="Helvetica" pitchFamily="34" charset="0"/>
                <a:ea typeface="Helvetica" pitchFamily="34" charset="-122"/>
                <a:cs typeface="Helvetica" pitchFamily="34" charset="-120"/>
              </a:rPr>
              <a:t>One current value</a:t>
            </a:r>
            <a:endParaRPr lang="en-US" sz="2000" dirty="0"/>
          </a:p>
          <a:p>
            <a:pPr algn="ctr" indent="0" marL="0">
              <a:buNone/>
            </a:pPr>
            <a:r>
              <a:rPr lang="en-US" sz="2000" b="1" dirty="0">
                <a:solidFill>
                  <a:srgbClr val="D94F4F"/>
                </a:solidFill>
                <a:latin typeface="Helvetica" pitchFamily="34" charset="0"/>
                <a:ea typeface="Helvetica" pitchFamily="34" charset="-122"/>
                <a:cs typeface="Helvetica" pitchFamily="34" charset="-120"/>
              </a:rPr>
              <a:t>could take ~30 min</a:t>
            </a:r>
            <a:endParaRPr lang="en-US" sz="2000" dirty="0"/>
          </a:p>
        </p:txBody>
      </p:sp>
      <p:sp>
        <p:nvSpPr>
          <p:cNvPr id="9" name="Text 6"/>
          <p:cNvSpPr/>
          <p:nvPr/>
        </p:nvSpPr>
        <p:spPr>
          <a:xfrm>
            <a:off x="7726680" y="2852928"/>
            <a:ext cx="3657600" cy="2423160"/>
          </a:xfrm>
          <a:prstGeom prst="rect">
            <a:avLst/>
          </a:prstGeom>
          <a:noFill/>
          <a:ln/>
        </p:spPr>
        <p:txBody>
          <a:bodyPr wrap="square" lIns="635" tIns="635" rIns="635" bIns="635" rtlCol="0" anchor="ctr">
            <a:normAutofit/>
          </a:bodyPr>
          <a:lstStyle/>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Each point required manual adjustment and waiting.</a:t>
            </a:r>
            <a:endParaRPr lang="en-US" sz="1800" dirty="0"/>
          </a:p>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The result is a snapshot at one current, not a controlled transformation scan.</a:t>
            </a:r>
            <a:endParaRPr lang="en-US" sz="1800" dirty="0"/>
          </a:p>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It is hard to repeat this enough times for screening.</a:t>
            </a:r>
            <a:endParaRPr lang="en-US" sz="18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Iso-stress sweeps match the question better</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353312"/>
            <a:ext cx="4892040" cy="4206240"/>
          </a:xfrm>
          <a:prstGeom prst="rect">
            <a:avLst/>
          </a:prstGeom>
          <a:solidFill>
            <a:srgbClr val="F6F8FB"/>
          </a:solidFill>
          <a:ln w="12700">
            <a:solidFill>
              <a:srgbClr val="D9DEE8"/>
            </a:solidFill>
            <a:prstDash val="solid"/>
          </a:ln>
        </p:spPr>
      </p:sp>
      <p:sp>
        <p:nvSpPr>
          <p:cNvPr id="5" name="Text 3"/>
          <p:cNvSpPr/>
          <p:nvPr/>
        </p:nvSpPr>
        <p:spPr>
          <a:xfrm>
            <a:off x="1060704" y="1664208"/>
            <a:ext cx="4114800" cy="320040"/>
          </a:xfrm>
          <a:prstGeom prst="rect">
            <a:avLst/>
          </a:prstGeom>
          <a:noFill/>
          <a:ln/>
        </p:spPr>
        <p:txBody>
          <a:bodyPr wrap="square" lIns="0" tIns="0" rIns="0" bIns="0" rtlCol="0" anchor="ctr"/>
          <a:lstStyle/>
          <a:p>
            <a:pPr indent="0" marL="0">
              <a:buNone/>
            </a:pPr>
            <a:r>
              <a:rPr lang="en-US" sz="2100" b="1" dirty="0">
                <a:solidFill>
                  <a:srgbClr val="151922"/>
                </a:solidFill>
              </a:rPr>
              <a:t>Manual stress-strain</a:t>
            </a:r>
            <a:endParaRPr lang="en-US" sz="2100" dirty="0"/>
          </a:p>
        </p:txBody>
      </p:sp>
      <p:sp>
        <p:nvSpPr>
          <p:cNvPr id="6" name="Text 4"/>
          <p:cNvSpPr/>
          <p:nvPr/>
        </p:nvSpPr>
        <p:spPr>
          <a:xfrm>
            <a:off x="1078992" y="2331720"/>
            <a:ext cx="3977640" cy="2240280"/>
          </a:xfrm>
          <a:prstGeom prst="rect">
            <a:avLst/>
          </a:prstGeom>
          <a:noFill/>
          <a:ln/>
        </p:spPr>
        <p:txBody>
          <a:bodyPr wrap="square" lIns="635" tIns="635" rIns="635" bIns="635" rtlCol="0" anchor="ctr">
            <a:normAutofit/>
          </a:bodyPr>
          <a:lstStyle/>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Set one current</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Change displacement manually</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Get one stress-strain loop</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Repeat slowly for another current</a:t>
            </a:r>
            <a:endParaRPr lang="en-US" sz="1900" dirty="0"/>
          </a:p>
        </p:txBody>
      </p:sp>
      <p:sp>
        <p:nvSpPr>
          <p:cNvPr id="7" name="Shape 5"/>
          <p:cNvSpPr/>
          <p:nvPr/>
        </p:nvSpPr>
        <p:spPr>
          <a:xfrm>
            <a:off x="6537960" y="1353312"/>
            <a:ext cx="4892040" cy="4206240"/>
          </a:xfrm>
          <a:prstGeom prst="rect">
            <a:avLst/>
          </a:prstGeom>
          <a:solidFill>
            <a:srgbClr val="F3FAF8"/>
          </a:solidFill>
          <a:ln w="12700">
            <a:solidFill>
              <a:srgbClr val="B6DCD4"/>
            </a:solidFill>
            <a:prstDash val="solid"/>
          </a:ln>
        </p:spPr>
      </p:sp>
      <p:sp>
        <p:nvSpPr>
          <p:cNvPr id="8" name="Text 6"/>
          <p:cNvSpPr/>
          <p:nvPr/>
        </p:nvSpPr>
        <p:spPr>
          <a:xfrm>
            <a:off x="6858000" y="1664208"/>
            <a:ext cx="4251960" cy="320040"/>
          </a:xfrm>
          <a:prstGeom prst="rect">
            <a:avLst/>
          </a:prstGeom>
          <a:noFill/>
          <a:ln/>
        </p:spPr>
        <p:txBody>
          <a:bodyPr wrap="square" lIns="0" tIns="0" rIns="0" bIns="0" rtlCol="0" anchor="ctr"/>
          <a:lstStyle/>
          <a:p>
            <a:pPr indent="0" marL="0">
              <a:buNone/>
            </a:pPr>
            <a:r>
              <a:rPr lang="en-US" sz="2100" b="1" dirty="0">
                <a:solidFill>
                  <a:srgbClr val="151922"/>
                </a:solidFill>
              </a:rPr>
              <a:t>Mini DMA iso-stress sweep</a:t>
            </a:r>
            <a:endParaRPr lang="en-US" sz="2100" dirty="0"/>
          </a:p>
        </p:txBody>
      </p:sp>
      <p:sp>
        <p:nvSpPr>
          <p:cNvPr id="9" name="Text 7"/>
          <p:cNvSpPr/>
          <p:nvPr/>
        </p:nvSpPr>
        <p:spPr>
          <a:xfrm>
            <a:off x="6876288" y="2331720"/>
            <a:ext cx="3977640" cy="2240280"/>
          </a:xfrm>
          <a:prstGeom prst="rect">
            <a:avLst/>
          </a:prstGeom>
          <a:noFill/>
          <a:ln/>
        </p:spPr>
        <p:txBody>
          <a:bodyPr wrap="square" lIns="635" tIns="635" rIns="635" bIns="635" rtlCol="0" anchor="ctr">
            <a:normAutofit/>
          </a:bodyPr>
          <a:lstStyle/>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Set target stress</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Increase current continuously</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Let motor hold stress constant</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Read strain from motor displacement</a:t>
            </a:r>
            <a:endParaRPr lang="en-US" sz="1900" dirty="0"/>
          </a:p>
        </p:txBody>
      </p:sp>
      <p:sp>
        <p:nvSpPr>
          <p:cNvPr id="10" name="Text 8"/>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Commercial DMA is the precise reference measurement</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77240" y="1234440"/>
            <a:ext cx="6766560" cy="480060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2.png">    </p:cNvPr>
          <p:cNvPicPr>
            <a:picLocks noChangeAspect="1"/>
          </p:cNvPicPr>
          <p:nvPr/>
        </p:nvPicPr>
        <p:blipFill>
          <a:blip r:embed="rId1"/>
          <a:stretch>
            <a:fillRect/>
          </a:stretch>
        </p:blipFill>
        <p:spPr>
          <a:xfrm>
            <a:off x="822960" y="1280160"/>
            <a:ext cx="6675120" cy="4709160"/>
          </a:xfrm>
          <a:prstGeom prst="rect">
            <a:avLst/>
          </a:prstGeom>
        </p:spPr>
      </p:pic>
      <p:sp>
        <p:nvSpPr>
          <p:cNvPr id="6" name="Text 3"/>
          <p:cNvSpPr/>
          <p:nvPr/>
        </p:nvSpPr>
        <p:spPr>
          <a:xfrm>
            <a:off x="868680" y="5742432"/>
            <a:ext cx="658368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Commercial DMA graph from previous measurements</a:t>
            </a:r>
            <a:endParaRPr lang="en-US" sz="850" dirty="0"/>
          </a:p>
        </p:txBody>
      </p:sp>
      <p:sp>
        <p:nvSpPr>
          <p:cNvPr id="7" name="Text 4"/>
          <p:cNvSpPr/>
          <p:nvPr/>
        </p:nvSpPr>
        <p:spPr>
          <a:xfrm>
            <a:off x="7818120" y="1572768"/>
            <a:ext cx="3611880" cy="3383280"/>
          </a:xfrm>
          <a:prstGeom prst="rect">
            <a:avLst/>
          </a:prstGeom>
          <a:noFill/>
          <a:ln/>
        </p:spPr>
        <p:txBody>
          <a:bodyPr wrap="square" lIns="635" tIns="635" rIns="635" bIns="635" rtlCol="0" anchor="ctr">
            <a:normAutofit/>
          </a:bodyPr>
          <a:lstStyle/>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High precision and established method.</a:t>
            </a:r>
            <a:endParaRPr lang="en-US" sz="1950" dirty="0"/>
          </a:p>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Good for selected samples and final validation.</a:t>
            </a:r>
            <a:endParaRPr lang="en-US" sz="1950" dirty="0"/>
          </a:p>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Too slow and expensive to be the first screen for every preparation variant.</a:t>
            </a:r>
            <a:endParaRPr lang="en-US" sz="1950" dirty="0"/>
          </a:p>
        </p:txBody>
      </p:sp>
      <p:sp>
        <p:nvSpPr>
          <p:cNvPr id="8" name="Text 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Use Mini DMA before commercial DMA</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914400" y="1572768"/>
            <a:ext cx="2514600" cy="1005840"/>
          </a:xfrm>
          <a:prstGeom prst="rect">
            <a:avLst>
              <a:gd name="adj" fmla="val 4545"/>
            </a:avLst>
          </a:prstGeom>
          <a:solidFill>
            <a:srgbClr val="FFFFFF"/>
          </a:solidFill>
          <a:ln w="17780">
            <a:solidFill>
              <a:srgbClr val="1F4E79"/>
            </a:solidFill>
            <a:prstDash val="solid"/>
          </a:ln>
        </p:spPr>
      </p:sp>
      <p:sp>
        <p:nvSpPr>
          <p:cNvPr id="5" name="Text 3"/>
          <p:cNvSpPr/>
          <p:nvPr/>
        </p:nvSpPr>
        <p:spPr>
          <a:xfrm>
            <a:off x="10789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1F4E79"/>
                </a:solidFill>
                <a:latin typeface="Helvetica" pitchFamily="34" charset="0"/>
                <a:ea typeface="Helvetica" pitchFamily="34" charset="-122"/>
                <a:cs typeface="Helvetica" pitchFamily="34" charset="-120"/>
              </a:rPr>
              <a:t>Mini DMA</a:t>
            </a:r>
            <a:endParaRPr lang="en-US" sz="2200" dirty="0"/>
          </a:p>
          <a:p>
            <a:pPr algn="ctr" indent="0" marL="0">
              <a:buNone/>
            </a:pPr>
            <a:r>
              <a:rPr lang="en-US" sz="2200" b="1" dirty="0">
                <a:solidFill>
                  <a:srgbClr val="1F4E79"/>
                </a:solidFill>
                <a:latin typeface="Helvetica" pitchFamily="34" charset="0"/>
                <a:ea typeface="Helvetica" pitchFamily="34" charset="-122"/>
                <a:cs typeface="Helvetica" pitchFamily="34" charset="-120"/>
              </a:rPr>
              <a:t>screening</a:t>
            </a:r>
            <a:endParaRPr lang="en-US" sz="2200" dirty="0"/>
          </a:p>
        </p:txBody>
      </p:sp>
      <p:sp>
        <p:nvSpPr>
          <p:cNvPr id="6" name="Shape 4"/>
          <p:cNvSpPr/>
          <p:nvPr/>
        </p:nvSpPr>
        <p:spPr>
          <a:xfrm>
            <a:off x="4800600" y="1572768"/>
            <a:ext cx="2514600" cy="1005840"/>
          </a:xfrm>
          <a:prstGeom prst="rect">
            <a:avLst>
              <a:gd name="adj" fmla="val 4545"/>
            </a:avLst>
          </a:prstGeom>
          <a:solidFill>
            <a:srgbClr val="FFFFFF"/>
          </a:solidFill>
          <a:ln w="17780">
            <a:solidFill>
              <a:srgbClr val="2F8F83"/>
            </a:solidFill>
            <a:prstDash val="solid"/>
          </a:ln>
        </p:spPr>
      </p:sp>
      <p:sp>
        <p:nvSpPr>
          <p:cNvPr id="7" name="Text 5"/>
          <p:cNvSpPr/>
          <p:nvPr/>
        </p:nvSpPr>
        <p:spPr>
          <a:xfrm>
            <a:off x="49651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2F8F83"/>
                </a:solidFill>
                <a:latin typeface="Helvetica" pitchFamily="34" charset="0"/>
                <a:ea typeface="Helvetica" pitchFamily="34" charset="-122"/>
                <a:cs typeface="Helvetica" pitchFamily="34" charset="-120"/>
              </a:rPr>
              <a:t>Keep only</a:t>
            </a:r>
            <a:endParaRPr lang="en-US" sz="2200" dirty="0"/>
          </a:p>
          <a:p>
            <a:pPr algn="ctr" indent="0" marL="0">
              <a:buNone/>
            </a:pPr>
            <a:r>
              <a:rPr lang="en-US" sz="2200" b="1" dirty="0">
                <a:solidFill>
                  <a:srgbClr val="2F8F83"/>
                </a:solidFill>
                <a:latin typeface="Helvetica" pitchFamily="34" charset="0"/>
                <a:ea typeface="Helvetica" pitchFamily="34" charset="-122"/>
                <a:cs typeface="Helvetica" pitchFamily="34" charset="-120"/>
              </a:rPr>
              <a:t>promising wires</a:t>
            </a:r>
            <a:endParaRPr lang="en-US" sz="2200" dirty="0"/>
          </a:p>
        </p:txBody>
      </p:sp>
      <p:sp>
        <p:nvSpPr>
          <p:cNvPr id="8" name="Shape 6"/>
          <p:cNvSpPr/>
          <p:nvPr/>
        </p:nvSpPr>
        <p:spPr>
          <a:xfrm>
            <a:off x="8686800" y="1572768"/>
            <a:ext cx="2514600" cy="1005840"/>
          </a:xfrm>
          <a:prstGeom prst="rect">
            <a:avLst>
              <a:gd name="adj" fmla="val 4545"/>
            </a:avLst>
          </a:prstGeom>
          <a:solidFill>
            <a:srgbClr val="FFFFFF"/>
          </a:solidFill>
          <a:ln w="17780">
            <a:solidFill>
              <a:srgbClr val="F08B2D"/>
            </a:solidFill>
            <a:prstDash val="solid"/>
          </a:ln>
        </p:spPr>
      </p:sp>
      <p:sp>
        <p:nvSpPr>
          <p:cNvPr id="9" name="Text 7"/>
          <p:cNvSpPr/>
          <p:nvPr/>
        </p:nvSpPr>
        <p:spPr>
          <a:xfrm>
            <a:off x="88513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F08B2D"/>
                </a:solidFill>
                <a:latin typeface="Helvetica" pitchFamily="34" charset="0"/>
                <a:ea typeface="Helvetica" pitchFamily="34" charset="-122"/>
                <a:cs typeface="Helvetica" pitchFamily="34" charset="-120"/>
              </a:rPr>
              <a:t>DMA</a:t>
            </a:r>
            <a:endParaRPr lang="en-US" sz="2200" dirty="0"/>
          </a:p>
          <a:p>
            <a:pPr algn="ctr" indent="0" marL="0">
              <a:buNone/>
            </a:pPr>
            <a:r>
              <a:rPr lang="en-US" sz="2200" b="1" dirty="0">
                <a:solidFill>
                  <a:srgbClr val="F08B2D"/>
                </a:solidFill>
                <a:latin typeface="Helvetica" pitchFamily="34" charset="0"/>
                <a:ea typeface="Helvetica" pitchFamily="34" charset="-122"/>
                <a:cs typeface="Helvetica" pitchFamily="34" charset="-120"/>
              </a:rPr>
              <a:t>validation</a:t>
            </a:r>
            <a:endParaRPr lang="en-US" sz="2200" dirty="0"/>
          </a:p>
        </p:txBody>
      </p:sp>
      <p:sp>
        <p:nvSpPr>
          <p:cNvPr id="10" name="Shape 8"/>
          <p:cNvSpPr/>
          <p:nvPr/>
        </p:nvSpPr>
        <p:spPr>
          <a:xfrm>
            <a:off x="3703320" y="2084832"/>
            <a:ext cx="822960" cy="0"/>
          </a:xfrm>
          <a:prstGeom prst="line">
            <a:avLst/>
          </a:prstGeom>
          <a:noFill/>
          <a:ln w="26670">
            <a:solidFill>
              <a:srgbClr val="D9DEE8"/>
            </a:solidFill>
            <a:prstDash val="solid"/>
            <a:tailEnd type="triangle"/>
          </a:ln>
        </p:spPr>
      </p:sp>
      <p:sp>
        <p:nvSpPr>
          <p:cNvPr id="11" name="Shape 9"/>
          <p:cNvSpPr/>
          <p:nvPr/>
        </p:nvSpPr>
        <p:spPr>
          <a:xfrm>
            <a:off x="7589520" y="2084832"/>
            <a:ext cx="822960" cy="0"/>
          </a:xfrm>
          <a:prstGeom prst="line">
            <a:avLst/>
          </a:prstGeom>
          <a:noFill/>
          <a:ln w="26670">
            <a:solidFill>
              <a:srgbClr val="D9DEE8"/>
            </a:solidFill>
            <a:prstDash val="solid"/>
            <a:tailEnd type="triangle"/>
          </a:ln>
        </p:spPr>
      </p:sp>
      <p:sp>
        <p:nvSpPr>
          <p:cNvPr id="12" name="Shape 10"/>
          <p:cNvSpPr/>
          <p:nvPr/>
        </p:nvSpPr>
        <p:spPr>
          <a:xfrm>
            <a:off x="914400" y="3090672"/>
            <a:ext cx="2971800" cy="2240280"/>
          </a:xfrm>
          <a:prstGeom prst="rect">
            <a:avLst/>
          </a:prstGeom>
          <a:solidFill>
            <a:srgbClr val="FFFFFF"/>
          </a:solidFill>
          <a:ln w="12700">
            <a:solidFill>
              <a:srgbClr val="D9DEE8"/>
            </a:solidFill>
            <a:prstDash val="solid"/>
          </a:ln>
        </p:spPr>
      </p:sp>
      <p:pic>
        <p:nvPicPr>
          <p:cNvPr id="13" name="Image 0" descr="/Users/martin/PyPlot/outputs/manual-20260520-mini-dma-deck-v3/presentations/mini-dma-colloquium/source_unzipped/ppt/media/image.png">    </p:cNvPr>
          <p:cNvPicPr>
            <a:picLocks noChangeAspect="1"/>
          </p:cNvPicPr>
          <p:nvPr/>
        </p:nvPicPr>
        <p:blipFill>
          <a:blip r:embed="rId1"/>
          <a:stretch>
            <a:fillRect/>
          </a:stretch>
        </p:blipFill>
        <p:spPr>
          <a:xfrm>
            <a:off x="960120" y="3136392"/>
            <a:ext cx="2880360" cy="2148840"/>
          </a:xfrm>
          <a:prstGeom prst="rect">
            <a:avLst/>
          </a:prstGeom>
        </p:spPr>
      </p:pic>
      <p:sp>
        <p:nvSpPr>
          <p:cNvPr id="14" name="Text 11"/>
          <p:cNvSpPr/>
          <p:nvPr/>
        </p:nvSpPr>
        <p:spPr>
          <a:xfrm>
            <a:off x="1005840" y="5038344"/>
            <a:ext cx="27889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Mini DMA setup</a:t>
            </a:r>
            <a:endParaRPr lang="en-US" sz="850" dirty="0"/>
          </a:p>
        </p:txBody>
      </p:sp>
      <p:sp>
        <p:nvSpPr>
          <p:cNvPr id="15" name="Shape 12"/>
          <p:cNvSpPr/>
          <p:nvPr/>
        </p:nvSpPr>
        <p:spPr>
          <a:xfrm>
            <a:off x="8275320" y="3090672"/>
            <a:ext cx="2971800" cy="2240280"/>
          </a:xfrm>
          <a:prstGeom prst="rect">
            <a:avLst/>
          </a:prstGeom>
          <a:solidFill>
            <a:srgbClr val="FFFFFF"/>
          </a:solidFill>
          <a:ln w="12700">
            <a:solidFill>
              <a:srgbClr val="D9DEE8"/>
            </a:solidFill>
            <a:prstDash val="solid"/>
          </a:ln>
        </p:spPr>
      </p:sp>
      <p:pic>
        <p:nvPicPr>
          <p:cNvPr id="16" name="Image 1" descr="/Users/martin/PyPlot/outputs/manual-20260520-mini-dma-deck-v3/presentations/mini-dma-colloquium/source_unzipped/ppt/media/image2.png">    </p:cNvPr>
          <p:cNvPicPr>
            <a:picLocks noChangeAspect="1"/>
          </p:cNvPicPr>
          <p:nvPr/>
        </p:nvPicPr>
        <p:blipFill>
          <a:blip r:embed="rId2"/>
          <a:stretch>
            <a:fillRect/>
          </a:stretch>
        </p:blipFill>
        <p:spPr>
          <a:xfrm>
            <a:off x="8321040" y="3136392"/>
            <a:ext cx="2880360" cy="2148840"/>
          </a:xfrm>
          <a:prstGeom prst="rect">
            <a:avLst/>
          </a:prstGeom>
        </p:spPr>
      </p:pic>
      <p:sp>
        <p:nvSpPr>
          <p:cNvPr id="17" name="Text 13"/>
          <p:cNvSpPr/>
          <p:nvPr/>
        </p:nvSpPr>
        <p:spPr>
          <a:xfrm>
            <a:off x="8366760" y="5038344"/>
            <a:ext cx="27889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DMA result</a:t>
            </a:r>
            <a:endParaRPr lang="en-US" sz="850" dirty="0"/>
          </a:p>
        </p:txBody>
      </p:sp>
      <p:sp>
        <p:nvSpPr>
          <p:cNvPr id="18" name="Text 14"/>
          <p:cNvSpPr/>
          <p:nvPr/>
        </p:nvSpPr>
        <p:spPr>
          <a:xfrm>
            <a:off x="4251960" y="3227832"/>
            <a:ext cx="3611880" cy="187452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Mini DMA is a decision tool: it helps decide what is worth measuring carefully.</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That turns the slow reference method into a validation step, not a bottleneck.</a:t>
            </a:r>
            <a:endParaRPr lang="en-US" sz="1850" dirty="0"/>
          </a:p>
        </p:txBody>
      </p:sp>
      <p:sp>
        <p:nvSpPr>
          <p:cNvPr id="19" name="Text 1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Mini DMA hardware</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3154680" cy="434340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4.png">    </p:cNvPr>
          <p:cNvPicPr>
            <a:picLocks noChangeAspect="1"/>
          </p:cNvPicPr>
          <p:nvPr/>
        </p:nvPicPr>
        <p:blipFill>
          <a:blip r:embed="rId1"/>
          <a:stretch>
            <a:fillRect/>
          </a:stretch>
        </p:blipFill>
        <p:spPr>
          <a:xfrm>
            <a:off x="795528" y="1280160"/>
            <a:ext cx="3063240" cy="4251960"/>
          </a:xfrm>
          <a:prstGeom prst="rect">
            <a:avLst/>
          </a:prstGeom>
        </p:spPr>
      </p:pic>
      <p:sp>
        <p:nvSpPr>
          <p:cNvPr id="6" name="Text 3"/>
          <p:cNvSpPr/>
          <p:nvPr/>
        </p:nvSpPr>
        <p:spPr>
          <a:xfrm>
            <a:off x="841248" y="5285232"/>
            <a:ext cx="29718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Stepper motor with 10 micrometer minimum step</a:t>
            </a:r>
            <a:endParaRPr lang="en-US" sz="850" dirty="0"/>
          </a:p>
        </p:txBody>
      </p:sp>
      <p:sp>
        <p:nvSpPr>
          <p:cNvPr id="7" name="Shape 4"/>
          <p:cNvSpPr/>
          <p:nvPr/>
        </p:nvSpPr>
        <p:spPr>
          <a:xfrm>
            <a:off x="4206240" y="1234440"/>
            <a:ext cx="3154680" cy="4343400"/>
          </a:xfrm>
          <a:prstGeom prst="rect">
            <a:avLst/>
          </a:prstGeom>
          <a:solidFill>
            <a:srgbClr val="FFFFFF"/>
          </a:solidFill>
          <a:ln w="12700">
            <a:solidFill>
              <a:srgbClr val="D9DEE8"/>
            </a:solidFill>
            <a:prstDash val="solid"/>
          </a:ln>
        </p:spPr>
      </p:sp>
      <p:pic>
        <p:nvPicPr>
          <p:cNvPr id="8" name="Image 1" descr="/Users/martin/PyPlot/outputs/manual-20260520-mini-dma-deck-v3/presentations/mini-dma-colloquium/source_unzipped/ppt/media/image5.png">    </p:cNvPr>
          <p:cNvPicPr>
            <a:picLocks noChangeAspect="1"/>
          </p:cNvPicPr>
          <p:nvPr/>
        </p:nvPicPr>
        <p:blipFill>
          <a:blip r:embed="rId2"/>
          <a:stretch>
            <a:fillRect/>
          </a:stretch>
        </p:blipFill>
        <p:spPr>
          <a:xfrm>
            <a:off x="4251960" y="1280160"/>
            <a:ext cx="3063240" cy="4251960"/>
          </a:xfrm>
          <a:prstGeom prst="rect">
            <a:avLst/>
          </a:prstGeom>
        </p:spPr>
      </p:pic>
      <p:sp>
        <p:nvSpPr>
          <p:cNvPr id="9" name="Text 5"/>
          <p:cNvSpPr/>
          <p:nvPr/>
        </p:nvSpPr>
        <p:spPr>
          <a:xfrm>
            <a:off x="4297680" y="5285232"/>
            <a:ext cx="29718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Scale precision: 0.05 g; scale latency: ~200 ms</a:t>
            </a:r>
            <a:endParaRPr lang="en-US" sz="850" dirty="0"/>
          </a:p>
        </p:txBody>
      </p:sp>
      <p:sp>
        <p:nvSpPr>
          <p:cNvPr id="10" name="Shape 6"/>
          <p:cNvSpPr/>
          <p:nvPr/>
        </p:nvSpPr>
        <p:spPr>
          <a:xfrm>
            <a:off x="7662672" y="1234440"/>
            <a:ext cx="3611880" cy="4343400"/>
          </a:xfrm>
          <a:prstGeom prst="rect">
            <a:avLst/>
          </a:prstGeom>
          <a:solidFill>
            <a:srgbClr val="FFFFFF"/>
          </a:solidFill>
          <a:ln w="12700">
            <a:solidFill>
              <a:srgbClr val="D9DEE8"/>
            </a:solidFill>
            <a:prstDash val="solid"/>
          </a:ln>
        </p:spPr>
      </p:sp>
      <p:pic>
        <p:nvPicPr>
          <p:cNvPr id="11" name="Image 2" descr="/Users/martin/PyPlot/outputs/manual-20260520-mini-dma-deck-v3/presentations/mini-dma-colloquium/source_unzipped/ppt/media/image.jpeg">    </p:cNvPr>
          <p:cNvPicPr>
            <a:picLocks noChangeAspect="1"/>
          </p:cNvPicPr>
          <p:nvPr/>
        </p:nvPicPr>
        <p:blipFill>
          <a:blip r:embed="rId3"/>
          <a:stretch>
            <a:fillRect/>
          </a:stretch>
        </p:blipFill>
        <p:spPr>
          <a:xfrm>
            <a:off x="7708392" y="1280160"/>
            <a:ext cx="3520440" cy="4251960"/>
          </a:xfrm>
          <a:prstGeom prst="rect">
            <a:avLst/>
          </a:prstGeom>
        </p:spPr>
      </p:pic>
      <p:sp>
        <p:nvSpPr>
          <p:cNvPr id="12" name="Text 7"/>
          <p:cNvSpPr/>
          <p:nvPr/>
        </p:nvSpPr>
        <p:spPr>
          <a:xfrm>
            <a:off x="7754112" y="5285232"/>
            <a:ext cx="34290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Control software</a:t>
            </a:r>
            <a:endParaRPr lang="en-US" sz="850" dirty="0"/>
          </a:p>
        </p:txBody>
      </p:sp>
      <p:sp>
        <p:nvSpPr>
          <p:cNvPr id="13" name="Text 8"/>
          <p:cNvSpPr/>
          <p:nvPr/>
        </p:nvSpPr>
        <p:spPr>
          <a:xfrm>
            <a:off x="841248" y="5779008"/>
            <a:ext cx="10241280" cy="310896"/>
          </a:xfrm>
          <a:prstGeom prst="rect">
            <a:avLst/>
          </a:prstGeom>
          <a:noFill/>
          <a:ln/>
        </p:spPr>
        <p:txBody>
          <a:bodyPr wrap="square" lIns="0" tIns="0" rIns="0" bIns="0" rtlCol="0" anchor="ctr">
            <a:normAutofit/>
          </a:bodyPr>
          <a:lstStyle/>
          <a:p>
            <a:pPr algn="ctr" indent="0" marL="0">
              <a:buNone/>
            </a:pPr>
            <a:r>
              <a:rPr lang="en-US" sz="1800" b="1" dirty="0">
                <a:solidFill>
                  <a:srgbClr val="151922"/>
                </a:solidFill>
              </a:rPr>
              <a:t>Key idea: the scale measures load and the motor supplies displacement.</a:t>
            </a:r>
            <a:endParaRPr lang="en-US" sz="1800" dirty="0"/>
          </a:p>
        </p:txBody>
      </p:sp>
      <p:sp>
        <p:nvSpPr>
          <p:cNvPr id="14" name="Text 9"/>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How the iso-stress measurement works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4663440" cy="443484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jpeg">    </p:cNvPr>
          <p:cNvPicPr>
            <a:picLocks noChangeAspect="1"/>
          </p:cNvPicPr>
          <p:nvPr/>
        </p:nvPicPr>
        <p:blipFill>
          <a:blip r:embed="rId1"/>
          <a:stretch>
            <a:fillRect/>
          </a:stretch>
        </p:blipFill>
        <p:spPr>
          <a:xfrm>
            <a:off x="795528" y="1280160"/>
            <a:ext cx="4572000" cy="4343400"/>
          </a:xfrm>
          <a:prstGeom prst="rect">
            <a:avLst/>
          </a:prstGeom>
        </p:spPr>
      </p:pic>
      <p:sp>
        <p:nvSpPr>
          <p:cNvPr id="6" name="Text 3"/>
          <p:cNvSpPr/>
          <p:nvPr/>
        </p:nvSpPr>
        <p:spPr>
          <a:xfrm>
            <a:off x="841248" y="5376672"/>
            <a:ext cx="44805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Software view</a:t>
            </a:r>
            <a:endParaRPr lang="en-US" sz="850" dirty="0"/>
          </a:p>
        </p:txBody>
      </p:sp>
      <p:sp>
        <p:nvSpPr>
          <p:cNvPr id="7" name="Shape 4"/>
          <p:cNvSpPr/>
          <p:nvPr/>
        </p:nvSpPr>
        <p:spPr>
          <a:xfrm>
            <a:off x="5897880" y="1417320"/>
            <a:ext cx="384048" cy="384048"/>
          </a:xfrm>
          <a:prstGeom prst="ellipse">
            <a:avLst/>
          </a:prstGeom>
          <a:solidFill>
            <a:srgbClr val="1F4E79"/>
          </a:solidFill>
          <a:ln w="12700">
            <a:solidFill>
              <a:srgbClr val="1F4E79"/>
            </a:solidFill>
            <a:prstDash val="solid"/>
          </a:ln>
        </p:spPr>
      </p:sp>
      <p:sp>
        <p:nvSpPr>
          <p:cNvPr id="8" name="Text 5"/>
          <p:cNvSpPr/>
          <p:nvPr/>
        </p:nvSpPr>
        <p:spPr>
          <a:xfrm>
            <a:off x="5897880" y="14996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1</a:t>
            </a:r>
            <a:endParaRPr lang="en-US" sz="950" dirty="0"/>
          </a:p>
        </p:txBody>
      </p:sp>
      <p:sp>
        <p:nvSpPr>
          <p:cNvPr id="9" name="Text 6"/>
          <p:cNvSpPr/>
          <p:nvPr/>
        </p:nvSpPr>
        <p:spPr>
          <a:xfrm>
            <a:off x="6400800" y="14081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Set target stress</a:t>
            </a:r>
            <a:endParaRPr lang="en-US" sz="1300" dirty="0"/>
          </a:p>
        </p:txBody>
      </p:sp>
      <p:sp>
        <p:nvSpPr>
          <p:cNvPr id="10" name="Shape 7"/>
          <p:cNvSpPr/>
          <p:nvPr/>
        </p:nvSpPr>
        <p:spPr>
          <a:xfrm>
            <a:off x="5897880" y="2331720"/>
            <a:ext cx="384048" cy="384048"/>
          </a:xfrm>
          <a:prstGeom prst="ellipse">
            <a:avLst/>
          </a:prstGeom>
          <a:solidFill>
            <a:srgbClr val="F08B2D"/>
          </a:solidFill>
          <a:ln w="12700">
            <a:solidFill>
              <a:srgbClr val="F08B2D"/>
            </a:solidFill>
            <a:prstDash val="solid"/>
          </a:ln>
        </p:spPr>
      </p:sp>
      <p:sp>
        <p:nvSpPr>
          <p:cNvPr id="11" name="Text 8"/>
          <p:cNvSpPr/>
          <p:nvPr/>
        </p:nvSpPr>
        <p:spPr>
          <a:xfrm>
            <a:off x="5897880" y="24140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2</a:t>
            </a:r>
            <a:endParaRPr lang="en-US" sz="950" dirty="0"/>
          </a:p>
        </p:txBody>
      </p:sp>
      <p:sp>
        <p:nvSpPr>
          <p:cNvPr id="12" name="Text 9"/>
          <p:cNvSpPr/>
          <p:nvPr/>
        </p:nvSpPr>
        <p:spPr>
          <a:xfrm>
            <a:off x="6400800" y="23225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Increase current and heat the wire</a:t>
            </a:r>
            <a:endParaRPr lang="en-US" sz="1300" dirty="0"/>
          </a:p>
        </p:txBody>
      </p:sp>
      <p:sp>
        <p:nvSpPr>
          <p:cNvPr id="13" name="Shape 10"/>
          <p:cNvSpPr/>
          <p:nvPr/>
        </p:nvSpPr>
        <p:spPr>
          <a:xfrm>
            <a:off x="5897880" y="3246120"/>
            <a:ext cx="384048" cy="384048"/>
          </a:xfrm>
          <a:prstGeom prst="ellipse">
            <a:avLst/>
          </a:prstGeom>
          <a:solidFill>
            <a:srgbClr val="D94F4F"/>
          </a:solidFill>
          <a:ln w="12700">
            <a:solidFill>
              <a:srgbClr val="D94F4F"/>
            </a:solidFill>
            <a:prstDash val="solid"/>
          </a:ln>
        </p:spPr>
      </p:sp>
      <p:sp>
        <p:nvSpPr>
          <p:cNvPr id="14" name="Text 11"/>
          <p:cNvSpPr/>
          <p:nvPr/>
        </p:nvSpPr>
        <p:spPr>
          <a:xfrm>
            <a:off x="5897880" y="33284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3</a:t>
            </a:r>
            <a:endParaRPr lang="en-US" sz="950" dirty="0"/>
          </a:p>
        </p:txBody>
      </p:sp>
      <p:sp>
        <p:nvSpPr>
          <p:cNvPr id="15" name="Text 12"/>
          <p:cNvSpPr/>
          <p:nvPr/>
        </p:nvSpPr>
        <p:spPr>
          <a:xfrm>
            <a:off x="6400800" y="32369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Wire contracts, stress rises</a:t>
            </a:r>
            <a:endParaRPr lang="en-US" sz="1300" dirty="0"/>
          </a:p>
        </p:txBody>
      </p:sp>
      <p:sp>
        <p:nvSpPr>
          <p:cNvPr id="16" name="Shape 13"/>
          <p:cNvSpPr/>
          <p:nvPr/>
        </p:nvSpPr>
        <p:spPr>
          <a:xfrm>
            <a:off x="5897880" y="4160520"/>
            <a:ext cx="384048" cy="384048"/>
          </a:xfrm>
          <a:prstGeom prst="ellipse">
            <a:avLst/>
          </a:prstGeom>
          <a:solidFill>
            <a:srgbClr val="2F8F83"/>
          </a:solidFill>
          <a:ln w="12700">
            <a:solidFill>
              <a:srgbClr val="2F8F83"/>
            </a:solidFill>
            <a:prstDash val="solid"/>
          </a:ln>
        </p:spPr>
      </p:sp>
      <p:sp>
        <p:nvSpPr>
          <p:cNvPr id="17" name="Text 14"/>
          <p:cNvSpPr/>
          <p:nvPr/>
        </p:nvSpPr>
        <p:spPr>
          <a:xfrm>
            <a:off x="5897880" y="42428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4</a:t>
            </a:r>
            <a:endParaRPr lang="en-US" sz="950" dirty="0"/>
          </a:p>
        </p:txBody>
      </p:sp>
      <p:sp>
        <p:nvSpPr>
          <p:cNvPr id="18" name="Text 15"/>
          <p:cNvSpPr/>
          <p:nvPr/>
        </p:nvSpPr>
        <p:spPr>
          <a:xfrm>
            <a:off x="6400800" y="41513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Motor moves down to restore target</a:t>
            </a:r>
            <a:endParaRPr lang="en-US" sz="1300" dirty="0"/>
          </a:p>
        </p:txBody>
      </p:sp>
      <p:sp>
        <p:nvSpPr>
          <p:cNvPr id="19" name="Text 16"/>
          <p:cNvSpPr/>
          <p:nvPr/>
        </p:nvSpPr>
        <p:spPr>
          <a:xfrm>
            <a:off x="5897880" y="5303520"/>
            <a:ext cx="5166360" cy="384048"/>
          </a:xfrm>
          <a:prstGeom prst="rect">
            <a:avLst/>
          </a:prstGeom>
          <a:noFill/>
          <a:ln/>
        </p:spPr>
        <p:txBody>
          <a:bodyPr wrap="square" lIns="0" tIns="0" rIns="0" bIns="0" rtlCol="0" anchor="ctr">
            <a:normAutofit/>
          </a:bodyPr>
          <a:lstStyle/>
          <a:p>
            <a:pPr indent="0" marL="0">
              <a:buNone/>
            </a:pPr>
            <a:r>
              <a:rPr lang="en-US" sz="2100" b="1" dirty="0">
                <a:solidFill>
                  <a:srgbClr val="151922"/>
                </a:solidFill>
              </a:rPr>
              <a:t>Motor displacement gives strain.</a:t>
            </a:r>
            <a:endParaRPr lang="en-US" sz="2100" dirty="0"/>
          </a:p>
        </p:txBody>
      </p:sp>
      <p:sp>
        <p:nvSpPr>
          <p:cNvPr id="20" name="Text 1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The run starts by defining the real zero length</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6263640" cy="461772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6.png">    </p:cNvPr>
          <p:cNvPicPr>
            <a:picLocks noChangeAspect="1"/>
          </p:cNvPicPr>
          <p:nvPr/>
        </p:nvPicPr>
        <p:blipFill>
          <a:blip r:embed="rId1"/>
          <a:stretch>
            <a:fillRect/>
          </a:stretch>
        </p:blipFill>
        <p:spPr>
          <a:xfrm>
            <a:off x="795528" y="1280160"/>
            <a:ext cx="6172200" cy="4526280"/>
          </a:xfrm>
          <a:prstGeom prst="rect">
            <a:avLst/>
          </a:prstGeom>
        </p:spPr>
      </p:pic>
      <p:sp>
        <p:nvSpPr>
          <p:cNvPr id="6" name="Text 3"/>
          <p:cNvSpPr/>
          <p:nvPr/>
        </p:nvSpPr>
        <p:spPr>
          <a:xfrm>
            <a:off x="841248" y="5559552"/>
            <a:ext cx="60807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Baseline and initial-length calculation</a:t>
            </a:r>
            <a:endParaRPr lang="en-US" sz="850" dirty="0"/>
          </a:p>
        </p:txBody>
      </p:sp>
      <p:sp>
        <p:nvSpPr>
          <p:cNvPr id="7" name="Text 4"/>
          <p:cNvSpPr/>
          <p:nvPr/>
        </p:nvSpPr>
        <p:spPr>
          <a:xfrm>
            <a:off x="7360920" y="1508760"/>
            <a:ext cx="3886200" cy="352044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setup measures displacement, not absolute wire length.</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At the start, it goes to a known stress target and asks for the measured wire length.</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Then it lowers the load and finds the point where load no longer follows the linear displacement trend.</a:t>
            </a:r>
            <a:endParaRPr lang="en-US" sz="1850" dirty="0"/>
          </a:p>
        </p:txBody>
      </p:sp>
      <p:sp>
        <p:nvSpPr>
          <p:cNvPr id="8" name="Shape 5"/>
          <p:cNvSpPr/>
          <p:nvPr/>
        </p:nvSpPr>
        <p:spPr>
          <a:xfrm>
            <a:off x="7543800" y="5212080"/>
            <a:ext cx="3429000" cy="502920"/>
          </a:xfrm>
          <a:prstGeom prst="rect">
            <a:avLst>
              <a:gd name="adj" fmla="val 9091"/>
            </a:avLst>
          </a:prstGeom>
          <a:solidFill>
            <a:srgbClr val="FFFFFF"/>
          </a:solidFill>
          <a:ln w="17780">
            <a:solidFill>
              <a:srgbClr val="1F4E79"/>
            </a:solidFill>
            <a:prstDash val="solid"/>
          </a:ln>
        </p:spPr>
      </p:sp>
      <p:sp>
        <p:nvSpPr>
          <p:cNvPr id="9" name="Text 6"/>
          <p:cNvSpPr/>
          <p:nvPr/>
        </p:nvSpPr>
        <p:spPr>
          <a:xfrm>
            <a:off x="7708392" y="5340096"/>
            <a:ext cx="3099816" cy="274320"/>
          </a:xfrm>
          <a:prstGeom prst="rect">
            <a:avLst/>
          </a:prstGeom>
          <a:noFill/>
          <a:ln/>
        </p:spPr>
        <p:txBody>
          <a:bodyPr wrap="square" lIns="381" tIns="381" rIns="381" bIns="381" rtlCol="0" anchor="ctr">
            <a:normAutofit/>
          </a:bodyPr>
          <a:lstStyle/>
          <a:p>
            <a:pPr algn="ctr" indent="0" marL="0">
              <a:buNone/>
            </a:pPr>
            <a:r>
              <a:rPr lang="en-US" sz="1600" b="1" dirty="0">
                <a:solidFill>
                  <a:srgbClr val="1F4E79"/>
                </a:solidFill>
                <a:latin typeface="Helvetica" pitchFamily="34" charset="0"/>
                <a:ea typeface="Helvetica" pitchFamily="34" charset="-122"/>
                <a:cs typeface="Helvetica" pitchFamily="34" charset="-120"/>
              </a:rPr>
              <a:t>That point becomes the zero-load baseline.</a:t>
            </a:r>
            <a:endParaRPr lang="en-US" sz="16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The motor approaches the target in two modes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6126480" cy="461772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7.png">    </p:cNvPr>
          <p:cNvPicPr>
            <a:picLocks noChangeAspect="1"/>
          </p:cNvPicPr>
          <p:nvPr/>
        </p:nvPicPr>
        <p:blipFill>
          <a:blip r:embed="rId1"/>
          <a:stretch>
            <a:fillRect/>
          </a:stretch>
        </p:blipFill>
        <p:spPr>
          <a:xfrm>
            <a:off x="795528" y="1280160"/>
            <a:ext cx="6035040" cy="4526280"/>
          </a:xfrm>
          <a:prstGeom prst="rect">
            <a:avLst/>
          </a:prstGeom>
        </p:spPr>
      </p:pic>
      <p:sp>
        <p:nvSpPr>
          <p:cNvPr id="6" name="Text 3"/>
          <p:cNvSpPr/>
          <p:nvPr/>
        </p:nvSpPr>
        <p:spPr>
          <a:xfrm>
            <a:off x="841248" y="5559552"/>
            <a:ext cx="59436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Target approach example</a:t>
            </a:r>
            <a:endParaRPr lang="en-US" sz="850" dirty="0"/>
          </a:p>
        </p:txBody>
      </p:sp>
      <p:sp>
        <p:nvSpPr>
          <p:cNvPr id="7" name="Shape 4"/>
          <p:cNvSpPr/>
          <p:nvPr/>
        </p:nvSpPr>
        <p:spPr>
          <a:xfrm>
            <a:off x="7269480" y="1417320"/>
            <a:ext cx="3977640" cy="1417320"/>
          </a:xfrm>
          <a:prstGeom prst="rect">
            <a:avLst/>
          </a:prstGeom>
          <a:solidFill>
            <a:srgbClr val="F3FAF8"/>
          </a:solidFill>
          <a:ln w="12700">
            <a:solidFill>
              <a:srgbClr val="B6DCD4"/>
            </a:solidFill>
            <a:prstDash val="solid"/>
          </a:ln>
        </p:spPr>
      </p:sp>
      <p:sp>
        <p:nvSpPr>
          <p:cNvPr id="8" name="Text 5"/>
          <p:cNvSpPr/>
          <p:nvPr/>
        </p:nvSpPr>
        <p:spPr>
          <a:xfrm>
            <a:off x="7498080" y="1627632"/>
            <a:ext cx="3474720" cy="274320"/>
          </a:xfrm>
          <a:prstGeom prst="rect">
            <a:avLst/>
          </a:prstGeom>
          <a:noFill/>
          <a:ln/>
        </p:spPr>
        <p:txBody>
          <a:bodyPr wrap="square" lIns="0" tIns="0" rIns="0" bIns="0" rtlCol="0" anchor="ctr"/>
          <a:lstStyle/>
          <a:p>
            <a:pPr indent="0" marL="0">
              <a:buNone/>
            </a:pPr>
            <a:r>
              <a:rPr lang="en-US" sz="2000" b="1" dirty="0">
                <a:solidFill>
                  <a:srgbClr val="151922"/>
                </a:solidFill>
              </a:rPr>
              <a:t>Far from target</a:t>
            </a:r>
            <a:endParaRPr lang="en-US" sz="2000" dirty="0"/>
          </a:p>
        </p:txBody>
      </p:sp>
      <p:sp>
        <p:nvSpPr>
          <p:cNvPr id="9" name="Text 6"/>
          <p:cNvSpPr/>
          <p:nvPr/>
        </p:nvSpPr>
        <p:spPr>
          <a:xfrm>
            <a:off x="7498080" y="2057400"/>
            <a:ext cx="3383280" cy="347472"/>
          </a:xfrm>
          <a:prstGeom prst="rect">
            <a:avLst/>
          </a:prstGeom>
          <a:noFill/>
          <a:ln/>
        </p:spPr>
        <p:txBody>
          <a:bodyPr wrap="square" lIns="0" tIns="0" rIns="0" bIns="0" rtlCol="0" anchor="ctr">
            <a:normAutofit/>
          </a:bodyPr>
          <a:lstStyle/>
          <a:p>
            <a:pPr indent="0" marL="0">
              <a:buNone/>
            </a:pPr>
            <a:r>
              <a:rPr lang="en-US" sz="1700" dirty="0">
                <a:solidFill>
                  <a:srgbClr val="2F3642"/>
                </a:solidFill>
              </a:rPr>
              <a:t>larger steps + continuous cruise mode</a:t>
            </a:r>
            <a:endParaRPr lang="en-US" sz="1700" dirty="0"/>
          </a:p>
        </p:txBody>
      </p:sp>
      <p:sp>
        <p:nvSpPr>
          <p:cNvPr id="10" name="Shape 7"/>
          <p:cNvSpPr/>
          <p:nvPr/>
        </p:nvSpPr>
        <p:spPr>
          <a:xfrm>
            <a:off x="7269480" y="3246120"/>
            <a:ext cx="3977640" cy="1417320"/>
          </a:xfrm>
          <a:prstGeom prst="rect">
            <a:avLst/>
          </a:prstGeom>
          <a:solidFill>
            <a:srgbClr val="FFF8F0"/>
          </a:solidFill>
          <a:ln w="12700">
            <a:solidFill>
              <a:srgbClr val="F4C18E"/>
            </a:solidFill>
            <a:prstDash val="solid"/>
          </a:ln>
        </p:spPr>
      </p:sp>
      <p:sp>
        <p:nvSpPr>
          <p:cNvPr id="11" name="Text 8"/>
          <p:cNvSpPr/>
          <p:nvPr/>
        </p:nvSpPr>
        <p:spPr>
          <a:xfrm>
            <a:off x="7498080" y="3456432"/>
            <a:ext cx="3474720" cy="274320"/>
          </a:xfrm>
          <a:prstGeom prst="rect">
            <a:avLst/>
          </a:prstGeom>
          <a:noFill/>
          <a:ln/>
        </p:spPr>
        <p:txBody>
          <a:bodyPr wrap="square" lIns="0" tIns="0" rIns="0" bIns="0" rtlCol="0" anchor="ctr"/>
          <a:lstStyle/>
          <a:p>
            <a:pPr indent="0" marL="0">
              <a:buNone/>
            </a:pPr>
            <a:r>
              <a:rPr lang="en-US" sz="2000" b="1" dirty="0">
                <a:solidFill>
                  <a:srgbClr val="151922"/>
                </a:solidFill>
              </a:rPr>
              <a:t>Near target</a:t>
            </a:r>
            <a:endParaRPr lang="en-US" sz="2000" dirty="0"/>
          </a:p>
        </p:txBody>
      </p:sp>
      <p:sp>
        <p:nvSpPr>
          <p:cNvPr id="12" name="Text 9"/>
          <p:cNvSpPr/>
          <p:nvPr/>
        </p:nvSpPr>
        <p:spPr>
          <a:xfrm>
            <a:off x="7498080" y="3886200"/>
            <a:ext cx="3383280" cy="411480"/>
          </a:xfrm>
          <a:prstGeom prst="rect">
            <a:avLst/>
          </a:prstGeom>
          <a:noFill/>
          <a:ln/>
        </p:spPr>
        <p:txBody>
          <a:bodyPr wrap="square" lIns="0" tIns="0" rIns="0" bIns="0" rtlCol="0" anchor="ctr">
            <a:normAutofit/>
          </a:bodyPr>
          <a:lstStyle/>
          <a:p>
            <a:pPr indent="0" marL="0">
              <a:buNone/>
            </a:pPr>
            <a:r>
              <a:rPr lang="en-US" sz="1700" dirty="0">
                <a:solidFill>
                  <a:srgbClr val="2F3642"/>
                </a:solidFill>
              </a:rPr>
              <a:t>single moves, fresh scale value, then next move</a:t>
            </a:r>
            <a:endParaRPr lang="en-US" sz="1700" dirty="0"/>
          </a:p>
        </p:txBody>
      </p:sp>
      <p:sp>
        <p:nvSpPr>
          <p:cNvPr id="13" name="Shape 10"/>
          <p:cNvSpPr/>
          <p:nvPr/>
        </p:nvSpPr>
        <p:spPr>
          <a:xfrm>
            <a:off x="7479792" y="5166360"/>
            <a:ext cx="3474720" cy="502920"/>
          </a:xfrm>
          <a:prstGeom prst="rect">
            <a:avLst>
              <a:gd name="adj" fmla="val 9091"/>
            </a:avLst>
          </a:prstGeom>
          <a:solidFill>
            <a:srgbClr val="FFFFFF"/>
          </a:solidFill>
          <a:ln w="17780">
            <a:solidFill>
              <a:srgbClr val="1F4E79"/>
            </a:solidFill>
            <a:prstDash val="solid"/>
          </a:ln>
        </p:spPr>
      </p:sp>
      <p:sp>
        <p:nvSpPr>
          <p:cNvPr id="14" name="Text 11"/>
          <p:cNvSpPr/>
          <p:nvPr/>
        </p:nvSpPr>
        <p:spPr>
          <a:xfrm>
            <a:off x="7644384" y="5294376"/>
            <a:ext cx="3145536" cy="274320"/>
          </a:xfrm>
          <a:prstGeom prst="rect">
            <a:avLst/>
          </a:prstGeom>
          <a:noFill/>
          <a:ln/>
        </p:spPr>
        <p:txBody>
          <a:bodyPr wrap="square" lIns="381" tIns="381" rIns="381" bIns="381" rtlCol="0" anchor="ctr">
            <a:normAutofit/>
          </a:bodyPr>
          <a:lstStyle/>
          <a:p>
            <a:pPr algn="ctr" indent="0" marL="0">
              <a:buNone/>
            </a:pPr>
            <a:r>
              <a:rPr lang="en-US" sz="1600" b="1" dirty="0">
                <a:solidFill>
                  <a:srgbClr val="1F4E79"/>
                </a:solidFill>
                <a:latin typeface="Helvetica" pitchFamily="34" charset="0"/>
                <a:ea typeface="Helvetica" pitchFamily="34" charset="-122"/>
                <a:cs typeface="Helvetica" pitchFamily="34" charset="-120"/>
              </a:rPr>
              <a:t>Final step size: 10 micrometers</a:t>
            </a:r>
            <a:endParaRPr lang="en-US" sz="1600" dirty="0"/>
          </a:p>
        </p:txBody>
      </p:sp>
      <p:sp>
        <p:nvSpPr>
          <p:cNvPr id="15" name="Text 12"/>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First Mini DMA current sweeps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749808" y="1234440"/>
            <a:ext cx="6629400" cy="4645152"/>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assets/mini_dma_current_sweep_50_200mpa.png">    </p:cNvPr>
          <p:cNvPicPr>
            <a:picLocks noChangeAspect="1"/>
          </p:cNvPicPr>
          <p:nvPr/>
        </p:nvPicPr>
        <p:blipFill>
          <a:blip r:embed="rId1"/>
          <a:stretch>
            <a:fillRect/>
          </a:stretch>
        </p:blipFill>
        <p:spPr>
          <a:xfrm>
            <a:off x="795528" y="1280160"/>
            <a:ext cx="6537960" cy="4553712"/>
          </a:xfrm>
          <a:prstGeom prst="rect">
            <a:avLst/>
          </a:prstGeom>
        </p:spPr>
      </p:pic>
      <p:sp>
        <p:nvSpPr>
          <p:cNvPr id="6" name="Text 3"/>
          <p:cNvSpPr/>
          <p:nvPr/>
        </p:nvSpPr>
        <p:spPr>
          <a:xfrm>
            <a:off x="841248" y="5586984"/>
            <a:ext cx="64465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Mini DMA run: 50-200 MPa targets</a:t>
            </a:r>
            <a:endParaRPr lang="en-US" sz="850" dirty="0"/>
          </a:p>
        </p:txBody>
      </p:sp>
      <p:sp>
        <p:nvSpPr>
          <p:cNvPr id="7" name="Text 4"/>
          <p:cNvSpPr/>
          <p:nvPr/>
        </p:nvSpPr>
        <p:spPr>
          <a:xfrm>
            <a:off x="7726680" y="1554480"/>
            <a:ext cx="3566160" cy="342900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This is the first real measurement from the setup.</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higher stress curves were removed here to keep the graph readable.</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Because current is measured, power for a target contraction can also be estimated.</a:t>
            </a:r>
            <a:endParaRPr lang="en-US" sz="1850" dirty="0"/>
          </a:p>
        </p:txBody>
      </p:sp>
      <p:sp>
        <p:nvSpPr>
          <p:cNvPr id="8" name="Text 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The cost difference is the point</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Text 2"/>
          <p:cNvSpPr/>
          <p:nvPr/>
        </p:nvSpPr>
        <p:spPr>
          <a:xfrm>
            <a:off x="1097280" y="1554480"/>
            <a:ext cx="4297680" cy="329184"/>
          </a:xfrm>
          <a:prstGeom prst="rect">
            <a:avLst/>
          </a:prstGeom>
          <a:noFill/>
          <a:ln/>
        </p:spPr>
        <p:txBody>
          <a:bodyPr wrap="square" lIns="0" tIns="0" rIns="0" bIns="0" rtlCol="0" anchor="ctr"/>
          <a:lstStyle/>
          <a:p>
            <a:pPr algn="ctr" indent="0" marL="0">
              <a:buNone/>
            </a:pPr>
            <a:r>
              <a:rPr lang="en-US" sz="2200" b="1" dirty="0">
                <a:solidFill>
                  <a:srgbClr val="1F4E79"/>
                </a:solidFill>
              </a:rPr>
              <a:t>Mini DMA</a:t>
            </a:r>
            <a:endParaRPr lang="en-US" sz="2200" dirty="0"/>
          </a:p>
        </p:txBody>
      </p:sp>
      <p:sp>
        <p:nvSpPr>
          <p:cNvPr id="5" name="Text 3"/>
          <p:cNvSpPr/>
          <p:nvPr/>
        </p:nvSpPr>
        <p:spPr>
          <a:xfrm>
            <a:off x="777240" y="2212848"/>
            <a:ext cx="4937760" cy="1325880"/>
          </a:xfrm>
          <a:prstGeom prst="rect">
            <a:avLst/>
          </a:prstGeom>
          <a:noFill/>
          <a:ln/>
        </p:spPr>
        <p:txBody>
          <a:bodyPr wrap="square" lIns="0" tIns="0" rIns="0" bIns="0" rtlCol="0" anchor="ctr">
            <a:normAutofit/>
          </a:bodyPr>
          <a:lstStyle/>
          <a:p>
            <a:pPr algn="ctr" indent="0" marL="0">
              <a:buNone/>
            </a:pPr>
            <a:r>
              <a:rPr lang="en-US" sz="6400" b="1" dirty="0">
                <a:solidFill>
                  <a:srgbClr val="1F4E79"/>
                </a:solidFill>
              </a:rPr>
              <a:t>300€</a:t>
            </a:r>
            <a:endParaRPr lang="en-US" sz="6400" dirty="0"/>
          </a:p>
        </p:txBody>
      </p:sp>
      <p:sp>
        <p:nvSpPr>
          <p:cNvPr id="6" name="Text 4"/>
          <p:cNvSpPr/>
          <p:nvPr/>
        </p:nvSpPr>
        <p:spPr>
          <a:xfrm>
            <a:off x="6629400" y="1554480"/>
            <a:ext cx="4297680" cy="329184"/>
          </a:xfrm>
          <a:prstGeom prst="rect">
            <a:avLst/>
          </a:prstGeom>
          <a:noFill/>
          <a:ln/>
        </p:spPr>
        <p:txBody>
          <a:bodyPr wrap="square" lIns="0" tIns="0" rIns="0" bIns="0" rtlCol="0" anchor="ctr"/>
          <a:lstStyle/>
          <a:p>
            <a:pPr algn="ctr" indent="0" marL="0">
              <a:buNone/>
            </a:pPr>
            <a:r>
              <a:rPr lang="en-US" sz="2200" b="1" dirty="0">
                <a:solidFill>
                  <a:srgbClr val="F08B2D"/>
                </a:solidFill>
              </a:rPr>
              <a:t>Commercial DMA</a:t>
            </a:r>
            <a:endParaRPr lang="en-US" sz="2200" dirty="0"/>
          </a:p>
        </p:txBody>
      </p:sp>
      <p:sp>
        <p:nvSpPr>
          <p:cNvPr id="7" name="Text 5"/>
          <p:cNvSpPr/>
          <p:nvPr/>
        </p:nvSpPr>
        <p:spPr>
          <a:xfrm>
            <a:off x="6263640" y="2212848"/>
            <a:ext cx="5303520" cy="1325880"/>
          </a:xfrm>
          <a:prstGeom prst="rect">
            <a:avLst/>
          </a:prstGeom>
          <a:noFill/>
          <a:ln/>
        </p:spPr>
        <p:txBody>
          <a:bodyPr wrap="square" lIns="0" tIns="0" rIns="0" bIns="0" rtlCol="0" anchor="ctr">
            <a:normAutofit/>
          </a:bodyPr>
          <a:lstStyle/>
          <a:p>
            <a:pPr algn="ctr" indent="0" marL="0">
              <a:buNone/>
            </a:pPr>
            <a:r>
              <a:rPr lang="en-US" sz="6400" b="1" dirty="0">
                <a:solidFill>
                  <a:srgbClr val="F08B2D"/>
                </a:solidFill>
              </a:rPr>
              <a:t>30000€</a:t>
            </a:r>
            <a:endParaRPr lang="en-US" sz="6400" dirty="0"/>
          </a:p>
        </p:txBody>
      </p:sp>
      <p:sp>
        <p:nvSpPr>
          <p:cNvPr id="8" name="Shape 6"/>
          <p:cNvSpPr/>
          <p:nvPr/>
        </p:nvSpPr>
        <p:spPr>
          <a:xfrm>
            <a:off x="6080760" y="1508760"/>
            <a:ext cx="0" cy="3383280"/>
          </a:xfrm>
          <a:prstGeom prst="line">
            <a:avLst/>
          </a:prstGeom>
          <a:noFill/>
          <a:ln w="25400">
            <a:solidFill>
              <a:srgbClr val="D9DEE8"/>
            </a:solidFill>
            <a:prstDash val="solid"/>
          </a:ln>
        </p:spPr>
      </p:sp>
      <p:sp>
        <p:nvSpPr>
          <p:cNvPr id="9" name="Text 7"/>
          <p:cNvSpPr/>
          <p:nvPr/>
        </p:nvSpPr>
        <p:spPr>
          <a:xfrm>
            <a:off x="960120" y="4892040"/>
            <a:ext cx="10241280" cy="411480"/>
          </a:xfrm>
          <a:prstGeom prst="rect">
            <a:avLst/>
          </a:prstGeom>
          <a:noFill/>
          <a:ln/>
        </p:spPr>
        <p:txBody>
          <a:bodyPr wrap="square" lIns="0" tIns="0" rIns="0" bIns="0" rtlCol="0" anchor="ctr">
            <a:normAutofit/>
          </a:bodyPr>
          <a:lstStyle/>
          <a:p>
            <a:pPr algn="ctr" indent="0" marL="0">
              <a:buNone/>
            </a:pPr>
            <a:r>
              <a:rPr lang="en-US" sz="2300" b="1" dirty="0">
                <a:solidFill>
                  <a:srgbClr val="151922"/>
                </a:solidFill>
              </a:rPr>
              <a:t>A cheap screening setup changes which experiments are worth trying.</a:t>
            </a:r>
            <a:endParaRPr lang="en-US" sz="2300" dirty="0"/>
          </a:p>
        </p:txBody>
      </p:sp>
      <p:sp>
        <p:nvSpPr>
          <p:cNvPr id="10" name="Text 8"/>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Next step: add temperature to the same run</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822960" y="1298448"/>
            <a:ext cx="5486400" cy="4343400"/>
          </a:xfrm>
          <a:prstGeom prst="rect">
            <a:avLst/>
          </a:prstGeom>
          <a:solidFill>
            <a:srgbClr val="FFFFFF"/>
          </a:solidFill>
          <a:ln w="12700">
            <a:solidFill>
              <a:srgbClr val="D9DEE8"/>
            </a:solidFill>
            <a:prstDash val="solid"/>
          </a:ln>
        </p:spPr>
      </p:sp>
      <p:pic>
        <p:nvPicPr>
          <p:cNvPr id="5" name="Image 0" descr="/Users/martin/PyPlot/outputs/manual-20260520-mini-dma-deck-v3/presentations/mini-dma-colloquium/source_unzipped/ppt/media/image2.jpeg">    </p:cNvPr>
          <p:cNvPicPr>
            <a:picLocks noChangeAspect="1"/>
          </p:cNvPicPr>
          <p:nvPr/>
        </p:nvPicPr>
        <p:blipFill>
          <a:blip r:embed="rId1"/>
          <a:stretch>
            <a:fillRect/>
          </a:stretch>
        </p:blipFill>
        <p:spPr>
          <a:xfrm>
            <a:off x="868680" y="1344168"/>
            <a:ext cx="5394960" cy="4251960"/>
          </a:xfrm>
          <a:prstGeom prst="rect">
            <a:avLst/>
          </a:prstGeom>
        </p:spPr>
      </p:pic>
      <p:sp>
        <p:nvSpPr>
          <p:cNvPr id="6" name="Text 3"/>
          <p:cNvSpPr/>
          <p:nvPr/>
        </p:nvSpPr>
        <p:spPr>
          <a:xfrm>
            <a:off x="914400" y="5349240"/>
            <a:ext cx="53035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Thermal camera hardware available for integration</a:t>
            </a:r>
            <a:endParaRPr lang="en-US" sz="850" dirty="0"/>
          </a:p>
        </p:txBody>
      </p:sp>
      <p:sp>
        <p:nvSpPr>
          <p:cNvPr id="7" name="Shape 4"/>
          <p:cNvSpPr/>
          <p:nvPr/>
        </p:nvSpPr>
        <p:spPr>
          <a:xfrm>
            <a:off x="6812280" y="1389888"/>
            <a:ext cx="4343400" cy="914400"/>
          </a:xfrm>
          <a:prstGeom prst="rect">
            <a:avLst/>
          </a:prstGeom>
          <a:solidFill>
            <a:srgbClr val="F2F8FF"/>
          </a:solidFill>
          <a:ln w="15240">
            <a:solidFill>
              <a:srgbClr val="BAD2EA"/>
            </a:solidFill>
            <a:prstDash val="solid"/>
          </a:ln>
        </p:spPr>
      </p:sp>
      <p:sp>
        <p:nvSpPr>
          <p:cNvPr id="8" name="Text 5"/>
          <p:cNvSpPr/>
          <p:nvPr/>
        </p:nvSpPr>
        <p:spPr>
          <a:xfrm>
            <a:off x="7086600" y="1618488"/>
            <a:ext cx="3794760" cy="457200"/>
          </a:xfrm>
          <a:prstGeom prst="rect">
            <a:avLst/>
          </a:prstGeom>
          <a:noFill/>
          <a:ln/>
        </p:spPr>
        <p:txBody>
          <a:bodyPr wrap="square" lIns="381" tIns="381" rIns="381" bIns="381" rtlCol="0" anchor="ctr">
            <a:normAutofit/>
          </a:bodyPr>
          <a:lstStyle/>
          <a:p>
            <a:pPr algn="ctr" indent="0" marL="0">
              <a:buNone/>
            </a:pPr>
            <a:r>
              <a:rPr lang="en-US" sz="2100" b="1" dirty="0">
                <a:solidFill>
                  <a:srgbClr val="151922"/>
                </a:solidFill>
              </a:rPr>
              <a:t>Current tells us input.</a:t>
            </a:r>
            <a:endParaRPr lang="en-US" sz="2100" dirty="0"/>
          </a:p>
          <a:p>
            <a:pPr algn="ctr" indent="0" marL="0">
              <a:buNone/>
            </a:pPr>
            <a:r>
              <a:rPr lang="en-US" sz="2100" b="1" dirty="0">
                <a:solidFill>
                  <a:srgbClr val="151922"/>
                </a:solidFill>
              </a:rPr>
              <a:t>Temperature tells us the wire state.</a:t>
            </a:r>
            <a:endParaRPr lang="en-US" sz="2100" dirty="0"/>
          </a:p>
        </p:txBody>
      </p:sp>
      <p:sp>
        <p:nvSpPr>
          <p:cNvPr id="9" name="Text 6"/>
          <p:cNvSpPr/>
          <p:nvPr/>
        </p:nvSpPr>
        <p:spPr>
          <a:xfrm>
            <a:off x="6903720" y="2907792"/>
            <a:ext cx="4160520" cy="196596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Current gives electrical input.</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Temperature gives actual wire heating.</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Then the same setup can track the elastocaloric effect during transformation.</a:t>
            </a:r>
            <a:endParaRPr lang="en-US" sz="185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Codex made this a one-person prototype</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sp>
      <p:sp>
        <p:nvSpPr>
          <p:cNvPr id="4" name="Shape 2"/>
          <p:cNvSpPr/>
          <p:nvPr/>
        </p:nvSpPr>
        <p:spPr>
          <a:xfrm>
            <a:off x="841248" y="1298448"/>
            <a:ext cx="10515600" cy="960120"/>
          </a:xfrm>
          <a:prstGeom prst="rect">
            <a:avLst/>
          </a:prstGeom>
          <a:solidFill>
            <a:srgbClr val="F2F8FF"/>
          </a:solidFill>
          <a:ln w="12700">
            <a:solidFill>
              <a:srgbClr val="BAD2EA"/>
            </a:solidFill>
            <a:prstDash val="solid"/>
          </a:ln>
        </p:spPr>
      </p:sp>
      <p:sp>
        <p:nvSpPr>
          <p:cNvPr id="5" name="Text 3"/>
          <p:cNvSpPr/>
          <p:nvPr/>
        </p:nvSpPr>
        <p:spPr>
          <a:xfrm>
            <a:off x="1115568" y="1572768"/>
            <a:ext cx="9966960" cy="384048"/>
          </a:xfrm>
          <a:prstGeom prst="rect">
            <a:avLst/>
          </a:prstGeom>
          <a:noFill/>
          <a:ln/>
        </p:spPr>
        <p:txBody>
          <a:bodyPr wrap="square" lIns="0" tIns="0" rIns="0" bIns="0" rtlCol="0" anchor="ctr">
            <a:normAutofit/>
          </a:bodyPr>
          <a:lstStyle/>
          <a:p>
            <a:pPr algn="ctr" indent="0" marL="0">
              <a:buNone/>
            </a:pPr>
            <a:r>
              <a:rPr lang="en-US" sz="2400" b="1" dirty="0">
                <a:solidFill>
                  <a:srgbClr val="151922"/>
                </a:solidFill>
              </a:rPr>
              <a:t>The hardware, wiring, drivers, and software came together in about two weeks.</a:t>
            </a:r>
            <a:endParaRPr lang="en-US" sz="2400" dirty="0"/>
          </a:p>
        </p:txBody>
      </p:sp>
      <p:sp>
        <p:nvSpPr>
          <p:cNvPr id="6" name="Shape 4"/>
          <p:cNvSpPr/>
          <p:nvPr/>
        </p:nvSpPr>
        <p:spPr>
          <a:xfrm>
            <a:off x="914400" y="2788920"/>
            <a:ext cx="2377440" cy="960120"/>
          </a:xfrm>
          <a:prstGeom prst="rect">
            <a:avLst>
              <a:gd name="adj" fmla="val 4762"/>
            </a:avLst>
          </a:prstGeom>
          <a:solidFill>
            <a:srgbClr val="FFFFFF"/>
          </a:solidFill>
          <a:ln w="17780">
            <a:solidFill>
              <a:srgbClr val="1F4E79"/>
            </a:solidFill>
            <a:prstDash val="solid"/>
          </a:ln>
        </p:spPr>
      </p:sp>
      <p:sp>
        <p:nvSpPr>
          <p:cNvPr id="7" name="Text 5"/>
          <p:cNvSpPr/>
          <p:nvPr/>
        </p:nvSpPr>
        <p:spPr>
          <a:xfrm>
            <a:off x="107899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1F4E79"/>
                </a:solidFill>
                <a:latin typeface="Helvetica" pitchFamily="34" charset="0"/>
                <a:ea typeface="Helvetica" pitchFamily="34" charset="-122"/>
                <a:cs typeface="Helvetica" pitchFamily="34" charset="-120"/>
              </a:rPr>
              <a:t>ChatGPT</a:t>
            </a:r>
            <a:endParaRPr lang="en-US" sz="1800" dirty="0"/>
          </a:p>
          <a:p>
            <a:pPr algn="ctr" indent="0" marL="0">
              <a:buNone/>
            </a:pPr>
            <a:r>
              <a:rPr lang="en-US" sz="1800" b="1" dirty="0">
                <a:solidFill>
                  <a:srgbClr val="1F4E79"/>
                </a:solidFill>
                <a:latin typeface="Helvetica" pitchFamily="34" charset="0"/>
                <a:ea typeface="Helvetica" pitchFamily="34" charset="-122"/>
                <a:cs typeface="Helvetica" pitchFamily="34" charset="-120"/>
              </a:rPr>
              <a:t>picked components</a:t>
            </a:r>
            <a:endParaRPr lang="en-US" sz="1800" dirty="0"/>
          </a:p>
        </p:txBody>
      </p:sp>
      <p:sp>
        <p:nvSpPr>
          <p:cNvPr id="8" name="Shape 6"/>
          <p:cNvSpPr/>
          <p:nvPr/>
        </p:nvSpPr>
        <p:spPr>
          <a:xfrm>
            <a:off x="3611880" y="2788920"/>
            <a:ext cx="2377440" cy="960120"/>
          </a:xfrm>
          <a:prstGeom prst="rect">
            <a:avLst>
              <a:gd name="adj" fmla="val 4762"/>
            </a:avLst>
          </a:prstGeom>
          <a:solidFill>
            <a:srgbClr val="FFFFFF"/>
          </a:solidFill>
          <a:ln w="17780">
            <a:solidFill>
              <a:srgbClr val="2F8F83"/>
            </a:solidFill>
            <a:prstDash val="solid"/>
          </a:ln>
        </p:spPr>
      </p:sp>
      <p:sp>
        <p:nvSpPr>
          <p:cNvPr id="9" name="Text 7"/>
          <p:cNvSpPr/>
          <p:nvPr/>
        </p:nvSpPr>
        <p:spPr>
          <a:xfrm>
            <a:off x="377647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2F8F83"/>
                </a:solidFill>
                <a:latin typeface="Helvetica" pitchFamily="34" charset="0"/>
                <a:ea typeface="Helvetica" pitchFamily="34" charset="-122"/>
                <a:cs typeface="Helvetica" pitchFamily="34" charset="-120"/>
              </a:rPr>
              <a:t>ChatGPT</a:t>
            </a:r>
            <a:endParaRPr lang="en-US" sz="1800" dirty="0"/>
          </a:p>
          <a:p>
            <a:pPr algn="ctr" indent="0" marL="0">
              <a:buNone/>
            </a:pPr>
            <a:r>
              <a:rPr lang="en-US" sz="1800" b="1" dirty="0">
                <a:solidFill>
                  <a:srgbClr val="2F8F83"/>
                </a:solidFill>
                <a:latin typeface="Helvetica" pitchFamily="34" charset="0"/>
                <a:ea typeface="Helvetica" pitchFamily="34" charset="-122"/>
                <a:cs typeface="Helvetica" pitchFamily="34" charset="-120"/>
              </a:rPr>
              <a:t>explained wiring</a:t>
            </a:r>
            <a:endParaRPr lang="en-US" sz="1800" dirty="0"/>
          </a:p>
        </p:txBody>
      </p:sp>
      <p:sp>
        <p:nvSpPr>
          <p:cNvPr id="10" name="Shape 8"/>
          <p:cNvSpPr/>
          <p:nvPr/>
        </p:nvSpPr>
        <p:spPr>
          <a:xfrm>
            <a:off x="6309360" y="2788920"/>
            <a:ext cx="2377440" cy="960120"/>
          </a:xfrm>
          <a:prstGeom prst="rect">
            <a:avLst>
              <a:gd name="adj" fmla="val 4762"/>
            </a:avLst>
          </a:prstGeom>
          <a:solidFill>
            <a:srgbClr val="FFFFFF"/>
          </a:solidFill>
          <a:ln w="17780">
            <a:solidFill>
              <a:srgbClr val="F08B2D"/>
            </a:solidFill>
            <a:prstDash val="solid"/>
          </a:ln>
        </p:spPr>
      </p:sp>
      <p:sp>
        <p:nvSpPr>
          <p:cNvPr id="11" name="Text 9"/>
          <p:cNvSpPr/>
          <p:nvPr/>
        </p:nvSpPr>
        <p:spPr>
          <a:xfrm>
            <a:off x="647395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F08B2D"/>
                </a:solidFill>
                <a:latin typeface="Helvetica" pitchFamily="34" charset="0"/>
                <a:ea typeface="Helvetica" pitchFamily="34" charset="-122"/>
                <a:cs typeface="Helvetica" pitchFamily="34" charset="-120"/>
              </a:rPr>
              <a:t>Codex</a:t>
            </a:r>
            <a:endParaRPr lang="en-US" sz="1800" dirty="0"/>
          </a:p>
          <a:p>
            <a:pPr algn="ctr" indent="0" marL="0">
              <a:buNone/>
            </a:pPr>
            <a:r>
              <a:rPr lang="en-US" sz="1800" b="1" dirty="0">
                <a:solidFill>
                  <a:srgbClr val="F08B2D"/>
                </a:solidFill>
                <a:latin typeface="Helvetica" pitchFamily="34" charset="0"/>
                <a:ea typeface="Helvetica" pitchFamily="34" charset="-122"/>
                <a:cs typeface="Helvetica" pitchFamily="34" charset="-120"/>
              </a:rPr>
              <a:t>wrote software</a:t>
            </a:r>
            <a:endParaRPr lang="en-US" sz="1800" dirty="0"/>
          </a:p>
        </p:txBody>
      </p:sp>
      <p:sp>
        <p:nvSpPr>
          <p:cNvPr id="12" name="Shape 10"/>
          <p:cNvSpPr/>
          <p:nvPr/>
        </p:nvSpPr>
        <p:spPr>
          <a:xfrm>
            <a:off x="9006840" y="2788920"/>
            <a:ext cx="2377440" cy="960120"/>
          </a:xfrm>
          <a:prstGeom prst="rect">
            <a:avLst>
              <a:gd name="adj" fmla="val 4762"/>
            </a:avLst>
          </a:prstGeom>
          <a:solidFill>
            <a:srgbClr val="FFFFFF"/>
          </a:solidFill>
          <a:ln w="17780">
            <a:solidFill>
              <a:srgbClr val="D94F4F"/>
            </a:solidFill>
            <a:prstDash val="solid"/>
          </a:ln>
        </p:spPr>
      </p:sp>
      <p:sp>
        <p:nvSpPr>
          <p:cNvPr id="13" name="Text 11"/>
          <p:cNvSpPr/>
          <p:nvPr/>
        </p:nvSpPr>
        <p:spPr>
          <a:xfrm>
            <a:off x="917143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D94F4F"/>
                </a:solidFill>
                <a:latin typeface="Helvetica" pitchFamily="34" charset="0"/>
                <a:ea typeface="Helvetica" pitchFamily="34" charset="-122"/>
                <a:cs typeface="Helvetica" pitchFamily="34" charset="-120"/>
              </a:rPr>
              <a:t>Codex</a:t>
            </a:r>
            <a:endParaRPr lang="en-US" sz="1800" dirty="0"/>
          </a:p>
          <a:p>
            <a:pPr algn="ctr" indent="0" marL="0">
              <a:buNone/>
            </a:pPr>
            <a:r>
              <a:rPr lang="en-US" sz="1800" b="1" dirty="0">
                <a:solidFill>
                  <a:srgbClr val="D94F4F"/>
                </a:solidFill>
                <a:latin typeface="Helvetica" pitchFamily="34" charset="0"/>
                <a:ea typeface="Helvetica" pitchFamily="34" charset="-122"/>
                <a:cs typeface="Helvetica" pitchFamily="34" charset="-120"/>
              </a:rPr>
              <a:t>installed drivers</a:t>
            </a:r>
            <a:endParaRPr lang="en-US" sz="1800" dirty="0"/>
          </a:p>
        </p:txBody>
      </p:sp>
      <p:sp>
        <p:nvSpPr>
          <p:cNvPr id="14" name="Text 12"/>
          <p:cNvSpPr/>
          <p:nvPr/>
        </p:nvSpPr>
        <p:spPr>
          <a:xfrm>
            <a:off x="1005840" y="4800600"/>
            <a:ext cx="10149840" cy="585216"/>
          </a:xfrm>
          <a:prstGeom prst="rect">
            <a:avLst/>
          </a:prstGeom>
          <a:noFill/>
          <a:ln/>
        </p:spPr>
        <p:txBody>
          <a:bodyPr wrap="square" lIns="0" tIns="0" rIns="0" bIns="0" rtlCol="0" anchor="ctr">
            <a:normAutofit/>
          </a:bodyPr>
          <a:lstStyle/>
          <a:p>
            <a:pPr algn="ctr" indent="0" marL="0">
              <a:buNone/>
            </a:pPr>
            <a:r>
              <a:rPr lang="en-US" sz="2500" b="1" dirty="0">
                <a:solidFill>
                  <a:srgbClr val="151922"/>
                </a:solidFill>
              </a:rPr>
              <a:t>The bigger message: AI can turn small experimental ideas into working lab tools much faster than before.</a:t>
            </a:r>
            <a:endParaRPr lang="en-US" sz="2500" dirty="0"/>
          </a:p>
        </p:txBody>
      </p:sp>
      <p:sp>
        <p:nvSpPr>
          <p:cNvPr id="15" name="Text 13"/>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lang="en-US" sz="900" dirty="0">
                <a:solidFill>
                  <a:srgbClr val="687386"/>
                </a:solidFill>
                <a:latin typeface="Helvetica" pitchFamily="34" charset="0"/>
                <a:ea typeface="Helvetica" pitchFamily="34" charset="-122"/>
                <a:cs typeface="Helvetica"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Helvetica Neu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Helvetic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TUKE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 DMA for microwire screening</dc:title>
  <dc:subject>Mini DMA screening and validation</dc:subject>
  <dc:creator>Martin Elias</dc:creator>
  <cp:lastModifiedBy>Martin Elias</cp:lastModifiedBy>
  <cp:revision>1</cp:revision>
  <dcterms:created xsi:type="dcterms:W3CDTF">2026-05-20T19:59:45Z</dcterms:created>
  <dcterms:modified xsi:type="dcterms:W3CDTF">2026-05-20T19:59:45Z</dcterms:modified>
</cp:coreProperties>
</file>