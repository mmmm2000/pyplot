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256" r:id="rId2"/>
    <p:sldId id="258" r:id="rId4"/>
    <p:sldId id="257" r:id="rId3"/>
    <p:sldId id="259" r:id="rId5"/>
    <p:sldId id="261" r:id="rId7"/>
    <p:sldId id="263" r:id="rId9"/>
    <p:sldId id="264" r:id="rId10"/>
    <p:sldId id="265" r:id="rId11"/>
    <p:sldId id="266" r:id="rId12"/>
    <p:sldId id="267" r:id="rId13"/>
    <p:sldId id="268" r:id="rId14"/>
    <p:sldId id="262" r:id="rId8"/>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12.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show why we built a small Mini DMA setup and where it fits in our microwire workflow.
The main point is not that it replaces a commercial DMA. The point is that it lets us screen many samples quickly before choosing the few that deserve slower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here is preparation. We need a way to learn which preparation choices are promising before spending a lot of time on detailed validation.
So the workflow is many samples, fast feedback, then selected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Mini DMA is closely connected to the EDA work. The EDA is trying to connect fabrication and process data with experimental response.
For example, here we already see process variables ranked by correlation with strain in the manual dataset.
The Mini DMA gives us a way to generate more response data faster, so the correlations are not based only on slow manual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setup, I was doing stress-strain measurements manually.
They are useful, but one measurement at one current value could take around half an hour of hands-on work.
That is not practical if the goal is to screen many wires and many preparation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DMA is still the reference measurement. It is more precise and it is the method we trust for validation.
The problem is using it as the first filter. If every preparation variant has to go through this step first, feedback is too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intended workflow.
The Mini DMA sits before commercial DMA. It is not presented as a better commercial instrument.
It is a faster decision tool that lets us reserve the reference measurement for the best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is intentionally simple. The stepper motor provides controlled displacement, and the scale measures force through the change in weight.
The smallest motor step is 10 micrometers. The scale resolution is 0.05 grams, and the scale has about 200 milliseconds of latency.
The power supply is used to heat the wire by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measurement works like an isostress measurement on a commercial DMA.
I set a stress target. Then the current increases and the wire heats.
When transformation starts, the wire contracts, so the load on the scale changes and the calculated stress rises.
The motor then moves down to bring the stress back to the target. Since we know how much the motor moved, we know the strain.
On cooling, the wire elongates again and the motor moves in the opposite direction to hold the same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setup only knows motor displacement, I first need to establish the initial wire length.
At the start of a run, the system moves to a known stress target, for example 20 MPa, and asks me to enter the measured wire length.
Then it moves back toward zero load. The wire can still pull slightly even when it is not perfectly straight, so I do not simply use the first low force value.
Instead, I fit the linear part of load versus displacement and detect where the response stops following that line. That becomes the new baseline.
Since I know the displacement from the measured target state to this baseline, I can calculate the effective initial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has to be precise but not painfully slow.
When it is far from the target, the motor takes larger steps and can move continuously in a cruise mode.
Because the scale value has about 200 milliseconds of latency, the controller checks retrospectively whether it is approaching correctly.
Near the target, it switches to a more careful mode: move, wait for a fresh scale value, then move again.
The closer it gets, the smaller the step becomes, down to a single 10 micrometer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measurement from the Mini DMA setup.
For this presentation I would keep only the lower stress curves on the plot, because the full version is too cluttered.
Since the current is measured during the sweep, we can also calculate the electrical power needed to reach a given contraction, for example 10 percent.
That matters for practical actuator applications, where the power requirement is part of the usefulness of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 would show the two graph types side by side and then make the price contrast very explicit. The numbers are approximate, but the order of magnitude is the point: a cheap screening setup lets us try many more wires before choosing what deserves commercial DMA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removed the synthetic thermal graph here because it was not the real image you wanted.
The next step is to connect the thermal camera to the same measurement so we know not only the current and power, but also the actual temperature of the wire.
That would also let us measure the thermal response during transformation, including the elastocaloric effect.
I could not find the real thermocamera frame from the older presentation in the local repo, so this slide uses only the real camera-hardware photo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point is that this was not only a hardware project. It was also an example of what AI makes possible now.
ChatGPT helped choose the components and explained the wiring in very concrete terms, down to which cable should go to which pin.
Then I connected it to the PC and Codex wrote the software, installed the correct drivers, and helped make the setup actually run.
Overall, it took around two weeks. A few years ago I would probably need someone for electronics and someone else for software.
Now, if someone has a small experimental idea, they can get surprisingly far by themselves. That is the part I want people to notice and use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jpe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slide13-comparison.png"/></Relationships>
</file>

<file path=ppt/slides/_rels/slide12.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 Id="rId4" Type="http://schemas.openxmlformats.org/officeDocument/2006/relationships/image" Target="../media/image3.png"/><Relationship Id="rId5"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txBody>
          <a:bodyPr/>
          <a:p/>
        </p:txBody>
      </p:sp>
      <p:sp>
        <p:nvSpPr>
          <p:cNvPr id="3" name="Shape 1"/>
          <p:cNvSpPr/>
          <p:nvPr/>
        </p:nvSpPr>
        <p:spPr>
          <a:xfrm>
            <a:off x="6400800" y="0"/>
            <a:ext cx="5788152" cy="6858000"/>
          </a:xfrm>
          <a:prstGeom prst="rect">
            <a:avLst/>
          </a:prstGeom>
          <a:solidFill>
            <a:srgbClr val="FFFFFF"/>
          </a:solidFill>
          <a:ln w="12700">
            <a:solidFill>
              <a:srgbClr val="D9DEE8"/>
            </a:solidFill>
            <a:prstDash val="solid"/>
          </a:ln>
        </p:spPr>
        <p:txBody>
          <a:bodyPr/>
          <a:p/>
        </p:txBody>
      </p:sp>
      <p:pic>
        <p:nvPicPr>
          <p:cNvPr id="4" name="Image 0" descr="/Users/martin/PyPlot/outputs/manual-20260520-mini-dma-deck-v3/presentations/mini-dma-colloquium/source_unzipped/ppt/media/image.png">    </p:cNvPr>
          <p:cNvPicPr>
            <a:picLocks noChangeAspect="1"/>
          </p:cNvPicPr>
          <p:nvPr/>
        </p:nvPicPr>
        <p:blipFill>
          <a:blip r:embed="rId1"/>
          <a:srcRect l="18437" r="18437"/>
          <a:stretch>
            <a:fillRect/>
          </a:stretch>
        </p:blipFill>
        <p:spPr>
          <a:xfrm>
            <a:off x="6446520" y="45720"/>
            <a:ext cx="5696712" cy="6766560"/>
          </a:xfrm>
          <a:prstGeom prst="rect">
            <a:avLst/>
          </a:prstGeom>
        </p:spPr>
      </p:pic>
      <p:sp>
        <p:nvSpPr>
          <p:cNvPr id="5" name="Shape 2"/>
          <p:cNvSpPr/>
          <p:nvPr/>
        </p:nvSpPr>
        <p:spPr>
          <a:xfrm>
            <a:off x="5806440" y="0"/>
            <a:ext cx="960120" cy="6858000"/>
          </a:xfrm>
          <a:prstGeom prst="rect">
            <a:avLst/>
          </a:prstGeom>
          <a:solidFill>
            <a:srgbClr val="F7F9FC">
              <a:alpha val="92000"/>
            </a:srgbClr>
          </a:solidFill>
          <a:ln w="12700">
            <a:solidFill>
              <a:srgbClr val="333333">
                <a:alpha val="0"/>
              </a:srgbClr>
            </a:solidFill>
            <a:prstDash val="solid"/>
          </a:ln>
        </p:spPr>
        <p:txBody>
          <a:bodyPr/>
          <a:p/>
        </p:txBody>
      </p:sp>
      <p:sp>
        <p:nvSpPr>
          <p:cNvPr id="6" name="Text 3"/>
          <p:cNvSpPr/>
          <p:nvPr/>
        </p:nvSpPr>
        <p:spPr>
          <a:xfrm>
            <a:off x="658368" y="1444752"/>
            <a:ext cx="5074920" cy="1325880"/>
          </a:xfrm>
          <a:prstGeom prst="rect">
            <a:avLst/>
          </a:prstGeom>
          <a:noFill/>
          <a:ln/>
        </p:spPr>
        <p:txBody>
          <a:bodyPr wrap="square" lIns="0" tIns="0" rIns="0" bIns="0" rtlCol="0" anchor="ctr">
            <a:normAutofit/>
          </a:bodyPr>
          <a:lstStyle/>
          <a:p>
            <a:pPr indent="0" marL="0">
              <a:buNone/>
            </a:pPr>
            <a:r>
              <a:rPr lang="en-US" sz="3400" b="1" dirty="0">
                <a:solidFill>
                  <a:srgbClr val="151922"/>
                </a:solidFill>
                <a:latin typeface="Helvetica Neue" pitchFamily="34" charset="0"/>
                <a:ea typeface="Helvetica Neue" pitchFamily="34" charset="-122"/>
                <a:cs typeface="Helvetica Neue" pitchFamily="34" charset="-120"/>
              </a:rPr>
              <a:t>Instrumentation developed for Ni–Fe–Ga research</a:t>
            </a:r>
            <a:endParaRPr lang="en-US" sz="3400" dirty="0"/>
          </a:p>
          <a:p>
            <a:pPr indent="0" marL="0">
              <a:buNone/>
            </a:pPr>
            <a:r>
              <a:rPr lang="en-US" sz="3400" b="1" dirty="0">
                <a:solidFill>
                  <a:srgbClr val="151922"/>
                </a:solidFill>
                <a:latin typeface="Helvetica Neue" pitchFamily="34" charset="0"/>
                <a:ea typeface="Helvetica Neue" pitchFamily="34" charset="-122"/>
                <a:cs typeface="Helvetica Neue" pitchFamily="34" charset="-120"/>
              </a:rPr>
              <a:t/>
            </a:r>
            <a:endParaRPr lang="en-US" sz="3400" dirty="0"/>
          </a:p>
        </p:txBody>
      </p:sp>
      <p:sp>
        <p:nvSpPr>
          <p:cNvPr id="7" name="Text 4"/>
          <p:cNvSpPr/>
          <p:nvPr/>
        </p:nvSpPr>
        <p:spPr>
          <a:xfrm>
            <a:off x="694944" y="2971800"/>
            <a:ext cx="4983480" cy="420624"/>
          </a:xfrm>
          <a:prstGeom prst="rect">
            <a:avLst/>
          </a:prstGeom>
          <a:noFill/>
          <a:ln/>
        </p:spPr>
        <p:txBody>
          <a:bodyPr wrap="square" lIns="0" tIns="0" rIns="0" bIns="0" rtlCol="0" anchor="ctr">
            <a:normAutofit/>
          </a:bodyPr>
          <a:lstStyle/>
          <a:p>
            <a:pPr indent="0" marL="0">
              <a:buNone/>
            </a:pPr>
            <a:r>
              <a:rPr lang="en-US" sz="1600" dirty="0">
                <a:solidFill>
                  <a:srgbClr val="2F3642"/>
                </a:solidFill>
              </a:rPr>
              <a:t>Fast iso-stress measurements before commercial DMA validation</a:t>
            </a:r>
            <a:endParaRPr lang="en-US" sz="1600" dirty="0"/>
          </a:p>
        </p:txBody>
      </p:sp>
      <p:sp>
        <p:nvSpPr>
          <p:cNvPr id="8" name="Shape 5"/>
          <p:cNvSpPr/>
          <p:nvPr/>
        </p:nvSpPr>
        <p:spPr>
          <a:xfrm>
            <a:off x="713232" y="3657600"/>
            <a:ext cx="3200400" cy="0"/>
          </a:xfrm>
          <a:prstGeom prst="line">
            <a:avLst/>
          </a:prstGeom>
          <a:noFill/>
          <a:ln w="30480">
            <a:solidFill>
              <a:srgbClr val="1F4E79"/>
            </a:solidFill>
            <a:prstDash val="solid"/>
          </a:ln>
        </p:spPr>
        <p:txBody>
          <a:bodyPr/>
          <a:p/>
        </p:txBody>
      </p:sp>
      <p:sp>
        <p:nvSpPr>
          <p:cNvPr id="9" name="Text 6"/>
          <p:cNvSpPr/>
          <p:nvPr/>
        </p:nvSpPr>
        <p:spPr>
          <a:xfrm>
            <a:off x="713232" y="3895344"/>
            <a:ext cx="3383280" cy="228600"/>
          </a:xfrm>
          <a:prstGeom prst="rect">
            <a:avLst/>
          </a:prstGeom>
          <a:noFill/>
          <a:ln/>
        </p:spPr>
        <p:txBody>
          <a:bodyPr wrap="square" lIns="0" tIns="0" rIns="0" bIns="0" rtlCol="0" anchor="ctr">
            <a:normAutofit/>
          </a:bodyPr>
          <a:lstStyle/>
          <a:p>
            <a:pPr indent="0" marL="0">
              <a:buNone/>
            </a:pPr>
            <a:r>
              <a:rPr lang="en-US" sz="1100" dirty="0">
                <a:solidFill>
                  <a:srgbClr val="687386"/>
                </a:solidFill>
              </a:rPr>
              <a:t>Martin Elias | 21 May 2026</a:t>
            </a:r>
            <a:endParaRPr lang="en-US" sz="1100" dirty="0"/>
          </a:p>
        </p:txBody>
      </p:sp>
      <p:sp>
        <p:nvSpPr>
          <p:cNvPr id="10" name="Text 7"/>
          <p:cNvSpPr/>
          <p:nvPr/>
        </p:nvSpPr>
        <p:spPr>
          <a:xfrm>
            <a:off x="11201400" y="6400800"/>
            <a:ext cx="502920" cy="201168"/>
          </a:xfrm>
          <a:prstGeom prst="rect">
            <a:avLst/>
          </a:prstGeom>
          <a:noFill/>
          <a:ln/>
        </p:spPr>
        <p:txBody>
          <a:bodyPr wrap="square" lIns="0" tIns="0" rIns="0" bIns="0" rtlCol="0" anchor="ctr">
            <a:normAutofit/>
          </a:bodyPr>
          <a:lstStyle/>
          <a:p>
            <a:pPr algn="r" indent="0" marL="0">
              <a:buNone/>
            </a:pPr>
            <a:r>
              <a:rPr sz="800">
                <a:solidFill>
                  <a:srgbClr val="4F5E73"/>
                </a:solidFill>
                <a:latin typeface="Aptos"/>
              </a:rPr>
              <a:t>01</a:t>
            </a:r>
            <a:endParaRPr lang="en-US" sz="900" dirty="0"/>
          </a:p>
        </p:txBody>
      </p:sp>
    </p:spTree>
  </p:cSld>
  <p:clrMapOvr>
    <a:masterClrMapping/>
  </p:clrMapOvr>
</p:sld>
</file>

<file path=ppt/slides/slide2.xml><?xml version="1.0" encoding="utf-8"?>
<p:sld xmlns:a="http://schemas.openxmlformats.org/drawingml/2006/main"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9784080" cy="438912"/>
          </a:xfrm>
          <a:prstGeom prst="rect">
            <a:avLst/>
          </a:prstGeom>
          <a:noFill/>
          <a:ln/>
        </p:spPr>
        <p:txBody>
          <a:bodyPr wrap="square" lIns="0" tIns="0" rIns="0" bIns="0" rtlCol="0" anchor="ctr">
            <a:normAutofit/>
          </a:bodyPr>
          <a:lstStyle/>
          <a:p>
            <a:pPr indent="0" marL="0">
              <a:buNone/>
            </a:pPr>
            <a:r>
              <a:rPr lang="en-US" sz="2500" b="1" dirty="0">
                <a:solidFill>
                  <a:srgbClr val="151922"/>
                </a:solidFill>
                <a:latin typeface="Helvetica Neue" pitchFamily="34" charset="0"/>
                <a:ea typeface="Helvetica Neue" pitchFamily="34" charset="-122"/>
                <a:cs typeface="Helvetica Neue" pitchFamily="34" charset="-120"/>
              </a:rPr>
              <a:t>Goal</a:t>
            </a:r>
            <a:endParaRPr lang="en-US" sz="2500" dirty="0"/>
          </a:p>
        </p:txBody>
      </p:sp>
      <p:sp>
        <p:nvSpPr>
          <p:cNvPr id="3" name="Shape 1"/>
          <p:cNvSpPr/>
          <p:nvPr/>
        </p:nvSpPr>
        <p:spPr>
          <a:xfrm>
            <a:off x="585216" y="1078992"/>
            <a:ext cx="11018520" cy="0"/>
          </a:xfrm>
          <a:prstGeom prst="line">
            <a:avLst/>
          </a:prstGeom>
          <a:noFill/>
          <a:ln w="12700">
            <a:solidFill>
              <a:srgbClr val="D9DEE8"/>
            </a:solidFill>
            <a:prstDash val="solid"/>
          </a:ln>
        </p:spPr>
        <p:txBody>
          <a:bodyPr/>
          <a:p/>
        </p:txBody>
      </p:sp>
      <p:sp>
        <p:nvSpPr>
          <p:cNvPr id="4" name="Shape 2"/>
          <p:cNvSpPr/>
          <p:nvPr/>
        </p:nvSpPr>
        <p:spPr>
          <a:xfrm>
            <a:off x="731520" y="1737360"/>
            <a:ext cx="2423160" cy="868680"/>
          </a:xfrm>
          <a:prstGeom prst="rect">
            <a:avLst>
              <a:gd name="adj" fmla="val 5263"/>
            </a:avLst>
          </a:prstGeom>
          <a:solidFill>
            <a:srgbClr val="FFFFFF"/>
          </a:solidFill>
          <a:ln w="17780">
            <a:solidFill>
              <a:srgbClr val="1F4E79"/>
            </a:solidFill>
            <a:prstDash val="solid"/>
          </a:ln>
        </p:spPr>
        <p:txBody>
          <a:bodyPr/>
          <a:p/>
        </p:txBody>
      </p:sp>
      <p:sp>
        <p:nvSpPr>
          <p:cNvPr id="5" name="Text 3"/>
          <p:cNvSpPr/>
          <p:nvPr/>
        </p:nvSpPr>
        <p:spPr>
          <a:xfrm>
            <a:off x="896112" y="1865376"/>
            <a:ext cx="2093976" cy="640080"/>
          </a:xfrm>
          <a:prstGeom prst="rect">
            <a:avLst/>
          </a:prstGeom>
          <a:noFill/>
          <a:ln/>
        </p:spPr>
        <p:txBody>
          <a:bodyPr wrap="square" lIns="381" tIns="381" rIns="381" bIns="381" rtlCol="0" anchor="ctr">
            <a:normAutofit/>
          </a:bodyPr>
          <a:lstStyle/>
          <a:p>
            <a:pPr algn="ctr" indent="0" marL="0">
              <a:buNone/>
            </a:pPr>
            <a:r>
              <a:rPr lang="en-US" sz="2200" b="1" dirty="0">
                <a:solidFill>
                  <a:srgbClr val="1F4E79"/>
                </a:solidFill>
                <a:latin typeface="Helvetica" pitchFamily="34" charset="0"/>
                <a:ea typeface="Helvetica" pitchFamily="34" charset="-122"/>
                <a:cs typeface="Helvetica" pitchFamily="34" charset="-120"/>
              </a:rPr>
              <a:t>Many samples</a:t>
            </a:r>
            <a:endParaRPr lang="en-US" sz="2200" dirty="0"/>
          </a:p>
        </p:txBody>
      </p:sp>
      <p:sp>
        <p:nvSpPr>
          <p:cNvPr id="6" name="Shape 4"/>
          <p:cNvSpPr/>
          <p:nvPr/>
        </p:nvSpPr>
        <p:spPr>
          <a:xfrm>
            <a:off x="4846320" y="1737360"/>
            <a:ext cx="2423160" cy="868680"/>
          </a:xfrm>
          <a:prstGeom prst="rect">
            <a:avLst>
              <a:gd name="adj" fmla="val 5263"/>
            </a:avLst>
          </a:prstGeom>
          <a:solidFill>
            <a:srgbClr val="FFFFFF"/>
          </a:solidFill>
          <a:ln w="17780">
            <a:solidFill>
              <a:srgbClr val="2F8F83"/>
            </a:solidFill>
            <a:prstDash val="solid"/>
          </a:ln>
        </p:spPr>
        <p:txBody>
          <a:bodyPr/>
          <a:p/>
        </p:txBody>
      </p:sp>
      <p:sp>
        <p:nvSpPr>
          <p:cNvPr id="7" name="Text 5"/>
          <p:cNvSpPr/>
          <p:nvPr/>
        </p:nvSpPr>
        <p:spPr>
          <a:xfrm>
            <a:off x="5010912" y="1865376"/>
            <a:ext cx="2093976" cy="640080"/>
          </a:xfrm>
          <a:prstGeom prst="rect">
            <a:avLst/>
          </a:prstGeom>
          <a:noFill/>
          <a:ln/>
        </p:spPr>
        <p:txBody>
          <a:bodyPr wrap="square" lIns="381" tIns="381" rIns="381" bIns="381" rtlCol="0" anchor="ctr">
            <a:normAutofit/>
          </a:bodyPr>
          <a:lstStyle/>
          <a:p>
            <a:pPr algn="ctr" indent="0" marL="0">
              <a:buNone/>
            </a:pPr>
            <a:r>
              <a:rPr lang="en-US" sz="2200" b="1" dirty="0">
                <a:solidFill>
                  <a:srgbClr val="2F8F83"/>
                </a:solidFill>
                <a:latin typeface="Helvetica" pitchFamily="34" charset="0"/>
                <a:ea typeface="Helvetica" pitchFamily="34" charset="-122"/>
                <a:cs typeface="Helvetica" pitchFamily="34" charset="-120"/>
              </a:rPr>
              <a:t>Fast feedback</a:t>
            </a:r>
            <a:endParaRPr lang="en-US" sz="2200" dirty="0"/>
          </a:p>
        </p:txBody>
      </p:sp>
      <p:sp>
        <p:nvSpPr>
          <p:cNvPr id="8" name="Shape 6"/>
          <p:cNvSpPr/>
          <p:nvPr/>
        </p:nvSpPr>
        <p:spPr>
          <a:xfrm>
            <a:off x="8915400" y="1737360"/>
            <a:ext cx="2423160" cy="868680"/>
          </a:xfrm>
          <a:prstGeom prst="rect">
            <a:avLst>
              <a:gd name="adj" fmla="val 5263"/>
            </a:avLst>
          </a:prstGeom>
          <a:solidFill>
            <a:srgbClr val="FFFFFF"/>
          </a:solidFill>
          <a:ln w="17780">
            <a:solidFill>
              <a:srgbClr val="F08B2D"/>
            </a:solidFill>
            <a:prstDash val="solid"/>
          </a:ln>
        </p:spPr>
        <p:txBody>
          <a:bodyPr/>
          <a:p/>
        </p:txBody>
      </p:sp>
      <p:sp>
        <p:nvSpPr>
          <p:cNvPr id="9" name="Text 7"/>
          <p:cNvSpPr/>
          <p:nvPr/>
        </p:nvSpPr>
        <p:spPr>
          <a:xfrm>
            <a:off x="9079992" y="1865376"/>
            <a:ext cx="2093976" cy="640080"/>
          </a:xfrm>
          <a:prstGeom prst="rect">
            <a:avLst/>
          </a:prstGeom>
          <a:noFill/>
          <a:ln/>
        </p:spPr>
        <p:txBody>
          <a:bodyPr wrap="square" lIns="381" tIns="381" rIns="381" bIns="381" rtlCol="0" anchor="ctr">
            <a:normAutofit/>
          </a:bodyPr>
          <a:lstStyle/>
          <a:p>
            <a:pPr algn="ctr" indent="0" marL="0">
              <a:buNone/>
            </a:pPr>
            <a:r>
              <a:rPr lang="en-US" sz="2200" b="1" dirty="0">
                <a:solidFill>
                  <a:srgbClr val="F08B2D"/>
                </a:solidFill>
                <a:latin typeface="Helvetica" pitchFamily="34" charset="0"/>
                <a:ea typeface="Helvetica" pitchFamily="34" charset="-122"/>
                <a:cs typeface="Helvetica" pitchFamily="34" charset="-120"/>
              </a:rPr>
              <a:t>Selected validation</a:t>
            </a:r>
            <a:endParaRPr lang="en-US" sz="2200" dirty="0"/>
          </a:p>
        </p:txBody>
      </p:sp>
      <p:sp>
        <p:nvSpPr>
          <p:cNvPr id="10" name="Shape 8"/>
          <p:cNvSpPr/>
          <p:nvPr/>
        </p:nvSpPr>
        <p:spPr>
          <a:xfrm>
            <a:off x="3383280" y="2176272"/>
            <a:ext cx="1143000" cy="0"/>
          </a:xfrm>
          <a:prstGeom prst="line">
            <a:avLst/>
          </a:prstGeom>
          <a:noFill/>
          <a:ln w="25400">
            <a:solidFill>
              <a:srgbClr val="D9DEE8"/>
            </a:solidFill>
            <a:prstDash val="solid"/>
            <a:headEnd type="none"/>
            <a:tailEnd type="triangle"/>
          </a:ln>
        </p:spPr>
        <p:txBody>
          <a:bodyPr/>
          <a:p/>
        </p:txBody>
      </p:sp>
      <p:sp>
        <p:nvSpPr>
          <p:cNvPr id="11" name="Shape 9"/>
          <p:cNvSpPr/>
          <p:nvPr/>
        </p:nvSpPr>
        <p:spPr>
          <a:xfrm>
            <a:off x="7498080" y="2176272"/>
            <a:ext cx="1143000" cy="0"/>
          </a:xfrm>
          <a:prstGeom prst="line">
            <a:avLst/>
          </a:prstGeom>
          <a:noFill/>
          <a:ln w="25400">
            <a:solidFill>
              <a:srgbClr val="D9DEE8"/>
            </a:solidFill>
            <a:prstDash val="solid"/>
            <a:headEnd type="none"/>
            <a:tailEnd type="triangle"/>
          </a:ln>
        </p:spPr>
        <p:txBody>
          <a:bodyPr/>
          <a:p/>
        </p:txBody>
      </p:sp>
      <p:sp>
        <p:nvSpPr>
          <p:cNvPr id="12" name="Text 10"/>
          <p:cNvSpPr/>
          <p:nvPr/>
        </p:nvSpPr>
        <p:spPr>
          <a:xfrm>
            <a:off x="1005840" y="3730752"/>
            <a:ext cx="10149840" cy="1325880"/>
          </a:xfrm>
          <a:prstGeom prst="rect">
            <a:avLst/>
          </a:prstGeom>
          <a:noFill/>
          <a:ln/>
        </p:spPr>
        <p:txBody>
          <a:bodyPr wrap="square" lIns="635" tIns="635" rIns="635" bIns="635" rtlCol="0" anchor="ctr">
            <a:normAutofit/>
          </a:bodyPr>
          <a:lstStyle/>
          <a:p>
            <a:pPr marL="203200" indent="-203200">
              <a:buSzPct val="100000"/>
              <a:buChar char="•"/>
            </a:pPr>
            <a:r>
              <a:rPr lang="en-US" sz="2200" dirty="0">
                <a:solidFill>
                  <a:srgbClr val="2F3642"/>
                </a:solidFill>
                <a:latin typeface="Helvetica" pitchFamily="34" charset="0"/>
                <a:ea typeface="Helvetica" pitchFamily="34" charset="-122"/>
                <a:cs typeface="Helvetica" pitchFamily="34" charset="-120"/>
              </a:rPr>
              <a:t>Microwire properties depend on preparation choices.</a:t>
            </a:r>
            <a:endParaRPr lang="en-US" sz="2200" dirty="0"/>
          </a:p>
          <a:p>
            <a:pPr marL="203200" indent="-203200">
              <a:buSzPct val="100000"/>
              <a:buChar char="•"/>
            </a:pPr>
            <a:r>
              <a:rPr lang="en-US" sz="2200" dirty="0">
                <a:solidFill>
                  <a:srgbClr val="2F3642"/>
                </a:solidFill>
                <a:latin typeface="Helvetica" pitchFamily="34" charset="0"/>
                <a:ea typeface="Helvetica" pitchFamily="34" charset="-122"/>
                <a:cs typeface="Helvetica" pitchFamily="34" charset="-120"/>
              </a:rPr>
              <a:t>Screening has to be fast enough to guide the next batch.</a:t>
            </a:r>
            <a:endParaRPr lang="en-US" sz="2200" dirty="0"/>
          </a:p>
          <a:p>
            <a:pPr marL="203200" indent="-203200">
              <a:buSzPct val="100000"/>
              <a:buChar char="•"/>
            </a:pPr>
            <a:r>
              <a:rPr lang="en-US" sz="2200" dirty="0">
                <a:solidFill>
                  <a:srgbClr val="2F3642"/>
                </a:solidFill>
                <a:latin typeface="Helvetica" pitchFamily="34" charset="0"/>
                <a:ea typeface="Helvetica" pitchFamily="34" charset="-122"/>
                <a:cs typeface="Helvetica" pitchFamily="34" charset="-120"/>
              </a:rPr>
              <a:t>Commercial DMA remains the reference step, but not the first step.</a:t>
            </a:r>
            <a:endParaRPr lang="en-US" sz="2200" dirty="0"/>
          </a:p>
        </p:txBody>
      </p:sp>
      <p:sp>
        <p:nvSpPr>
          <p:cNvPr id="13" name="Text 11"/>
          <p:cNvSpPr/>
          <p:nvPr/>
        </p:nvSpPr>
        <p:spPr>
          <a:xfrm>
            <a:off x="11201400" y="6400800"/>
            <a:ext cx="502920" cy="201168"/>
          </a:xfrm>
          <a:prstGeom prst="rect">
            <a:avLst/>
          </a:prstGeom>
          <a:noFill/>
          <a:ln/>
        </p:spPr>
        <p:txBody>
          <a:bodyPr wrap="square" lIns="0" tIns="0" rIns="0" bIns="0" rtlCol="0" anchor="ctr">
            <a:normAutofit/>
          </a:bodyPr>
          <a:lstStyle/>
          <a:p>
            <a:pPr algn="r" indent="0" marL="0">
              <a:buNone/>
            </a:pPr>
            <a:r>
              <a:rPr sz="800">
                <a:solidFill>
                  <a:srgbClr val="4F5E73"/>
                </a:solidFill>
                <a:latin typeface="Aptos"/>
              </a:rPr>
              <a:t>03</a:t>
            </a:r>
            <a:endParaRPr lang="en-US" sz="9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9784080" cy="438912"/>
          </a:xfrm>
          <a:prstGeom prst="rect">
            <a:avLst/>
          </a:prstGeom>
          <a:noFill/>
          <a:ln/>
        </p:spPr>
        <p:txBody>
          <a:bodyPr wrap="square" lIns="0" tIns="0" rIns="0" bIns="0" rtlCol="0" anchor="ctr">
            <a:normAutofit/>
          </a:bodyPr>
          <a:lstStyle/>
          <a:p>
            <a:pPr indent="0" marL="0">
              <a:buNone/>
            </a:pPr>
            <a:r>
              <a:rPr lang="en-US" sz="2500" b="1" dirty="0">
                <a:solidFill>
                  <a:srgbClr val="151922"/>
                </a:solidFill>
                <a:latin typeface="Helvetica Neue" pitchFamily="34" charset="0"/>
                <a:ea typeface="Helvetica Neue" pitchFamily="34" charset="-122"/>
                <a:cs typeface="Helvetica Neue" pitchFamily="34" charset="-120"/>
              </a:rPr>
              <a:t>Many variables</a:t>
            </a:r>
            <a:endParaRPr lang="en-US" sz="2500" dirty="0"/>
          </a:p>
        </p:txBody>
      </p:sp>
      <p:sp>
        <p:nvSpPr>
          <p:cNvPr id="3" name="Text 1"/>
          <p:cNvSpPr/>
          <p:nvPr/>
        </p:nvSpPr>
        <p:spPr>
          <a:xfrm>
            <a:off x="585216" y="804672"/>
            <a:ext cx="8138160" cy="237744"/>
          </a:xfrm>
          <a:prstGeom prst="rect">
            <a:avLst/>
          </a:prstGeom>
          <a:noFill/>
          <a:ln/>
        </p:spPr>
        <p:txBody>
          <a:bodyPr wrap="square" lIns="0" tIns="0" rIns="0" bIns="0" rtlCol="0" anchor="ctr">
            <a:normAutofit/>
          </a:bodyPr>
          <a:lstStyle/>
          <a:p>
            <a:pPr indent="0" marL="0">
              <a:buNone/>
            </a:pPr>
            <a:r>
              <a:rPr lang="en-US" sz="1050" dirty="0">
                <a:solidFill>
                  <a:srgbClr val="687386"/>
                </a:solidFill>
                <a:latin typeface="Helvetica" pitchFamily="34" charset="0"/>
                <a:ea typeface="Helvetica" pitchFamily="34" charset="-122"/>
                <a:cs typeface="Helvetica" pitchFamily="34" charset="-120"/>
              </a:rPr>
              <a:t>Preparation, geometry, transformation temperatures, stress, and strain</a:t>
            </a:r>
            <a:endParaRPr lang="en-US" sz="1050" dirty="0"/>
          </a:p>
        </p:txBody>
      </p:sp>
      <p:sp>
        <p:nvSpPr>
          <p:cNvPr id="4" name="Shape 2"/>
          <p:cNvSpPr/>
          <p:nvPr/>
        </p:nvSpPr>
        <p:spPr>
          <a:xfrm>
            <a:off x="585216" y="1078992"/>
            <a:ext cx="11018520" cy="0"/>
          </a:xfrm>
          <a:prstGeom prst="line">
            <a:avLst/>
          </a:prstGeom>
          <a:noFill/>
          <a:ln w="12700">
            <a:solidFill>
              <a:srgbClr val="D9DEE8"/>
            </a:solidFill>
            <a:prstDash val="solid"/>
          </a:ln>
        </p:spPr>
        <p:txBody>
          <a:bodyPr/>
          <a:p/>
        </p:txBody>
      </p:sp>
      <p:sp>
        <p:nvSpPr>
          <p:cNvPr id="5" name="Shape 3"/>
          <p:cNvSpPr/>
          <p:nvPr/>
        </p:nvSpPr>
        <p:spPr>
          <a:xfrm>
            <a:off x="868680" y="1298448"/>
            <a:ext cx="6812280" cy="4800600"/>
          </a:xfrm>
          <a:prstGeom prst="rect">
            <a:avLst/>
          </a:prstGeom>
          <a:solidFill>
            <a:srgbClr val="FFFFFF"/>
          </a:solidFill>
          <a:ln w="12700">
            <a:solidFill>
              <a:srgbClr val="D9DEE8"/>
            </a:solidFill>
            <a:prstDash val="solid"/>
          </a:ln>
        </p:spPr>
        <p:txBody>
          <a:bodyPr/>
          <a:p/>
        </p:txBody>
      </p:sp>
      <p:pic>
        <p:nvPicPr>
          <p:cNvPr id="6" name="Image 0" descr="/Users/martin/PyPlot/artifacts/microwire_eda_manual/output/Praha-Manual-EDA/figures/process_strain_correlation.png">    </p:cNvPr>
          <p:cNvPicPr>
            <a:picLocks noChangeAspect="1"/>
          </p:cNvPicPr>
          <p:nvPr/>
        </p:nvPicPr>
        <p:blipFill>
          <a:blip r:embed="rId1"/>
          <a:stretch>
            <a:fillRect/>
          </a:stretch>
        </p:blipFill>
        <p:spPr>
          <a:xfrm>
            <a:off x="914400" y="1344168"/>
            <a:ext cx="6720840" cy="4709160"/>
          </a:xfrm>
          <a:prstGeom prst="rect">
            <a:avLst/>
          </a:prstGeom>
        </p:spPr>
      </p:pic>
      <p:sp>
        <p:nvSpPr>
          <p:cNvPr id="7" name="Text 4"/>
          <p:cNvSpPr/>
          <p:nvPr/>
        </p:nvSpPr>
        <p:spPr>
          <a:xfrm>
            <a:off x="960120" y="5806440"/>
            <a:ext cx="6629400" cy="182880"/>
          </a:xfrm>
          <a:prstGeom prst="rect">
            <a:avLst/>
          </a:prstGeom>
          <a:noFill/>
          <a:ln/>
        </p:spPr>
        <p:txBody>
          <a:bodyPr wrap="square" lIns="0" tIns="0" rIns="0" bIns="0" rtlCol="0" anchor="ctr">
            <a:normAutofit/>
          </a:bodyPr>
          <a:lstStyle/>
          <a:p>
            <a:pPr algn="r" indent="0" marL="0">
              <a:buNone/>
            </a:pPr>
            <a:r>
              <a:rPr lang="en-US" sz="850" dirty="0">
                <a:solidFill>
                  <a:srgbClr val="687386"/>
                </a:solidFill>
                <a:latin typeface="Helvetica" pitchFamily="34" charset="0"/>
                <a:ea typeface="Helvetica" pitchFamily="34" charset="-122"/>
                <a:cs typeface="Helvetica" pitchFamily="34" charset="-120"/>
              </a:rPr>
              <a:t>Correlation matrix from the microwire dataset</a:t>
            </a:r>
            <a:endParaRPr lang="en-US" sz="850" dirty="0"/>
          </a:p>
        </p:txBody>
      </p:sp>
      <p:sp>
        <p:nvSpPr>
          <p:cNvPr id="8" name="Text 5"/>
          <p:cNvSpPr/>
          <p:nvPr/>
        </p:nvSpPr>
        <p:spPr>
          <a:xfrm>
            <a:off x="7909560" y="1536192"/>
            <a:ext cx="3520440" cy="4297680"/>
          </a:xfrm>
          <a:prstGeom prst="rect">
            <a:avLst/>
          </a:prstGeom>
          <a:noFill/>
          <a:ln/>
        </p:spPr>
        <p:txBody>
          <a:bodyPr wrap="square" lIns="635" tIns="635" rIns="635" bIns="635" rtlCol="0" anchor="ctr">
            <a:normAutofit/>
          </a:bodyPr>
          <a:lstStyle/>
          <a:p>
            <a:pPr marL="203200" indent="-203200">
              <a:buSzPct val="100000"/>
              <a:buChar char="•"/>
            </a:pPr>
            <a:r>
              <a:rPr lang="en-US" sz="1900" dirty="0">
                <a:solidFill>
                  <a:srgbClr val="2F3642"/>
                </a:solidFill>
                <a:latin typeface="Helvetica" pitchFamily="34" charset="0"/>
                <a:ea typeface="Helvetica" pitchFamily="34" charset="-122"/>
                <a:cs typeface="Helvetica" pitchFamily="34" charset="-120"/>
              </a:rPr>
              <a:t>The goal is to connect preparation data with experimental results.</a:t>
            </a:r>
            <a:endParaRPr lang="en-US" sz="1900" dirty="0"/>
          </a:p>
          <a:p>
            <a:pPr marL="203200" indent="-203200">
              <a:buSzPct val="100000"/>
              <a:buChar char="•"/>
            </a:pPr>
            <a:r>
              <a:rPr lang="en-US" sz="1900" dirty="0">
                <a:solidFill>
                  <a:srgbClr val="2F3642"/>
                </a:solidFill>
                <a:latin typeface="Helvetica" pitchFamily="34" charset="0"/>
                <a:ea typeface="Helvetica" pitchFamily="34" charset="-122"/>
                <a:cs typeface="Helvetica" pitchFamily="34" charset="-120"/>
              </a:rPr>
              <a:t>More measurements make it easier to find wires with high strain.</a:t>
            </a:r>
            <a:endParaRPr lang="en-US" sz="1900" dirty="0"/>
          </a:p>
          <a:p>
            <a:pPr marL="203200" indent="-203200">
              <a:buSzPct val="100000"/>
              <a:buChar char="•"/>
            </a:pPr>
            <a:r>
              <a:rPr lang="en-US" sz="1900" dirty="0">
                <a:solidFill>
                  <a:srgbClr val="2F3642"/>
                </a:solidFill>
                <a:latin typeface="Helvetica" pitchFamily="34" charset="0"/>
                <a:ea typeface="Helvetica" pitchFamily="34" charset="-122"/>
                <a:cs typeface="Helvetica" pitchFamily="34" charset="-120"/>
              </a:rPr>
              <a:t>We also need wires that survive high stress.</a:t>
            </a:r>
            <a:endParaRPr lang="en-US" sz="1900" dirty="0"/>
          </a:p>
        </p:txBody>
      </p:sp>
      <p:sp>
        <p:nvSpPr>
          <p:cNvPr id="9" name="Text 6"/>
          <p:cNvSpPr/>
          <p:nvPr/>
        </p:nvSpPr>
        <p:spPr>
          <a:xfrm>
            <a:off x="11201400" y="6400800"/>
            <a:ext cx="502920" cy="201168"/>
          </a:xfrm>
          <a:prstGeom prst="rect">
            <a:avLst/>
          </a:prstGeom>
          <a:noFill/>
          <a:ln/>
        </p:spPr>
        <p:txBody>
          <a:bodyPr wrap="square" lIns="0" tIns="0" rIns="0" bIns="0" rtlCol="0" anchor="ctr">
            <a:normAutofit/>
          </a:bodyPr>
          <a:lstStyle/>
          <a:p>
            <a:pPr algn="r" indent="0" marL="0">
              <a:buNone/>
            </a:pPr>
            <a:r>
              <a:rPr sz="800">
                <a:solidFill>
                  <a:srgbClr val="4F5E73"/>
                </a:solidFill>
                <a:latin typeface="Aptos"/>
              </a:rPr>
              <a:t>02</a:t>
            </a:r>
            <a:endParaRPr lang="en-US" sz="9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9784080" cy="438912"/>
          </a:xfrm>
          <a:prstGeom prst="rect">
            <a:avLst/>
          </a:prstGeom>
          <a:noFill/>
          <a:ln/>
        </p:spPr>
        <p:txBody>
          <a:bodyPr wrap="square" lIns="0" tIns="0" rIns="0" bIns="0" rtlCol="0" anchor="ctr">
            <a:normAutofit/>
          </a:bodyPr>
          <a:lstStyle/>
          <a:p>
            <a:pPr indent="0" marL="0">
              <a:buNone/>
            </a:pPr>
            <a:r>
              <a:rPr lang="en-US" sz="2500" b="1" dirty="0">
                <a:solidFill>
                  <a:srgbClr val="151922"/>
                </a:solidFill>
                <a:latin typeface="Helvetica Neue" pitchFamily="34" charset="0"/>
                <a:ea typeface="Helvetica Neue" pitchFamily="34" charset="-122"/>
                <a:cs typeface="Helvetica Neue" pitchFamily="34" charset="-120"/>
              </a:rPr>
              <a:t>Manual stress-strain measurements were useful but slow</a:t>
            </a:r>
            <a:endParaRPr lang="en-US" sz="2500" dirty="0"/>
          </a:p>
        </p:txBody>
      </p:sp>
      <p:sp>
        <p:nvSpPr>
          <p:cNvPr id="3" name="Shape 1"/>
          <p:cNvSpPr/>
          <p:nvPr/>
        </p:nvSpPr>
        <p:spPr>
          <a:xfrm>
            <a:off x="585216" y="1078992"/>
            <a:ext cx="11018520" cy="0"/>
          </a:xfrm>
          <a:prstGeom prst="line">
            <a:avLst/>
          </a:prstGeom>
          <a:noFill/>
          <a:ln w="12700">
            <a:solidFill>
              <a:srgbClr val="D9DEE8"/>
            </a:solidFill>
            <a:prstDash val="solid"/>
          </a:ln>
        </p:spPr>
        <p:txBody>
          <a:bodyPr/>
          <a:p/>
        </p:txBody>
      </p:sp>
      <p:sp>
        <p:nvSpPr>
          <p:cNvPr id="4" name="Shape 2"/>
          <p:cNvSpPr/>
          <p:nvPr/>
        </p:nvSpPr>
        <p:spPr>
          <a:xfrm>
            <a:off x="713232" y="1243584"/>
            <a:ext cx="5532120" cy="4041648"/>
          </a:xfrm>
          <a:prstGeom prst="rect">
            <a:avLst/>
          </a:prstGeom>
          <a:solidFill>
            <a:srgbClr val="FFFFFF"/>
          </a:solidFill>
          <a:ln w="12700">
            <a:solidFill>
              <a:srgbClr val="D9DEE8"/>
            </a:solidFill>
            <a:prstDash val="solid"/>
          </a:ln>
        </p:spPr>
        <p:txBody>
          <a:bodyPr/>
          <a:p/>
        </p:txBody>
      </p:sp>
      <p:sp>
        <p:nvSpPr>
          <p:cNvPr id="6" name="Text 3"/>
          <p:cNvSpPr/>
          <p:nvPr/>
        </p:nvSpPr>
        <p:spPr>
          <a:xfrm>
            <a:off x="868680" y="4956048"/>
            <a:ext cx="5166360" cy="182880"/>
          </a:xfrm>
          <a:prstGeom prst="rect">
            <a:avLst/>
          </a:prstGeom>
          <a:noFill/>
          <a:ln/>
        </p:spPr>
        <p:txBody>
          <a:bodyPr wrap="square" lIns="0" tIns="0" rIns="0" bIns="0" rtlCol="0" anchor="ctr">
            <a:normAutofit/>
          </a:bodyPr>
          <a:lstStyle/>
          <a:p>
            <a:pPr algn="r" indent="0" marL="0">
              <a:buNone/>
            </a:pPr>
            <a:r>
              <a:rPr lang="en-US" sz="850" dirty="0">
                <a:solidFill>
                  <a:srgbClr val="687386"/>
                </a:solidFill>
                <a:latin typeface="Helvetica" pitchFamily="34" charset="0"/>
                <a:ea typeface="Helvetica" pitchFamily="34" charset="-122"/>
                <a:cs typeface="Helvetica" pitchFamily="34" charset="-120"/>
              </a:rPr>
              <a:t>Manual stress-strain sample: 50 mA</a:t>
            </a:r>
            <a:endParaRPr lang="en-US" sz="850" dirty="0"/>
          </a:p>
        </p:txBody>
      </p:sp>
      <p:sp>
        <p:nvSpPr>
          <p:cNvPr id="7" name="Shape 4"/>
          <p:cNvSpPr/>
          <p:nvPr/>
        </p:nvSpPr>
        <p:spPr>
          <a:xfrm>
            <a:off x="7909560" y="1481328"/>
            <a:ext cx="2880360" cy="960120"/>
          </a:xfrm>
          <a:prstGeom prst="rect">
            <a:avLst>
              <a:gd name="adj" fmla="val 4762"/>
            </a:avLst>
          </a:prstGeom>
          <a:solidFill>
            <a:srgbClr val="FFFFFF"/>
          </a:solidFill>
          <a:ln w="17780">
            <a:solidFill>
              <a:srgbClr val="D94F4F"/>
            </a:solidFill>
            <a:prstDash val="solid"/>
          </a:ln>
        </p:spPr>
        <p:txBody>
          <a:bodyPr/>
          <a:p/>
        </p:txBody>
      </p:sp>
      <p:sp>
        <p:nvSpPr>
          <p:cNvPr id="8" name="Text 5"/>
          <p:cNvSpPr/>
          <p:nvPr/>
        </p:nvSpPr>
        <p:spPr>
          <a:xfrm>
            <a:off x="8522208" y="1325880"/>
            <a:ext cx="2697480" cy="713232"/>
          </a:xfrm>
          <a:prstGeom prst="rect">
            <a:avLst/>
          </a:prstGeom>
          <a:noFill/>
          <a:ln/>
        </p:spPr>
        <p:txBody>
          <a:bodyPr wrap="square" lIns="381" tIns="381" rIns="381" bIns="381" rtlCol="0" anchor="ctr">
            <a:normAutofit/>
          </a:bodyPr>
          <a:lstStyle/>
          <a:p>
            <a:pPr algn="ctr" indent="0" marL="0">
              <a:buNone/>
            </a:pPr>
            <a:r>
              <a:rPr lang="en-US" sz="2000" b="1" dirty="0">
                <a:solidFill>
                  <a:srgbClr val="D94F4F"/>
                </a:solidFill>
                <a:latin typeface="Helvetica" pitchFamily="34" charset="0"/>
                <a:ea typeface="Helvetica" pitchFamily="34" charset="-122"/>
                <a:cs typeface="Helvetica" pitchFamily="34" charset="-120"/>
              </a:rPr>
              <a:t>One current value</a:t>
            </a:r>
            <a:endParaRPr lang="en-US" sz="2000" dirty="0"/>
          </a:p>
          <a:p>
            <a:pPr algn="ctr" indent="0" marL="0">
              <a:buNone/>
            </a:pPr>
            <a:r>
              <a:rPr lang="en-US" sz="2000" b="1" dirty="0">
                <a:solidFill>
                  <a:srgbClr val="D94F4F"/>
                </a:solidFill>
                <a:latin typeface="Helvetica" pitchFamily="34" charset="0"/>
                <a:ea typeface="Helvetica" pitchFamily="34" charset="-122"/>
                <a:cs typeface="Helvetica" pitchFamily="34" charset="-120"/>
              </a:rPr>
              <a:t>could take ~30 min</a:t>
            </a:r>
            <a:endParaRPr lang="en-US" sz="2000" dirty="0"/>
          </a:p>
        </p:txBody>
      </p:sp>
      <p:sp>
        <p:nvSpPr>
          <p:cNvPr id="9" name="Text 6"/>
          <p:cNvSpPr/>
          <p:nvPr/>
        </p:nvSpPr>
        <p:spPr>
          <a:xfrm>
            <a:off x="8119872" y="2816352"/>
            <a:ext cx="3520440" cy="2304288"/>
          </a:xfrm>
          <a:prstGeom prst="rect">
            <a:avLst/>
          </a:prstGeom>
          <a:noFill/>
          <a:ln/>
        </p:spPr>
        <p:txBody>
          <a:bodyPr wrap="square" lIns="635" tIns="635" rIns="635" bIns="635" rtlCol="0" anchor="ctr">
            <a:normAutofit/>
          </a:bodyPr>
          <a:lstStyle/>
          <a:p>
            <a:pPr marL="203200" indent="-203200">
              <a:buSzPct val="100000"/>
              <a:buChar char="•"/>
            </a:pPr>
            <a:r>
              <a:rPr lang="en-US" sz="1800" dirty="0">
                <a:solidFill>
                  <a:srgbClr val="2F3642"/>
                </a:solidFill>
                <a:latin typeface="Helvetica" pitchFamily="34" charset="0"/>
                <a:ea typeface="Helvetica" pitchFamily="34" charset="-122"/>
                <a:cs typeface="Helvetica" pitchFamily="34" charset="-120"/>
              </a:rPr>
              <a:t>Each point required manual adjustment and waiting.</a:t>
            </a:r>
            <a:endParaRPr lang="en-US" sz="1800" dirty="0"/>
          </a:p>
          <a:p>
            <a:pPr marL="203200" indent="-203200">
              <a:buSzPct val="100000"/>
              <a:buChar char="•"/>
            </a:pPr>
            <a:r>
              <a:rPr lang="en-US" sz="1800" dirty="0">
                <a:solidFill>
                  <a:srgbClr val="2F3642"/>
                </a:solidFill>
                <a:latin typeface="Helvetica" pitchFamily="34" charset="0"/>
                <a:ea typeface="Helvetica" pitchFamily="34" charset="-122"/>
                <a:cs typeface="Helvetica" pitchFamily="34" charset="-120"/>
              </a:rPr>
              <a:t>The result is a snapshot at one current, not a controlled transformation scan.</a:t>
            </a:r>
            <a:endParaRPr lang="en-US" sz="1800" dirty="0"/>
          </a:p>
          <a:p>
            <a:pPr marL="203200" indent="-203200">
              <a:buSzPct val="100000"/>
              <a:buChar char="•"/>
            </a:pPr>
            <a:r>
              <a:rPr lang="en-US" sz="1800" dirty="0">
                <a:solidFill>
                  <a:srgbClr val="2F3642"/>
                </a:solidFill>
                <a:latin typeface="Helvetica" pitchFamily="34" charset="0"/>
                <a:ea typeface="Helvetica" pitchFamily="34" charset="-122"/>
                <a:cs typeface="Helvetica" pitchFamily="34" charset="-120"/>
              </a:rPr>
              <a:t>It is hard to repeat this enough times for screening.</a:t>
            </a:r>
            <a:endParaRPr lang="en-US" sz="1800" dirty="0"/>
          </a:p>
        </p:txBody>
      </p:sp>
      <p:sp>
        <p:nvSpPr>
          <p:cNvPr id="10" name="Text 7"/>
          <p:cNvSpPr/>
          <p:nvPr/>
        </p:nvSpPr>
        <p:spPr>
          <a:xfrm>
            <a:off x="11201400" y="6400800"/>
            <a:ext cx="502920" cy="201168"/>
          </a:xfrm>
          <a:prstGeom prst="rect">
            <a:avLst/>
          </a:prstGeom>
          <a:noFill/>
          <a:ln/>
        </p:spPr>
        <p:txBody>
          <a:bodyPr wrap="square" lIns="0" tIns="0" rIns="0" bIns="0" rtlCol="0" anchor="ctr">
            <a:normAutofit/>
          </a:bodyPr>
          <a:lstStyle/>
          <a:p>
            <a:pPr algn="r" indent="0" marL="0">
              <a:buNone/>
            </a:pPr>
            <a:r>
              <a:rPr sz="800">
                <a:solidFill>
                  <a:srgbClr val="4F5E73"/>
                </a:solidFill>
                <a:latin typeface="Aptos"/>
              </a:rPr>
              <a:t>04</a:t>
            </a:r>
            <a:endParaRPr lang="en-US" sz="900" dirty="0"/>
          </a:p>
        </p:txBody>
      </p:sp>
      <p:pic>
        <p:nvPicPr>
          <p:cNvPr id="11" name="Picture 10" descr="manual_stress_strain_50ma_pyplot_cycles.png"/>
          <p:cNvPicPr>
            <a:picLocks noChangeAspect="1"/>
          </p:cNvPicPr>
          <p:nvPr/>
        </p:nvPicPr>
        <p:blipFill>
          <a:blip r:embed="rId5"/>
          <a:stretch>
            <a:fillRect/>
          </a:stretch>
        </p:blipFill>
        <p:spPr>
          <a:xfrm>
            <a:off x="841248" y="1572768"/>
            <a:ext cx="5230368" cy="3255264"/>
          </a:xfrm>
          <a:prstGeom prst="rect">
            <a:avLst/>
          </a:prstGeom>
        </p:spPr>
      </p:pic>
      <p:pic>
        <p:nvPicPr>
          <p:cNvPr id="12" name="Picture 11" descr="manual_stress_strain_setup_presentation.jpg"/>
          <p:cNvPicPr>
            <a:picLocks noChangeAspect="1"/>
          </p:cNvPicPr>
          <p:nvPr/>
        </p:nvPicPr>
        <p:blipFill>
          <a:blip r:embed="rId6"/>
          <a:stretch>
            <a:fillRect/>
          </a:stretch>
        </p:blipFill>
        <p:spPr>
          <a:xfrm>
            <a:off x="6355080" y="2225040"/>
            <a:ext cx="1572768" cy="2097024"/>
          </a:xfrm>
          <a:prstGeom prst="rect">
            <a:avLst/>
          </a:prstGeom>
          <a:ln w="9525">
            <a:solidFill>
              <a:srgbClr val="D2DAE6"/>
            </a:solidFill>
          </a:ln>
        </p:spPr>
      </p:pic>
      <p:sp>
        <p:nvSpPr>
          <p:cNvPr id="13" name="TextBox 12"/>
          <p:cNvSpPr txBox="1"/>
          <p:nvPr/>
        </p:nvSpPr>
        <p:spPr>
          <a:xfrm>
            <a:off x="6126480" y="5157216"/>
            <a:ext cx="2029968" cy="256032"/>
          </a:xfrm>
          <a:prstGeom prst="rect">
            <a:avLst/>
          </a:prstGeom>
          <a:noFill/>
        </p:spPr>
        <p:txBody>
          <a:bodyPr wrap="none">
            <a:spAutoFit/>
          </a:bodyPr>
          <a:lstStyle/>
          <a:p>
            <a:pPr algn="ctr"/>
            <a:r>
              <a:rPr sz="850">
                <a:solidFill>
                  <a:srgbClr val="56677D"/>
                </a:solidFill>
                <a:latin typeface="Aptos"/>
              </a:rPr>
              <a:t>Manual setup: micrometer displacement and scale load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9784080" cy="438912"/>
          </a:xfrm>
          <a:prstGeom prst="rect">
            <a:avLst/>
          </a:prstGeom>
          <a:noFill/>
          <a:ln/>
        </p:spPr>
        <p:txBody>
          <a:bodyPr wrap="square" lIns="0" tIns="0" rIns="0" bIns="0" rtlCol="0" anchor="ctr">
            <a:normAutofit/>
          </a:bodyPr>
          <a:lstStyle/>
          <a:p>
            <a:pPr indent="0" marL="0">
              <a:buNone/>
            </a:pPr>
            <a:r>
              <a:rPr lang="en-US" sz="2500" b="1" dirty="0">
                <a:solidFill>
                  <a:srgbClr val="151922"/>
                </a:solidFill>
                <a:latin typeface="Helvetica Neue" pitchFamily="34" charset="0"/>
                <a:ea typeface="Helvetica Neue" pitchFamily="34" charset="-122"/>
                <a:cs typeface="Helvetica Neue" pitchFamily="34" charset="-120"/>
              </a:rPr>
              <a:t>Commercial DMA</a:t>
            </a:r>
            <a:endParaRPr lang="en-US" sz="2500" dirty="0"/>
          </a:p>
        </p:txBody>
      </p:sp>
      <p:sp>
        <p:nvSpPr>
          <p:cNvPr id="3" name="Shape 1"/>
          <p:cNvSpPr/>
          <p:nvPr/>
        </p:nvSpPr>
        <p:spPr>
          <a:xfrm>
            <a:off x="585216" y="1078992"/>
            <a:ext cx="11018520" cy="0"/>
          </a:xfrm>
          <a:prstGeom prst="line">
            <a:avLst/>
          </a:prstGeom>
          <a:noFill/>
          <a:ln w="12700">
            <a:solidFill>
              <a:srgbClr val="D9DEE8"/>
            </a:solidFill>
            <a:prstDash val="solid"/>
          </a:ln>
        </p:spPr>
        <p:txBody>
          <a:bodyPr/>
          <a:p/>
        </p:txBody>
      </p:sp>
      <p:sp>
        <p:nvSpPr>
          <p:cNvPr id="4" name="Shape 2"/>
          <p:cNvSpPr/>
          <p:nvPr/>
        </p:nvSpPr>
        <p:spPr>
          <a:xfrm>
            <a:off x="777240" y="1234440"/>
            <a:ext cx="6766560" cy="4800600"/>
          </a:xfrm>
          <a:prstGeom prst="rect">
            <a:avLst/>
          </a:prstGeom>
          <a:solidFill>
            <a:srgbClr val="FFFFFF"/>
          </a:solidFill>
          <a:ln w="12700">
            <a:solidFill>
              <a:srgbClr val="D9DEE8"/>
            </a:solidFill>
            <a:prstDash val="solid"/>
          </a:ln>
        </p:spPr>
        <p:txBody>
          <a:bodyPr/>
          <a:p/>
        </p:txBody>
      </p:sp>
      <p:pic>
        <p:nvPicPr>
          <p:cNvPr id="5" name="Image 0" descr="/Users/martin/PyPlot/outputs/manual-20260520-mini-dma-deck-v3/presentations/mini-dma-colloquium/source_unzipped/ppt/media/image2.png">    </p:cNvPr>
          <p:cNvPicPr>
            <a:picLocks noChangeAspect="1"/>
          </p:cNvPicPr>
          <p:nvPr/>
        </p:nvPicPr>
        <p:blipFill>
          <a:blip r:embed="rId1"/>
          <a:stretch>
            <a:fillRect/>
          </a:stretch>
        </p:blipFill>
        <p:spPr>
          <a:xfrm>
            <a:off x="822960" y="1526808"/>
            <a:ext cx="6675120" cy="4215865"/>
          </a:xfrm>
          <a:prstGeom prst="rect">
            <a:avLst/>
          </a:prstGeom>
        </p:spPr>
      </p:pic>
      <p:sp>
        <p:nvSpPr>
          <p:cNvPr id="6" name="Text 3"/>
          <p:cNvSpPr/>
          <p:nvPr/>
        </p:nvSpPr>
        <p:spPr>
          <a:xfrm>
            <a:off x="868680" y="5742432"/>
            <a:ext cx="6583680" cy="182880"/>
          </a:xfrm>
          <a:prstGeom prst="rect">
            <a:avLst/>
          </a:prstGeom>
          <a:noFill/>
          <a:ln/>
        </p:spPr>
        <p:txBody>
          <a:bodyPr wrap="square" lIns="0" tIns="0" rIns="0" bIns="0" rtlCol="0" anchor="ctr">
            <a:normAutofit/>
          </a:bodyPr>
          <a:lstStyle/>
          <a:p>
            <a:pPr algn="r" indent="0" marL="0">
              <a:buNone/>
            </a:pPr>
            <a:r>
              <a:rPr lang="en-US" sz="850" dirty="0">
                <a:solidFill>
                  <a:srgbClr val="687386"/>
                </a:solidFill>
                <a:latin typeface="Helvetica" pitchFamily="34" charset="0"/>
                <a:ea typeface="Helvetica" pitchFamily="34" charset="-122"/>
                <a:cs typeface="Helvetica" pitchFamily="34" charset="-120"/>
              </a:rPr>
              <a:t>Commercial DMA graph from previous measurements</a:t>
            </a:r>
            <a:endParaRPr lang="en-US" sz="850" dirty="0"/>
          </a:p>
        </p:txBody>
      </p:sp>
      <p:sp>
        <p:nvSpPr>
          <p:cNvPr id="7" name="Text 4"/>
          <p:cNvSpPr/>
          <p:nvPr/>
        </p:nvSpPr>
        <p:spPr>
          <a:xfrm>
            <a:off x="7818120" y="1572768"/>
            <a:ext cx="3611880" cy="3383280"/>
          </a:xfrm>
          <a:prstGeom prst="rect">
            <a:avLst/>
          </a:prstGeom>
          <a:noFill/>
          <a:ln/>
        </p:spPr>
        <p:txBody>
          <a:bodyPr wrap="square" lIns="635" tIns="635" rIns="635" bIns="635" rtlCol="0" anchor="ctr">
            <a:normAutofit/>
          </a:bodyPr>
          <a:lstStyle/>
          <a:p>
            <a:pPr marL="203200" indent="-203200">
              <a:buSzPct val="100000"/>
              <a:buChar char="•"/>
            </a:pPr>
            <a:r>
              <a:rPr lang="en-US" sz="1950" dirty="0">
                <a:solidFill>
                  <a:srgbClr val="2F3642"/>
                </a:solidFill>
                <a:latin typeface="Helvetica" pitchFamily="34" charset="0"/>
                <a:ea typeface="Helvetica" pitchFamily="34" charset="-122"/>
                <a:cs typeface="Helvetica" pitchFamily="34" charset="-120"/>
              </a:rPr>
              <a:t>High precision and established method.</a:t>
            </a:r>
            <a:endParaRPr lang="en-US" sz="1950" dirty="0"/>
          </a:p>
          <a:p>
            <a:pPr marL="203200" indent="-203200">
              <a:buSzPct val="100000"/>
              <a:buChar char="•"/>
            </a:pPr>
            <a:r>
              <a:rPr lang="en-US" sz="1950" dirty="0">
                <a:solidFill>
                  <a:srgbClr val="2F3642"/>
                </a:solidFill>
                <a:latin typeface="Helvetica" pitchFamily="34" charset="0"/>
                <a:ea typeface="Helvetica" pitchFamily="34" charset="-122"/>
                <a:cs typeface="Helvetica" pitchFamily="34" charset="-120"/>
              </a:rPr>
              <a:t>Good for selected samples and final validation.</a:t>
            </a:r>
            <a:endParaRPr lang="en-US" sz="1950" dirty="0"/>
          </a:p>
          <a:p>
            <a:pPr marL="203200" indent="-203200">
              <a:buSzPct val="100000"/>
              <a:buChar char="•"/>
            </a:pPr>
            <a:r>
              <a:rPr lang="en-US" sz="1950" dirty="0">
                <a:solidFill>
                  <a:srgbClr val="2F3642"/>
                </a:solidFill>
                <a:latin typeface="Helvetica" pitchFamily="34" charset="0"/>
                <a:ea typeface="Helvetica" pitchFamily="34" charset="-122"/>
                <a:cs typeface="Helvetica" pitchFamily="34" charset="-120"/>
              </a:rPr>
              <a:t>Too slow and expensive to be the first screen for every preparation variant.</a:t>
            </a:r>
            <a:endParaRPr lang="en-US" sz="1950" dirty="0"/>
          </a:p>
        </p:txBody>
      </p:sp>
      <p:sp>
        <p:nvSpPr>
          <p:cNvPr id="8" name="Text 5"/>
          <p:cNvSpPr/>
          <p:nvPr/>
        </p:nvSpPr>
        <p:spPr>
          <a:xfrm>
            <a:off x="11201400" y="6400800"/>
            <a:ext cx="502920" cy="201168"/>
          </a:xfrm>
          <a:prstGeom prst="rect">
            <a:avLst/>
          </a:prstGeom>
          <a:noFill/>
          <a:ln/>
        </p:spPr>
        <p:txBody>
          <a:bodyPr wrap="square" lIns="0" tIns="0" rIns="0" bIns="0" rtlCol="0" anchor="ctr">
            <a:normAutofit/>
          </a:bodyPr>
          <a:lstStyle/>
          <a:p>
            <a:pPr algn="r" indent="0" marL="0">
              <a:buNone/>
            </a:pPr>
            <a:r>
              <a:rPr sz="800">
                <a:solidFill>
                  <a:srgbClr val="4F5E73"/>
                </a:solidFill>
                <a:latin typeface="Aptos"/>
              </a:rPr>
              <a:t>05</a:t>
            </a:r>
            <a:endParaRPr lang="en-US" sz="9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9784080" cy="438912"/>
          </a:xfrm>
          <a:prstGeom prst="rect">
            <a:avLst/>
          </a:prstGeom>
          <a:noFill/>
          <a:ln/>
        </p:spPr>
        <p:txBody>
          <a:bodyPr wrap="square" lIns="0" tIns="0" rIns="0" bIns="0" rtlCol="0" anchor="ctr">
            <a:normAutofit/>
          </a:bodyPr>
          <a:lstStyle/>
          <a:p>
            <a:pPr indent="0" marL="0">
              <a:buNone/>
            </a:pPr>
            <a:r>
              <a:rPr lang="en-US" sz="2500" b="1" dirty="0">
                <a:solidFill>
                  <a:srgbClr val="151922"/>
                </a:solidFill>
                <a:latin typeface="Helvetica Neue" pitchFamily="34" charset="0"/>
                <a:ea typeface="Helvetica Neue" pitchFamily="34" charset="-122"/>
                <a:cs typeface="Helvetica Neue" pitchFamily="34" charset="-120"/>
              </a:rPr>
              <a:t>Mini DMA hardware</a:t>
            </a:r>
            <a:endParaRPr lang="en-US" sz="2500" dirty="0"/>
          </a:p>
        </p:txBody>
      </p:sp>
      <p:sp>
        <p:nvSpPr>
          <p:cNvPr id="3" name="Shape 1"/>
          <p:cNvSpPr/>
          <p:nvPr/>
        </p:nvSpPr>
        <p:spPr>
          <a:xfrm>
            <a:off x="585216" y="1078992"/>
            <a:ext cx="11018520" cy="0"/>
          </a:xfrm>
          <a:prstGeom prst="line">
            <a:avLst/>
          </a:prstGeom>
          <a:noFill/>
          <a:ln w="12700">
            <a:solidFill>
              <a:srgbClr val="D9DEE8"/>
            </a:solidFill>
            <a:prstDash val="solid"/>
          </a:ln>
        </p:spPr>
        <p:txBody>
          <a:bodyPr/>
          <a:p/>
        </p:txBody>
      </p:sp>
      <p:sp>
        <p:nvSpPr>
          <p:cNvPr id="4" name="Shape 2"/>
          <p:cNvSpPr/>
          <p:nvPr/>
        </p:nvSpPr>
        <p:spPr>
          <a:xfrm>
            <a:off x="749808" y="1234440"/>
            <a:ext cx="3154680" cy="4343400"/>
          </a:xfrm>
          <a:prstGeom prst="rect">
            <a:avLst/>
          </a:prstGeom>
          <a:solidFill>
            <a:srgbClr val="FFFFFF"/>
          </a:solidFill>
          <a:ln w="12700">
            <a:solidFill>
              <a:srgbClr val="D9DEE8"/>
            </a:solidFill>
            <a:prstDash val="solid"/>
          </a:ln>
        </p:spPr>
        <p:txBody>
          <a:bodyPr/>
          <a:p/>
        </p:txBody>
      </p:sp>
      <p:pic>
        <p:nvPicPr>
          <p:cNvPr id="5" name="Image 0" descr="/Users/martin/PyPlot/outputs/manual-20260520-mini-dma-deck-v3/presentations/mini-dma-colloquium/source_unzipped/ppt/media/image4.png">    </p:cNvPr>
          <p:cNvPicPr>
            <a:picLocks noChangeAspect="1"/>
          </p:cNvPicPr>
          <p:nvPr/>
        </p:nvPicPr>
        <p:blipFill>
          <a:blip r:embed="rId1"/>
          <a:srcRect t="15299" b="15299"/>
          <a:stretch>
            <a:fillRect/>
          </a:stretch>
        </p:blipFill>
        <p:spPr>
          <a:xfrm>
            <a:off x="795528" y="1280160"/>
            <a:ext cx="3063240" cy="4251960"/>
          </a:xfrm>
          <a:prstGeom prst="rect">
            <a:avLst/>
          </a:prstGeom>
        </p:spPr>
      </p:pic>
      <p:sp>
        <p:nvSpPr>
          <p:cNvPr id="6" name="Text 3"/>
          <p:cNvSpPr/>
          <p:nvPr/>
        </p:nvSpPr>
        <p:spPr>
          <a:xfrm>
            <a:off x="841248" y="5285232"/>
            <a:ext cx="2971800" cy="182880"/>
          </a:xfrm>
          <a:prstGeom prst="rect">
            <a:avLst/>
          </a:prstGeom>
          <a:noFill/>
          <a:ln/>
        </p:spPr>
        <p:txBody>
          <a:bodyPr wrap="square" lIns="0" tIns="0" rIns="0" bIns="0" rtlCol="0" anchor="ctr">
            <a:normAutofit/>
          </a:bodyPr>
          <a:lstStyle/>
          <a:p>
            <a:pPr algn="r" indent="0" marL="0">
              <a:buNone/>
            </a:pPr>
            <a:r>
              <a:rPr lang="en-US" sz="850" dirty="0">
                <a:solidFill>
                  <a:srgbClr val="687386"/>
                </a:solidFill>
                <a:latin typeface="Helvetica" pitchFamily="34" charset="0"/>
                <a:ea typeface="Helvetica" pitchFamily="34" charset="-122"/>
                <a:cs typeface="Helvetica" pitchFamily="34" charset="-120"/>
              </a:rPr>
              <a:t>Stepper motor with 10 micrometer minimum step</a:t>
            </a:r>
            <a:endParaRPr lang="en-US" sz="850" dirty="0"/>
          </a:p>
        </p:txBody>
      </p:sp>
      <p:sp>
        <p:nvSpPr>
          <p:cNvPr id="7" name="Shape 4"/>
          <p:cNvSpPr/>
          <p:nvPr/>
        </p:nvSpPr>
        <p:spPr>
          <a:xfrm>
            <a:off x="4206240" y="1234440"/>
            <a:ext cx="3154680" cy="4343400"/>
          </a:xfrm>
          <a:prstGeom prst="rect">
            <a:avLst/>
          </a:prstGeom>
          <a:solidFill>
            <a:srgbClr val="FFFFFF"/>
          </a:solidFill>
          <a:ln w="12700">
            <a:solidFill>
              <a:srgbClr val="D9DEE8"/>
            </a:solidFill>
            <a:prstDash val="solid"/>
          </a:ln>
        </p:spPr>
        <p:txBody>
          <a:bodyPr/>
          <a:p/>
        </p:txBody>
      </p:sp>
      <p:pic>
        <p:nvPicPr>
          <p:cNvPr id="8" name="Image 1" descr="/Users/martin/PyPlot/outputs/manual-20260520-mini-dma-deck-v3/presentations/mini-dma-colloquium/source_unzipped/ppt/media/image5.png">    </p:cNvPr>
          <p:cNvPicPr>
            <a:picLocks noChangeAspect="1"/>
          </p:cNvPicPr>
          <p:nvPr/>
        </p:nvPicPr>
        <p:blipFill>
          <a:blip r:embed="rId2"/>
          <a:srcRect l="14863" r="14863"/>
          <a:stretch>
            <a:fillRect/>
          </a:stretch>
        </p:blipFill>
        <p:spPr>
          <a:xfrm>
            <a:off x="4251960" y="1280160"/>
            <a:ext cx="3063240" cy="4251960"/>
          </a:xfrm>
          <a:prstGeom prst="rect">
            <a:avLst/>
          </a:prstGeom>
        </p:spPr>
      </p:pic>
      <p:sp>
        <p:nvSpPr>
          <p:cNvPr id="9" name="Text 5"/>
          <p:cNvSpPr/>
          <p:nvPr/>
        </p:nvSpPr>
        <p:spPr>
          <a:xfrm>
            <a:off x="4297680" y="5285232"/>
            <a:ext cx="2971800" cy="182880"/>
          </a:xfrm>
          <a:prstGeom prst="rect">
            <a:avLst/>
          </a:prstGeom>
          <a:noFill/>
          <a:ln/>
        </p:spPr>
        <p:txBody>
          <a:bodyPr wrap="square" lIns="0" tIns="0" rIns="0" bIns="0" rtlCol="0" anchor="ctr">
            <a:normAutofit/>
          </a:bodyPr>
          <a:lstStyle/>
          <a:p>
            <a:pPr algn="r" indent="0" marL="0">
              <a:buNone/>
            </a:pPr>
            <a:r>
              <a:rPr lang="en-US" sz="850" dirty="0">
                <a:solidFill>
                  <a:srgbClr val="687386"/>
                </a:solidFill>
                <a:latin typeface="Helvetica" pitchFamily="34" charset="0"/>
                <a:ea typeface="Helvetica" pitchFamily="34" charset="-122"/>
                <a:cs typeface="Helvetica" pitchFamily="34" charset="-120"/>
              </a:rPr>
              <a:t>Scale precision: 0.05 g; scale latency: ~200 ms</a:t>
            </a:r>
            <a:endParaRPr lang="en-US" sz="850" dirty="0"/>
          </a:p>
        </p:txBody>
      </p:sp>
      <p:sp>
        <p:nvSpPr>
          <p:cNvPr id="10" name="Shape 6"/>
          <p:cNvSpPr/>
          <p:nvPr/>
        </p:nvSpPr>
        <p:spPr>
          <a:xfrm>
            <a:off x="7662672" y="1234440"/>
            <a:ext cx="3611880" cy="4343400"/>
          </a:xfrm>
          <a:prstGeom prst="rect">
            <a:avLst/>
          </a:prstGeom>
          <a:solidFill>
            <a:srgbClr val="FFFFFF"/>
          </a:solidFill>
          <a:ln w="12700">
            <a:solidFill>
              <a:srgbClr val="D9DEE8"/>
            </a:solidFill>
            <a:prstDash val="solid"/>
          </a:ln>
        </p:spPr>
        <p:txBody>
          <a:bodyPr/>
          <a:p/>
        </p:txBody>
      </p:sp>
      <p:pic>
        <p:nvPicPr>
          <p:cNvPr id="11" name="Image 2" descr="/Users/martin/PyPlot/outputs/manual-20260520-mini-dma-deck-v3/presentations/mini-dma-colloquium/source_unzipped/ppt/media/image.jpeg">    </p:cNvPr>
          <p:cNvPicPr>
            <a:picLocks noChangeAspect="1"/>
          </p:cNvPicPr>
          <p:nvPr/>
        </p:nvPicPr>
        <p:blipFill>
          <a:blip r:embed="rId3"/>
          <a:srcRect l="18952" r="18952"/>
          <a:stretch>
            <a:fillRect/>
          </a:stretch>
        </p:blipFill>
        <p:spPr>
          <a:xfrm>
            <a:off x="7708392" y="1280160"/>
            <a:ext cx="3520440" cy="4251960"/>
          </a:xfrm>
          <a:prstGeom prst="rect">
            <a:avLst/>
          </a:prstGeom>
        </p:spPr>
      </p:pic>
      <p:sp>
        <p:nvSpPr>
          <p:cNvPr id="12" name="Text 7"/>
          <p:cNvSpPr/>
          <p:nvPr/>
        </p:nvSpPr>
        <p:spPr>
          <a:xfrm>
            <a:off x="7754112" y="5285232"/>
            <a:ext cx="3429000" cy="182880"/>
          </a:xfrm>
          <a:prstGeom prst="rect">
            <a:avLst/>
          </a:prstGeom>
          <a:noFill/>
          <a:ln/>
        </p:spPr>
        <p:txBody>
          <a:bodyPr wrap="square" lIns="0" tIns="0" rIns="0" bIns="0" rtlCol="0" anchor="ctr">
            <a:normAutofit/>
          </a:bodyPr>
          <a:lstStyle/>
          <a:p>
            <a:pPr algn="r" indent="0" marL="0">
              <a:buNone/>
            </a:pPr>
            <a:r>
              <a:rPr lang="en-US" sz="850" dirty="0">
                <a:solidFill>
                  <a:srgbClr val="687386"/>
                </a:solidFill>
                <a:latin typeface="Helvetica" pitchFamily="34" charset="0"/>
                <a:ea typeface="Helvetica" pitchFamily="34" charset="-122"/>
                <a:cs typeface="Helvetica" pitchFamily="34" charset="-120"/>
              </a:rPr>
              <a:t>Control software</a:t>
            </a:r>
            <a:endParaRPr lang="en-US" sz="850" dirty="0"/>
          </a:p>
        </p:txBody>
      </p:sp>
      <p:sp>
        <p:nvSpPr>
          <p:cNvPr id="13" name="Text 8"/>
          <p:cNvSpPr/>
          <p:nvPr/>
        </p:nvSpPr>
        <p:spPr>
          <a:xfrm>
            <a:off x="841248" y="5779008"/>
            <a:ext cx="10241280" cy="310896"/>
          </a:xfrm>
          <a:prstGeom prst="rect">
            <a:avLst/>
          </a:prstGeom>
          <a:noFill/>
          <a:ln/>
        </p:spPr>
        <p:txBody>
          <a:bodyPr wrap="square" lIns="0" tIns="0" rIns="0" bIns="0" rtlCol="0" anchor="ctr">
            <a:normAutofit/>
          </a:bodyPr>
          <a:lstStyle/>
          <a:p>
            <a:pPr algn="ctr" indent="0" marL="0">
              <a:buNone/>
            </a:pPr>
            <a:r>
              <a:rPr lang="en-US" sz="1800" b="1" dirty="0">
                <a:solidFill>
                  <a:srgbClr val="151922"/>
                </a:solidFill>
              </a:rPr>
              <a:t>Key idea: the scale measures load and the motor supplies displacement.</a:t>
            </a:r>
            <a:endParaRPr lang="en-US" sz="1800" dirty="0"/>
          </a:p>
        </p:txBody>
      </p:sp>
      <p:sp>
        <p:nvSpPr>
          <p:cNvPr id="14" name="Text 9"/>
          <p:cNvSpPr/>
          <p:nvPr/>
        </p:nvSpPr>
        <p:spPr>
          <a:xfrm>
            <a:off x="11201400" y="6400800"/>
            <a:ext cx="502920" cy="201168"/>
          </a:xfrm>
          <a:prstGeom prst="rect">
            <a:avLst/>
          </a:prstGeom>
          <a:noFill/>
          <a:ln/>
        </p:spPr>
        <p:txBody>
          <a:bodyPr wrap="square" lIns="0" tIns="0" rIns="0" bIns="0" rtlCol="0" anchor="ctr">
            <a:normAutofit/>
          </a:bodyPr>
          <a:lstStyle/>
          <a:p>
            <a:pPr algn="r" indent="0" marL="0">
              <a:buNone/>
            </a:pPr>
            <a:r>
              <a:rPr sz="800">
                <a:solidFill>
                  <a:srgbClr val="4F5E73"/>
                </a:solidFill>
                <a:latin typeface="Aptos"/>
              </a:rPr>
              <a:t>06</a:t>
            </a:r>
            <a:endParaRPr lang="en-US" sz="9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9784080" cy="438912"/>
          </a:xfrm>
          <a:prstGeom prst="rect">
            <a:avLst/>
          </a:prstGeom>
          <a:noFill/>
          <a:ln/>
        </p:spPr>
        <p:txBody>
          <a:bodyPr wrap="square" lIns="0" tIns="0" rIns="0" bIns="0" rtlCol="0" anchor="ctr">
            <a:normAutofit/>
          </a:bodyPr>
          <a:lstStyle/>
          <a:p>
            <a:pPr indent="0" marL="0">
              <a:buNone/>
            </a:pPr>
            <a:r>
              <a:rPr lang="en-US" sz="2500" b="1" dirty="0">
                <a:solidFill>
                  <a:srgbClr val="151922"/>
                </a:solidFill>
                <a:latin typeface="Helvetica Neue" pitchFamily="34" charset="0"/>
                <a:ea typeface="Helvetica Neue" pitchFamily="34" charset="-122"/>
                <a:cs typeface="Helvetica Neue" pitchFamily="34" charset="-120"/>
              </a:rPr>
              <a:t>How the iso-stress measurement works</a:t>
            </a:r>
            <a:endParaRPr lang="en-US" sz="2500" dirty="0"/>
          </a:p>
        </p:txBody>
      </p:sp>
      <p:sp>
        <p:nvSpPr>
          <p:cNvPr id="3" name="Shape 1"/>
          <p:cNvSpPr/>
          <p:nvPr/>
        </p:nvSpPr>
        <p:spPr>
          <a:xfrm>
            <a:off x="585216" y="1078992"/>
            <a:ext cx="11018520" cy="0"/>
          </a:xfrm>
          <a:prstGeom prst="line">
            <a:avLst/>
          </a:prstGeom>
          <a:noFill/>
          <a:ln w="12700">
            <a:solidFill>
              <a:srgbClr val="D9DEE8"/>
            </a:solidFill>
            <a:prstDash val="solid"/>
          </a:ln>
        </p:spPr>
        <p:txBody>
          <a:bodyPr/>
          <a:p/>
        </p:txBody>
      </p:sp>
      <p:sp>
        <p:nvSpPr>
          <p:cNvPr id="4" name="Shape 2"/>
          <p:cNvSpPr/>
          <p:nvPr/>
        </p:nvSpPr>
        <p:spPr>
          <a:xfrm>
            <a:off x="749808" y="1234440"/>
            <a:ext cx="4663440" cy="4434840"/>
          </a:xfrm>
          <a:prstGeom prst="rect">
            <a:avLst/>
          </a:prstGeom>
          <a:solidFill>
            <a:srgbClr val="FFFFFF"/>
          </a:solidFill>
          <a:ln w="12700">
            <a:solidFill>
              <a:srgbClr val="D9DEE8"/>
            </a:solidFill>
            <a:prstDash val="solid"/>
          </a:ln>
        </p:spPr>
        <p:txBody>
          <a:bodyPr/>
          <a:p/>
        </p:txBody>
      </p:sp>
      <p:pic>
        <p:nvPicPr>
          <p:cNvPr id="5" name="Image 0" descr="/Users/martin/PyPlot/outputs/manual-20260520-mini-dma-deck-v3/presentations/mini-dma-colloquium/source_unzipped/ppt/media/image.jpeg">    </p:cNvPr>
          <p:cNvPicPr>
            <a:picLocks noChangeAspect="1"/>
          </p:cNvPicPr>
          <p:nvPr/>
        </p:nvPicPr>
        <p:blipFill>
          <a:blip r:embed="rId1"/>
          <a:srcRect l="10526" r="10526"/>
          <a:stretch>
            <a:fillRect/>
          </a:stretch>
        </p:blipFill>
        <p:spPr>
          <a:xfrm>
            <a:off x="795528" y="1280160"/>
            <a:ext cx="4572000" cy="4343400"/>
          </a:xfrm>
          <a:prstGeom prst="rect">
            <a:avLst/>
          </a:prstGeom>
        </p:spPr>
      </p:pic>
      <p:sp>
        <p:nvSpPr>
          <p:cNvPr id="6" name="Text 3"/>
          <p:cNvSpPr/>
          <p:nvPr/>
        </p:nvSpPr>
        <p:spPr>
          <a:xfrm>
            <a:off x="841248" y="5376672"/>
            <a:ext cx="4480560" cy="182880"/>
          </a:xfrm>
          <a:prstGeom prst="rect">
            <a:avLst/>
          </a:prstGeom>
          <a:noFill/>
          <a:ln/>
        </p:spPr>
        <p:txBody>
          <a:bodyPr wrap="square" lIns="0" tIns="0" rIns="0" bIns="0" rtlCol="0" anchor="ctr">
            <a:normAutofit/>
          </a:bodyPr>
          <a:lstStyle/>
          <a:p>
            <a:pPr algn="r" indent="0" marL="0">
              <a:buNone/>
            </a:pPr>
            <a:r>
              <a:rPr lang="en-US" sz="850" dirty="0">
                <a:solidFill>
                  <a:srgbClr val="687386"/>
                </a:solidFill>
                <a:latin typeface="Helvetica" pitchFamily="34" charset="0"/>
                <a:ea typeface="Helvetica" pitchFamily="34" charset="-122"/>
                <a:cs typeface="Helvetica" pitchFamily="34" charset="-120"/>
              </a:rPr>
              <a:t>Software view</a:t>
            </a:r>
            <a:endParaRPr lang="en-US" sz="850" dirty="0"/>
          </a:p>
        </p:txBody>
      </p:sp>
      <p:sp>
        <p:nvSpPr>
          <p:cNvPr id="7" name="Shape 4"/>
          <p:cNvSpPr/>
          <p:nvPr/>
        </p:nvSpPr>
        <p:spPr>
          <a:xfrm>
            <a:off x="5897880" y="1417320"/>
            <a:ext cx="384048" cy="384048"/>
          </a:xfrm>
          <a:prstGeom prst="ellipse">
            <a:avLst/>
          </a:prstGeom>
          <a:solidFill>
            <a:srgbClr val="1F4E79"/>
          </a:solidFill>
          <a:ln w="12700">
            <a:solidFill>
              <a:srgbClr val="1F4E79"/>
            </a:solidFill>
            <a:prstDash val="solid"/>
          </a:ln>
        </p:spPr>
        <p:txBody>
          <a:bodyPr/>
          <a:p/>
        </p:txBody>
      </p:sp>
      <p:sp>
        <p:nvSpPr>
          <p:cNvPr id="8" name="Text 5"/>
          <p:cNvSpPr/>
          <p:nvPr/>
        </p:nvSpPr>
        <p:spPr>
          <a:xfrm>
            <a:off x="5897880" y="1499616"/>
            <a:ext cx="384048" cy="146304"/>
          </a:xfrm>
          <a:prstGeom prst="rect">
            <a:avLst/>
          </a:prstGeom>
          <a:noFill/>
          <a:ln/>
        </p:spPr>
        <p:txBody>
          <a:bodyPr wrap="square" lIns="0" tIns="0" rIns="0" bIns="0" rtlCol="0" anchor="ctr"/>
          <a:lstStyle/>
          <a:p>
            <a:pPr algn="ctr" indent="0" marL="0">
              <a:buNone/>
            </a:pPr>
            <a:r>
              <a:rPr lang="en-US" sz="950" b="1" dirty="0">
                <a:solidFill>
                  <a:srgbClr val="FFFFFF"/>
                </a:solidFill>
              </a:rPr>
              <a:t>1</a:t>
            </a:r>
            <a:endParaRPr lang="en-US" sz="950" dirty="0"/>
          </a:p>
        </p:txBody>
      </p:sp>
      <p:sp>
        <p:nvSpPr>
          <p:cNvPr id="9" name="Text 6"/>
          <p:cNvSpPr/>
          <p:nvPr/>
        </p:nvSpPr>
        <p:spPr>
          <a:xfrm>
            <a:off x="6400800" y="1408176"/>
            <a:ext cx="1965960" cy="502920"/>
          </a:xfrm>
          <a:prstGeom prst="rect">
            <a:avLst/>
          </a:prstGeom>
          <a:noFill/>
          <a:ln/>
        </p:spPr>
        <p:txBody>
          <a:bodyPr wrap="square" lIns="254" tIns="254" rIns="254" bIns="254" rtlCol="0" anchor="ctr">
            <a:normAutofit/>
          </a:bodyPr>
          <a:lstStyle/>
          <a:p>
            <a:pPr indent="0" marL="0">
              <a:buNone/>
            </a:pPr>
            <a:r>
              <a:rPr lang="en-US" sz="1300" dirty="0">
                <a:solidFill>
                  <a:srgbClr val="2F3642"/>
                </a:solidFill>
              </a:rPr>
              <a:t>Set target stress</a:t>
            </a:r>
            <a:endParaRPr lang="en-US" sz="1300" dirty="0"/>
          </a:p>
        </p:txBody>
      </p:sp>
      <p:sp>
        <p:nvSpPr>
          <p:cNvPr id="10" name="Shape 7"/>
          <p:cNvSpPr/>
          <p:nvPr/>
        </p:nvSpPr>
        <p:spPr>
          <a:xfrm>
            <a:off x="5897880" y="2331720"/>
            <a:ext cx="384048" cy="384048"/>
          </a:xfrm>
          <a:prstGeom prst="ellipse">
            <a:avLst/>
          </a:prstGeom>
          <a:solidFill>
            <a:srgbClr val="F08B2D"/>
          </a:solidFill>
          <a:ln w="12700">
            <a:solidFill>
              <a:srgbClr val="F08B2D"/>
            </a:solidFill>
            <a:prstDash val="solid"/>
          </a:ln>
        </p:spPr>
        <p:txBody>
          <a:bodyPr/>
          <a:p/>
        </p:txBody>
      </p:sp>
      <p:sp>
        <p:nvSpPr>
          <p:cNvPr id="11" name="Text 8"/>
          <p:cNvSpPr/>
          <p:nvPr/>
        </p:nvSpPr>
        <p:spPr>
          <a:xfrm>
            <a:off x="5897880" y="2414016"/>
            <a:ext cx="384048" cy="146304"/>
          </a:xfrm>
          <a:prstGeom prst="rect">
            <a:avLst/>
          </a:prstGeom>
          <a:noFill/>
          <a:ln/>
        </p:spPr>
        <p:txBody>
          <a:bodyPr wrap="square" lIns="0" tIns="0" rIns="0" bIns="0" rtlCol="0" anchor="ctr"/>
          <a:lstStyle/>
          <a:p>
            <a:pPr algn="ctr" indent="0" marL="0">
              <a:buNone/>
            </a:pPr>
            <a:r>
              <a:rPr lang="en-US" sz="950" b="1" dirty="0">
                <a:solidFill>
                  <a:srgbClr val="FFFFFF"/>
                </a:solidFill>
              </a:rPr>
              <a:t>2</a:t>
            </a:r>
            <a:endParaRPr lang="en-US" sz="950" dirty="0"/>
          </a:p>
        </p:txBody>
      </p:sp>
      <p:sp>
        <p:nvSpPr>
          <p:cNvPr id="12" name="Text 9"/>
          <p:cNvSpPr/>
          <p:nvPr/>
        </p:nvSpPr>
        <p:spPr>
          <a:xfrm>
            <a:off x="6400800" y="2322576"/>
            <a:ext cx="1965960" cy="502920"/>
          </a:xfrm>
          <a:prstGeom prst="rect">
            <a:avLst/>
          </a:prstGeom>
          <a:noFill/>
          <a:ln/>
        </p:spPr>
        <p:txBody>
          <a:bodyPr wrap="square" lIns="254" tIns="254" rIns="254" bIns="254" rtlCol="0" anchor="ctr">
            <a:normAutofit/>
          </a:bodyPr>
          <a:lstStyle/>
          <a:p>
            <a:pPr indent="0" marL="0">
              <a:buNone/>
            </a:pPr>
            <a:r>
              <a:rPr lang="en-US" sz="1300" dirty="0">
                <a:solidFill>
                  <a:srgbClr val="2F3642"/>
                </a:solidFill>
              </a:rPr>
              <a:t>Increase current and heat the wire</a:t>
            </a:r>
            <a:endParaRPr lang="en-US" sz="1300" dirty="0"/>
          </a:p>
        </p:txBody>
      </p:sp>
      <p:sp>
        <p:nvSpPr>
          <p:cNvPr id="13" name="Shape 10"/>
          <p:cNvSpPr/>
          <p:nvPr/>
        </p:nvSpPr>
        <p:spPr>
          <a:xfrm>
            <a:off x="5897880" y="3246120"/>
            <a:ext cx="384048" cy="384048"/>
          </a:xfrm>
          <a:prstGeom prst="ellipse">
            <a:avLst/>
          </a:prstGeom>
          <a:solidFill>
            <a:srgbClr val="D94F4F"/>
          </a:solidFill>
          <a:ln w="12700">
            <a:solidFill>
              <a:srgbClr val="D94F4F"/>
            </a:solidFill>
            <a:prstDash val="solid"/>
          </a:ln>
        </p:spPr>
        <p:txBody>
          <a:bodyPr/>
          <a:p/>
        </p:txBody>
      </p:sp>
      <p:sp>
        <p:nvSpPr>
          <p:cNvPr id="14" name="Text 11"/>
          <p:cNvSpPr/>
          <p:nvPr/>
        </p:nvSpPr>
        <p:spPr>
          <a:xfrm>
            <a:off x="5897880" y="3328416"/>
            <a:ext cx="384048" cy="146304"/>
          </a:xfrm>
          <a:prstGeom prst="rect">
            <a:avLst/>
          </a:prstGeom>
          <a:noFill/>
          <a:ln/>
        </p:spPr>
        <p:txBody>
          <a:bodyPr wrap="square" lIns="0" tIns="0" rIns="0" bIns="0" rtlCol="0" anchor="ctr"/>
          <a:lstStyle/>
          <a:p>
            <a:pPr algn="ctr" indent="0" marL="0">
              <a:buNone/>
            </a:pPr>
            <a:r>
              <a:rPr lang="en-US" sz="950" b="1" dirty="0">
                <a:solidFill>
                  <a:srgbClr val="FFFFFF"/>
                </a:solidFill>
              </a:rPr>
              <a:t>3</a:t>
            </a:r>
            <a:endParaRPr lang="en-US" sz="950" dirty="0"/>
          </a:p>
        </p:txBody>
      </p:sp>
      <p:sp>
        <p:nvSpPr>
          <p:cNvPr id="15" name="Text 12"/>
          <p:cNvSpPr/>
          <p:nvPr/>
        </p:nvSpPr>
        <p:spPr>
          <a:xfrm>
            <a:off x="6400800" y="3236976"/>
            <a:ext cx="1965960" cy="502920"/>
          </a:xfrm>
          <a:prstGeom prst="rect">
            <a:avLst/>
          </a:prstGeom>
          <a:noFill/>
          <a:ln/>
        </p:spPr>
        <p:txBody>
          <a:bodyPr wrap="square" lIns="254" tIns="254" rIns="254" bIns="254" rtlCol="0" anchor="ctr">
            <a:normAutofit/>
          </a:bodyPr>
          <a:lstStyle/>
          <a:p>
            <a:pPr indent="0" marL="0">
              <a:buNone/>
            </a:pPr>
            <a:r>
              <a:rPr lang="en-US" sz="1300" dirty="0">
                <a:solidFill>
                  <a:srgbClr val="2F3642"/>
                </a:solidFill>
              </a:rPr>
              <a:t>Wire contracts, stress rises</a:t>
            </a:r>
            <a:endParaRPr lang="en-US" sz="1300" dirty="0"/>
          </a:p>
        </p:txBody>
      </p:sp>
      <p:sp>
        <p:nvSpPr>
          <p:cNvPr id="16" name="Shape 13"/>
          <p:cNvSpPr/>
          <p:nvPr/>
        </p:nvSpPr>
        <p:spPr>
          <a:xfrm>
            <a:off x="5897880" y="4160520"/>
            <a:ext cx="384048" cy="384048"/>
          </a:xfrm>
          <a:prstGeom prst="ellipse">
            <a:avLst/>
          </a:prstGeom>
          <a:solidFill>
            <a:srgbClr val="2F8F83"/>
          </a:solidFill>
          <a:ln w="12700">
            <a:solidFill>
              <a:srgbClr val="2F8F83"/>
            </a:solidFill>
            <a:prstDash val="solid"/>
          </a:ln>
        </p:spPr>
        <p:txBody>
          <a:bodyPr/>
          <a:p/>
        </p:txBody>
      </p:sp>
      <p:sp>
        <p:nvSpPr>
          <p:cNvPr id="17" name="Text 14"/>
          <p:cNvSpPr/>
          <p:nvPr/>
        </p:nvSpPr>
        <p:spPr>
          <a:xfrm>
            <a:off x="5897880" y="4242816"/>
            <a:ext cx="384048" cy="146304"/>
          </a:xfrm>
          <a:prstGeom prst="rect">
            <a:avLst/>
          </a:prstGeom>
          <a:noFill/>
          <a:ln/>
        </p:spPr>
        <p:txBody>
          <a:bodyPr wrap="square" lIns="0" tIns="0" rIns="0" bIns="0" rtlCol="0" anchor="ctr"/>
          <a:lstStyle/>
          <a:p>
            <a:pPr algn="ctr" indent="0" marL="0">
              <a:buNone/>
            </a:pPr>
            <a:r>
              <a:rPr lang="en-US" sz="950" b="1" dirty="0">
                <a:solidFill>
                  <a:srgbClr val="FFFFFF"/>
                </a:solidFill>
              </a:rPr>
              <a:t>4</a:t>
            </a:r>
            <a:endParaRPr lang="en-US" sz="950" dirty="0"/>
          </a:p>
        </p:txBody>
      </p:sp>
      <p:sp>
        <p:nvSpPr>
          <p:cNvPr id="18" name="Text 15"/>
          <p:cNvSpPr/>
          <p:nvPr/>
        </p:nvSpPr>
        <p:spPr>
          <a:xfrm>
            <a:off x="6400800" y="4151376"/>
            <a:ext cx="1965960" cy="502920"/>
          </a:xfrm>
          <a:prstGeom prst="rect">
            <a:avLst/>
          </a:prstGeom>
          <a:noFill/>
          <a:ln/>
        </p:spPr>
        <p:txBody>
          <a:bodyPr wrap="square" lIns="254" tIns="254" rIns="254" bIns="254" rtlCol="0" anchor="ctr">
            <a:normAutofit/>
          </a:bodyPr>
          <a:lstStyle/>
          <a:p>
            <a:pPr indent="0" marL="0">
              <a:buNone/>
            </a:pPr>
            <a:r>
              <a:rPr lang="en-US" sz="1300" dirty="0">
                <a:solidFill>
                  <a:srgbClr val="2F3642"/>
                </a:solidFill>
              </a:rPr>
              <a:t>Motor moves down to restore target</a:t>
            </a:r>
            <a:endParaRPr lang="en-US" sz="1300" dirty="0"/>
          </a:p>
        </p:txBody>
      </p:sp>
      <p:sp>
        <p:nvSpPr>
          <p:cNvPr id="19" name="Text 16"/>
          <p:cNvSpPr/>
          <p:nvPr/>
        </p:nvSpPr>
        <p:spPr>
          <a:xfrm>
            <a:off x="5897880" y="5303520"/>
            <a:ext cx="5166360" cy="384048"/>
          </a:xfrm>
          <a:prstGeom prst="rect">
            <a:avLst/>
          </a:prstGeom>
          <a:noFill/>
          <a:ln/>
        </p:spPr>
        <p:txBody>
          <a:bodyPr wrap="square" lIns="0" tIns="0" rIns="0" bIns="0" rtlCol="0" anchor="ctr">
            <a:normAutofit/>
          </a:bodyPr>
          <a:lstStyle/>
          <a:p>
            <a:pPr indent="0" marL="0">
              <a:buNone/>
            </a:pPr>
            <a:r>
              <a:rPr lang="en-US" sz="2100" b="1" dirty="0">
                <a:solidFill>
                  <a:srgbClr val="151922"/>
                </a:solidFill>
              </a:rPr>
              <a:t>Motor displacement gives strain.</a:t>
            </a:r>
            <a:endParaRPr lang="en-US" sz="2100" dirty="0"/>
          </a:p>
        </p:txBody>
      </p:sp>
      <p:sp>
        <p:nvSpPr>
          <p:cNvPr id="20" name="Text 17"/>
          <p:cNvSpPr/>
          <p:nvPr/>
        </p:nvSpPr>
        <p:spPr>
          <a:xfrm>
            <a:off x="11201400" y="6400800"/>
            <a:ext cx="502920" cy="201168"/>
          </a:xfrm>
          <a:prstGeom prst="rect">
            <a:avLst/>
          </a:prstGeom>
          <a:noFill/>
          <a:ln/>
        </p:spPr>
        <p:txBody>
          <a:bodyPr wrap="square" lIns="0" tIns="0" rIns="0" bIns="0" rtlCol="0" anchor="ctr">
            <a:normAutofit/>
          </a:bodyPr>
          <a:lstStyle/>
          <a:p>
            <a:pPr algn="r" indent="0" marL="0">
              <a:buNone/>
            </a:pPr>
            <a:r>
              <a:rPr sz="800">
                <a:solidFill>
                  <a:srgbClr val="4F5E73"/>
                </a:solidFill>
                <a:latin typeface="Aptos"/>
              </a:rPr>
              <a:t>07</a:t>
            </a:r>
            <a:endParaRPr lang="en-US" sz="9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9784080" cy="438912"/>
          </a:xfrm>
          <a:prstGeom prst="rect">
            <a:avLst/>
          </a:prstGeom>
          <a:noFill/>
          <a:ln/>
        </p:spPr>
        <p:txBody>
          <a:bodyPr wrap="square" lIns="0" tIns="0" rIns="0" bIns="0" rtlCol="0" anchor="ctr">
            <a:normAutofit/>
          </a:bodyPr>
          <a:lstStyle/>
          <a:p>
            <a:pPr indent="0" marL="0">
              <a:buNone/>
            </a:pPr>
            <a:r>
              <a:rPr lang="en-US" sz="2500" b="1" dirty="0">
                <a:solidFill>
                  <a:srgbClr val="151922"/>
                </a:solidFill>
                <a:latin typeface="Helvetica Neue" pitchFamily="34" charset="0"/>
                <a:ea typeface="Helvetica Neue" pitchFamily="34" charset="-122"/>
                <a:cs typeface="Helvetica Neue" pitchFamily="34" charset="-120"/>
              </a:rPr>
              <a:t>Baseline and initial length</a:t>
            </a:r>
            <a:endParaRPr lang="en-US" sz="2500" dirty="0"/>
          </a:p>
        </p:txBody>
      </p:sp>
      <p:sp>
        <p:nvSpPr>
          <p:cNvPr id="3" name="Shape 1"/>
          <p:cNvSpPr/>
          <p:nvPr/>
        </p:nvSpPr>
        <p:spPr>
          <a:xfrm>
            <a:off x="585216" y="1078992"/>
            <a:ext cx="11018520" cy="0"/>
          </a:xfrm>
          <a:prstGeom prst="line">
            <a:avLst/>
          </a:prstGeom>
          <a:noFill/>
          <a:ln w="12700">
            <a:solidFill>
              <a:srgbClr val="D9DEE8"/>
            </a:solidFill>
            <a:prstDash val="solid"/>
          </a:ln>
        </p:spPr>
        <p:txBody>
          <a:bodyPr/>
          <a:p/>
        </p:txBody>
      </p:sp>
      <p:sp>
        <p:nvSpPr>
          <p:cNvPr id="4" name="Shape 2"/>
          <p:cNvSpPr/>
          <p:nvPr/>
        </p:nvSpPr>
        <p:spPr>
          <a:xfrm>
            <a:off x="749808" y="1234440"/>
            <a:ext cx="6263640" cy="4617720"/>
          </a:xfrm>
          <a:prstGeom prst="rect">
            <a:avLst/>
          </a:prstGeom>
          <a:solidFill>
            <a:srgbClr val="FFFFFF"/>
          </a:solidFill>
          <a:ln w="12700">
            <a:solidFill>
              <a:srgbClr val="D9DEE8"/>
            </a:solidFill>
            <a:prstDash val="solid"/>
          </a:ln>
        </p:spPr>
        <p:txBody>
          <a:bodyPr/>
          <a:p/>
        </p:txBody>
      </p:sp>
      <p:pic>
        <p:nvPicPr>
          <p:cNvPr id="5" name="Image 0" descr="/Users/martin/PyPlot/outputs/manual-20260520-mini-dma-deck-v3/presentations/mini-dma-colloquium/source_unzipped/ppt/media/image6.png">    </p:cNvPr>
          <p:cNvPicPr>
            <a:picLocks noChangeAspect="1"/>
          </p:cNvPicPr>
          <p:nvPr/>
        </p:nvPicPr>
        <p:blipFill>
          <a:blip r:embed="rId1"/>
          <a:stretch>
            <a:fillRect/>
          </a:stretch>
        </p:blipFill>
        <p:spPr>
          <a:xfrm>
            <a:off x="795528" y="1779814"/>
            <a:ext cx="6172200" cy="3526971"/>
          </a:xfrm>
          <a:prstGeom prst="rect">
            <a:avLst/>
          </a:prstGeom>
        </p:spPr>
      </p:pic>
      <p:sp>
        <p:nvSpPr>
          <p:cNvPr id="6" name="Text 3"/>
          <p:cNvSpPr/>
          <p:nvPr/>
        </p:nvSpPr>
        <p:spPr>
          <a:xfrm>
            <a:off x="841248" y="5559552"/>
            <a:ext cx="6080760" cy="182880"/>
          </a:xfrm>
          <a:prstGeom prst="rect">
            <a:avLst/>
          </a:prstGeom>
          <a:noFill/>
          <a:ln/>
        </p:spPr>
        <p:txBody>
          <a:bodyPr wrap="square" lIns="0" tIns="0" rIns="0" bIns="0" rtlCol="0" anchor="ctr">
            <a:normAutofit/>
          </a:bodyPr>
          <a:lstStyle/>
          <a:p>
            <a:pPr algn="r" indent="0" marL="0">
              <a:buNone/>
            </a:pPr>
            <a:r>
              <a:rPr lang="en-US" sz="850" dirty="0">
                <a:solidFill>
                  <a:srgbClr val="687386"/>
                </a:solidFill>
                <a:latin typeface="Helvetica" pitchFamily="34" charset="0"/>
                <a:ea typeface="Helvetica" pitchFamily="34" charset="-122"/>
                <a:cs typeface="Helvetica" pitchFamily="34" charset="-120"/>
              </a:rPr>
              <a:t>Baseline and initial-length calculation</a:t>
            </a:r>
            <a:endParaRPr lang="en-US" sz="850" dirty="0"/>
          </a:p>
        </p:txBody>
      </p:sp>
      <p:sp>
        <p:nvSpPr>
          <p:cNvPr id="7" name="Text 4"/>
          <p:cNvSpPr/>
          <p:nvPr/>
        </p:nvSpPr>
        <p:spPr>
          <a:xfrm>
            <a:off x="7360920" y="1508760"/>
            <a:ext cx="3886200" cy="3520440"/>
          </a:xfrm>
          <a:prstGeom prst="rect">
            <a:avLst/>
          </a:prstGeom>
          <a:noFill/>
          <a:ln/>
        </p:spPr>
        <p:txBody>
          <a:bodyPr wrap="square" lIns="635" tIns="635" rIns="635" bIns="635" rtlCol="0" anchor="ctr">
            <a:normAutofit/>
          </a:bodyPr>
          <a:lstStyle/>
          <a:p>
            <a:pPr marL="203200" indent="-203200">
              <a:buSzPct val="100000"/>
              <a:buChar char="•"/>
            </a:pPr>
            <a:r>
              <a:rPr lang="en-US" sz="1850" dirty="0">
                <a:solidFill>
                  <a:srgbClr val="2F3642"/>
                </a:solidFill>
                <a:latin typeface="Helvetica" pitchFamily="34" charset="0"/>
                <a:ea typeface="Helvetica" pitchFamily="34" charset="-122"/>
                <a:cs typeface="Helvetica" pitchFamily="34" charset="-120"/>
              </a:rPr>
              <a:t>The setup measures displacement, not absolute wire length.</a:t>
            </a:r>
            <a:endParaRPr lang="en-US" sz="1850" dirty="0"/>
          </a:p>
          <a:p>
            <a:pPr marL="203200" indent="-203200">
              <a:buSzPct val="100000"/>
              <a:buChar char="•"/>
            </a:pPr>
            <a:r>
              <a:rPr lang="en-US" sz="1850" dirty="0">
                <a:solidFill>
                  <a:srgbClr val="2F3642"/>
                </a:solidFill>
                <a:latin typeface="Helvetica" pitchFamily="34" charset="0"/>
                <a:ea typeface="Helvetica" pitchFamily="34" charset="-122"/>
                <a:cs typeface="Helvetica" pitchFamily="34" charset="-120"/>
              </a:rPr>
              <a:t>At the start, it goes to a known stress target and asks for the measured wire length.</a:t>
            </a:r>
            <a:endParaRPr lang="en-US" sz="1850" dirty="0"/>
          </a:p>
          <a:p>
            <a:pPr marL="203200" indent="-203200">
              <a:buSzPct val="100000"/>
              <a:buChar char="•"/>
            </a:pPr>
            <a:r>
              <a:rPr lang="en-US" sz="1850" dirty="0">
                <a:solidFill>
                  <a:srgbClr val="2F3642"/>
                </a:solidFill>
                <a:latin typeface="Helvetica" pitchFamily="34" charset="0"/>
                <a:ea typeface="Helvetica" pitchFamily="34" charset="-122"/>
                <a:cs typeface="Helvetica" pitchFamily="34" charset="-120"/>
              </a:rPr>
              <a:t>Then it lowers the load and finds the point where load no longer follows the linear displacement trend.</a:t>
            </a:r>
            <a:endParaRPr lang="en-US" sz="1850" dirty="0"/>
          </a:p>
        </p:txBody>
      </p:sp>
      <p:sp>
        <p:nvSpPr>
          <p:cNvPr id="8" name="Shape 5"/>
          <p:cNvSpPr/>
          <p:nvPr/>
        </p:nvSpPr>
        <p:spPr>
          <a:xfrm>
            <a:off x="7543800" y="5212080"/>
            <a:ext cx="3429000" cy="502920"/>
          </a:xfrm>
          <a:prstGeom prst="rect">
            <a:avLst>
              <a:gd name="adj" fmla="val 9091"/>
            </a:avLst>
          </a:prstGeom>
          <a:solidFill>
            <a:srgbClr val="FFFFFF"/>
          </a:solidFill>
          <a:ln w="17780">
            <a:solidFill>
              <a:srgbClr val="1F4E79"/>
            </a:solidFill>
            <a:prstDash val="solid"/>
          </a:ln>
        </p:spPr>
        <p:txBody>
          <a:bodyPr/>
          <a:p/>
        </p:txBody>
      </p:sp>
      <p:sp>
        <p:nvSpPr>
          <p:cNvPr id="9" name="Text 6"/>
          <p:cNvSpPr/>
          <p:nvPr/>
        </p:nvSpPr>
        <p:spPr>
          <a:xfrm>
            <a:off x="7708392" y="5340096"/>
            <a:ext cx="3099816" cy="274320"/>
          </a:xfrm>
          <a:prstGeom prst="rect">
            <a:avLst/>
          </a:prstGeom>
          <a:noFill/>
          <a:ln/>
        </p:spPr>
        <p:txBody>
          <a:bodyPr wrap="square" lIns="381" tIns="381" rIns="381" bIns="381" rtlCol="0" anchor="ctr">
            <a:normAutofit/>
          </a:bodyPr>
          <a:lstStyle/>
          <a:p>
            <a:pPr algn="ctr" indent="0" marL="0">
              <a:buNone/>
            </a:pPr>
            <a:r>
              <a:rPr lang="en-US" sz="1600" b="1" dirty="0">
                <a:solidFill>
                  <a:srgbClr val="1F4E79"/>
                </a:solidFill>
                <a:latin typeface="Helvetica" pitchFamily="34" charset="0"/>
                <a:ea typeface="Helvetica" pitchFamily="34" charset="-122"/>
                <a:cs typeface="Helvetica" pitchFamily="34" charset="-120"/>
              </a:rPr>
              <a:t>That point becomes the zero-load baseline.</a:t>
            </a:r>
            <a:endParaRPr lang="en-US" sz="1600" dirty="0"/>
          </a:p>
        </p:txBody>
      </p:sp>
      <p:sp>
        <p:nvSpPr>
          <p:cNvPr id="10" name="Text 7"/>
          <p:cNvSpPr/>
          <p:nvPr/>
        </p:nvSpPr>
        <p:spPr>
          <a:xfrm>
            <a:off x="11201400" y="6400800"/>
            <a:ext cx="502920" cy="201168"/>
          </a:xfrm>
          <a:prstGeom prst="rect">
            <a:avLst/>
          </a:prstGeom>
          <a:noFill/>
          <a:ln/>
        </p:spPr>
        <p:txBody>
          <a:bodyPr wrap="square" lIns="0" tIns="0" rIns="0" bIns="0" rtlCol="0" anchor="ctr">
            <a:normAutofit/>
          </a:bodyPr>
          <a:lstStyle/>
          <a:p>
            <a:pPr algn="r" indent="0" marL="0">
              <a:buNone/>
            </a:pPr>
            <a:r>
              <a:rPr sz="800">
                <a:solidFill>
                  <a:srgbClr val="4F5E73"/>
                </a:solidFill>
                <a:latin typeface="Aptos"/>
              </a:rPr>
              <a:t>08</a:t>
            </a:r>
            <a:endParaRPr lang="en-US" sz="9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9784080" cy="438912"/>
          </a:xfrm>
          <a:prstGeom prst="rect">
            <a:avLst/>
          </a:prstGeom>
          <a:noFill/>
          <a:ln/>
        </p:spPr>
        <p:txBody>
          <a:bodyPr wrap="square" lIns="0" tIns="0" rIns="0" bIns="0" rtlCol="0" anchor="ctr">
            <a:normAutofit/>
          </a:bodyPr>
          <a:lstStyle/>
          <a:p>
            <a:pPr indent="0" marL="0">
              <a:buNone/>
            </a:pPr>
            <a:r>
              <a:rPr lang="en-US" sz="2500" b="1" dirty="0">
                <a:solidFill>
                  <a:srgbClr val="151922"/>
                </a:solidFill>
                <a:latin typeface="Helvetica Neue" pitchFamily="34" charset="0"/>
                <a:ea typeface="Helvetica Neue" pitchFamily="34" charset="-122"/>
                <a:cs typeface="Helvetica Neue" pitchFamily="34" charset="-120"/>
              </a:rPr>
              <a:t>The motor approaches the target in two modes</a:t>
            </a:r>
            <a:endParaRPr lang="en-US" sz="2500" dirty="0"/>
          </a:p>
        </p:txBody>
      </p:sp>
      <p:sp>
        <p:nvSpPr>
          <p:cNvPr id="3" name="Shape 1"/>
          <p:cNvSpPr/>
          <p:nvPr/>
        </p:nvSpPr>
        <p:spPr>
          <a:xfrm>
            <a:off x="585216" y="1078992"/>
            <a:ext cx="11018520" cy="0"/>
          </a:xfrm>
          <a:prstGeom prst="line">
            <a:avLst/>
          </a:prstGeom>
          <a:noFill/>
          <a:ln w="12700">
            <a:solidFill>
              <a:srgbClr val="D9DEE8"/>
            </a:solidFill>
            <a:prstDash val="solid"/>
          </a:ln>
        </p:spPr>
        <p:txBody>
          <a:bodyPr/>
          <a:p/>
        </p:txBody>
      </p:sp>
      <p:sp>
        <p:nvSpPr>
          <p:cNvPr id="4" name="Shape 2"/>
          <p:cNvSpPr/>
          <p:nvPr/>
        </p:nvSpPr>
        <p:spPr>
          <a:xfrm>
            <a:off x="749808" y="1234440"/>
            <a:ext cx="6126480" cy="4617720"/>
          </a:xfrm>
          <a:prstGeom prst="rect">
            <a:avLst/>
          </a:prstGeom>
          <a:solidFill>
            <a:srgbClr val="FFFFFF"/>
          </a:solidFill>
          <a:ln w="12700">
            <a:solidFill>
              <a:srgbClr val="D9DEE8"/>
            </a:solidFill>
            <a:prstDash val="solid"/>
          </a:ln>
        </p:spPr>
        <p:txBody>
          <a:bodyPr/>
          <a:p/>
        </p:txBody>
      </p:sp>
      <p:pic>
        <p:nvPicPr>
          <p:cNvPr id="5" name="Image 0" descr="/Users/martin/PyPlot/outputs/manual-20260520-mini-dma-deck-v3/presentations/mini-dma-colloquium/source_unzipped/ppt/media/image7.png">    </p:cNvPr>
          <p:cNvPicPr>
            <a:picLocks noChangeAspect="1"/>
          </p:cNvPicPr>
          <p:nvPr/>
        </p:nvPicPr>
        <p:blipFill>
          <a:blip r:embed="rId1"/>
          <a:stretch>
            <a:fillRect/>
          </a:stretch>
        </p:blipFill>
        <p:spPr>
          <a:xfrm>
            <a:off x="795528" y="1637498"/>
            <a:ext cx="6035040" cy="3811604"/>
          </a:xfrm>
          <a:prstGeom prst="rect">
            <a:avLst/>
          </a:prstGeom>
        </p:spPr>
      </p:pic>
      <p:sp>
        <p:nvSpPr>
          <p:cNvPr id="6" name="Text 3"/>
          <p:cNvSpPr/>
          <p:nvPr/>
        </p:nvSpPr>
        <p:spPr>
          <a:xfrm>
            <a:off x="841248" y="5559552"/>
            <a:ext cx="5943600" cy="182880"/>
          </a:xfrm>
          <a:prstGeom prst="rect">
            <a:avLst/>
          </a:prstGeom>
          <a:noFill/>
          <a:ln/>
        </p:spPr>
        <p:txBody>
          <a:bodyPr wrap="square" lIns="0" tIns="0" rIns="0" bIns="0" rtlCol="0" anchor="ctr">
            <a:normAutofit/>
          </a:bodyPr>
          <a:lstStyle/>
          <a:p>
            <a:pPr algn="r" indent="0" marL="0">
              <a:buNone/>
            </a:pPr>
            <a:r>
              <a:rPr lang="en-US" sz="850" dirty="0">
                <a:solidFill>
                  <a:srgbClr val="687386"/>
                </a:solidFill>
                <a:latin typeface="Helvetica" pitchFamily="34" charset="0"/>
                <a:ea typeface="Helvetica" pitchFamily="34" charset="-122"/>
                <a:cs typeface="Helvetica" pitchFamily="34" charset="-120"/>
              </a:rPr>
              <a:t>Target approach example</a:t>
            </a:r>
            <a:endParaRPr lang="en-US" sz="850" dirty="0"/>
          </a:p>
        </p:txBody>
      </p:sp>
      <p:sp>
        <p:nvSpPr>
          <p:cNvPr id="7" name="Shape 4"/>
          <p:cNvSpPr/>
          <p:nvPr/>
        </p:nvSpPr>
        <p:spPr>
          <a:xfrm>
            <a:off x="7269480" y="1417320"/>
            <a:ext cx="3977640" cy="1417320"/>
          </a:xfrm>
          <a:prstGeom prst="rect">
            <a:avLst/>
          </a:prstGeom>
          <a:solidFill>
            <a:srgbClr val="F3FAF8"/>
          </a:solidFill>
          <a:ln w="12700">
            <a:solidFill>
              <a:srgbClr val="B6DCD4"/>
            </a:solidFill>
            <a:prstDash val="solid"/>
          </a:ln>
        </p:spPr>
        <p:txBody>
          <a:bodyPr/>
          <a:p/>
        </p:txBody>
      </p:sp>
      <p:sp>
        <p:nvSpPr>
          <p:cNvPr id="8" name="Text 5"/>
          <p:cNvSpPr/>
          <p:nvPr/>
        </p:nvSpPr>
        <p:spPr>
          <a:xfrm>
            <a:off x="7498080" y="1627632"/>
            <a:ext cx="3474720" cy="274320"/>
          </a:xfrm>
          <a:prstGeom prst="rect">
            <a:avLst/>
          </a:prstGeom>
          <a:noFill/>
          <a:ln/>
        </p:spPr>
        <p:txBody>
          <a:bodyPr wrap="square" lIns="0" tIns="0" rIns="0" bIns="0" rtlCol="0" anchor="ctr"/>
          <a:lstStyle/>
          <a:p>
            <a:pPr indent="0" marL="0">
              <a:buNone/>
            </a:pPr>
            <a:r>
              <a:rPr lang="en-US" sz="2000" b="1" dirty="0">
                <a:solidFill>
                  <a:srgbClr val="151922"/>
                </a:solidFill>
              </a:rPr>
              <a:t>Far from target</a:t>
            </a:r>
            <a:endParaRPr lang="en-US" sz="2000" dirty="0"/>
          </a:p>
        </p:txBody>
      </p:sp>
      <p:sp>
        <p:nvSpPr>
          <p:cNvPr id="9" name="Text 6"/>
          <p:cNvSpPr/>
          <p:nvPr/>
        </p:nvSpPr>
        <p:spPr>
          <a:xfrm>
            <a:off x="7498080" y="2057400"/>
            <a:ext cx="3383280" cy="347472"/>
          </a:xfrm>
          <a:prstGeom prst="rect">
            <a:avLst/>
          </a:prstGeom>
          <a:noFill/>
          <a:ln/>
        </p:spPr>
        <p:txBody>
          <a:bodyPr wrap="square" lIns="0" tIns="0" rIns="0" bIns="0" rtlCol="0" anchor="ctr">
            <a:normAutofit/>
          </a:bodyPr>
          <a:lstStyle/>
          <a:p>
            <a:pPr indent="0" marL="0">
              <a:buNone/>
            </a:pPr>
            <a:r>
              <a:rPr lang="en-US" sz="1700" dirty="0">
                <a:solidFill>
                  <a:srgbClr val="2F3642"/>
                </a:solidFill>
              </a:rPr>
              <a:t>larger steps + continuous cruise mode</a:t>
            </a:r>
            <a:endParaRPr lang="en-US" sz="1700" dirty="0"/>
          </a:p>
        </p:txBody>
      </p:sp>
      <p:sp>
        <p:nvSpPr>
          <p:cNvPr id="10" name="Shape 7"/>
          <p:cNvSpPr/>
          <p:nvPr/>
        </p:nvSpPr>
        <p:spPr>
          <a:xfrm>
            <a:off x="7269480" y="3246120"/>
            <a:ext cx="3977640" cy="1417320"/>
          </a:xfrm>
          <a:prstGeom prst="rect">
            <a:avLst/>
          </a:prstGeom>
          <a:solidFill>
            <a:srgbClr val="FFF8F0"/>
          </a:solidFill>
          <a:ln w="12700">
            <a:solidFill>
              <a:srgbClr val="F4C18E"/>
            </a:solidFill>
            <a:prstDash val="solid"/>
          </a:ln>
        </p:spPr>
        <p:txBody>
          <a:bodyPr/>
          <a:p/>
        </p:txBody>
      </p:sp>
      <p:sp>
        <p:nvSpPr>
          <p:cNvPr id="11" name="Text 8"/>
          <p:cNvSpPr/>
          <p:nvPr/>
        </p:nvSpPr>
        <p:spPr>
          <a:xfrm>
            <a:off x="7498080" y="3456432"/>
            <a:ext cx="3474720" cy="274320"/>
          </a:xfrm>
          <a:prstGeom prst="rect">
            <a:avLst/>
          </a:prstGeom>
          <a:noFill/>
          <a:ln/>
        </p:spPr>
        <p:txBody>
          <a:bodyPr wrap="square" lIns="0" tIns="0" rIns="0" bIns="0" rtlCol="0" anchor="ctr"/>
          <a:lstStyle/>
          <a:p>
            <a:pPr indent="0" marL="0">
              <a:buNone/>
            </a:pPr>
            <a:r>
              <a:rPr lang="en-US" sz="2000" b="1" dirty="0">
                <a:solidFill>
                  <a:srgbClr val="151922"/>
                </a:solidFill>
              </a:rPr>
              <a:t>Near target</a:t>
            </a:r>
            <a:endParaRPr lang="en-US" sz="2000" dirty="0"/>
          </a:p>
        </p:txBody>
      </p:sp>
      <p:sp>
        <p:nvSpPr>
          <p:cNvPr id="12" name="Text 9"/>
          <p:cNvSpPr/>
          <p:nvPr/>
        </p:nvSpPr>
        <p:spPr>
          <a:xfrm>
            <a:off x="7498080" y="3886200"/>
            <a:ext cx="3383280" cy="411480"/>
          </a:xfrm>
          <a:prstGeom prst="rect">
            <a:avLst/>
          </a:prstGeom>
          <a:noFill/>
          <a:ln/>
        </p:spPr>
        <p:txBody>
          <a:bodyPr wrap="square" lIns="0" tIns="0" rIns="0" bIns="0" rtlCol="0" anchor="ctr">
            <a:normAutofit/>
          </a:bodyPr>
          <a:lstStyle/>
          <a:p>
            <a:pPr indent="0" marL="0">
              <a:buNone/>
            </a:pPr>
            <a:r>
              <a:rPr lang="en-US" sz="1700" dirty="0">
                <a:solidFill>
                  <a:srgbClr val="2F3642"/>
                </a:solidFill>
              </a:rPr>
              <a:t>single moves, fresh scale value, then next move</a:t>
            </a:r>
            <a:endParaRPr lang="en-US" sz="1700" dirty="0"/>
          </a:p>
        </p:txBody>
      </p:sp>
      <p:sp>
        <p:nvSpPr>
          <p:cNvPr id="13" name="Shape 10"/>
          <p:cNvSpPr/>
          <p:nvPr/>
        </p:nvSpPr>
        <p:spPr>
          <a:xfrm>
            <a:off x="7479792" y="5166360"/>
            <a:ext cx="3474720" cy="502920"/>
          </a:xfrm>
          <a:prstGeom prst="rect">
            <a:avLst>
              <a:gd name="adj" fmla="val 9091"/>
            </a:avLst>
          </a:prstGeom>
          <a:solidFill>
            <a:srgbClr val="FFFFFF"/>
          </a:solidFill>
          <a:ln w="17780">
            <a:solidFill>
              <a:srgbClr val="1F4E79"/>
            </a:solidFill>
            <a:prstDash val="solid"/>
          </a:ln>
        </p:spPr>
        <p:txBody>
          <a:bodyPr/>
          <a:p/>
        </p:txBody>
      </p:sp>
      <p:sp>
        <p:nvSpPr>
          <p:cNvPr id="14" name="Text 11"/>
          <p:cNvSpPr/>
          <p:nvPr/>
        </p:nvSpPr>
        <p:spPr>
          <a:xfrm>
            <a:off x="7644384" y="5294376"/>
            <a:ext cx="3145536" cy="274320"/>
          </a:xfrm>
          <a:prstGeom prst="rect">
            <a:avLst/>
          </a:prstGeom>
          <a:noFill/>
          <a:ln/>
        </p:spPr>
        <p:txBody>
          <a:bodyPr wrap="square" lIns="381" tIns="381" rIns="381" bIns="381" rtlCol="0" anchor="ctr">
            <a:normAutofit/>
          </a:bodyPr>
          <a:lstStyle/>
          <a:p>
            <a:pPr algn="ctr" indent="0" marL="0">
              <a:buNone/>
            </a:pPr>
            <a:r>
              <a:rPr lang="en-US" sz="1600" b="1" dirty="0">
                <a:solidFill>
                  <a:srgbClr val="1F4E79"/>
                </a:solidFill>
                <a:latin typeface="Helvetica" pitchFamily="34" charset="0"/>
                <a:ea typeface="Helvetica" pitchFamily="34" charset="-122"/>
                <a:cs typeface="Helvetica" pitchFamily="34" charset="-120"/>
              </a:rPr>
              <a:t>Final step size: 10 micrometers</a:t>
            </a:r>
            <a:endParaRPr lang="en-US" sz="1600" dirty="0"/>
          </a:p>
        </p:txBody>
      </p:sp>
      <p:sp>
        <p:nvSpPr>
          <p:cNvPr id="15" name="Text 12"/>
          <p:cNvSpPr/>
          <p:nvPr/>
        </p:nvSpPr>
        <p:spPr>
          <a:xfrm>
            <a:off x="11201400" y="6400800"/>
            <a:ext cx="502920" cy="201168"/>
          </a:xfrm>
          <a:prstGeom prst="rect">
            <a:avLst/>
          </a:prstGeom>
          <a:noFill/>
          <a:ln/>
        </p:spPr>
        <p:txBody>
          <a:bodyPr wrap="square" lIns="0" tIns="0" rIns="0" bIns="0" rtlCol="0" anchor="ctr">
            <a:normAutofit/>
          </a:bodyPr>
          <a:lstStyle/>
          <a:p>
            <a:pPr algn="r" indent="0" marL="0">
              <a:buNone/>
            </a:pPr>
            <a:r>
              <a:rPr sz="800">
                <a:solidFill>
                  <a:srgbClr val="4F5E73"/>
                </a:solidFill>
                <a:latin typeface="Aptos"/>
              </a:rPr>
              <a:t>09</a:t>
            </a:r>
            <a:endParaRPr lang="en-US" sz="9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9784080" cy="438912"/>
          </a:xfrm>
          <a:prstGeom prst="rect">
            <a:avLst/>
          </a:prstGeom>
          <a:noFill/>
          <a:ln/>
        </p:spPr>
        <p:txBody>
          <a:bodyPr wrap="square" lIns="0" tIns="0" rIns="0" bIns="0" rtlCol="0" anchor="ctr">
            <a:normAutofit/>
          </a:bodyPr>
          <a:lstStyle/>
          <a:p>
            <a:pPr indent="0" marL="0">
              <a:buNone/>
            </a:pPr>
            <a:r>
              <a:rPr lang="en-US" sz="2500" b="1" dirty="0">
                <a:solidFill>
                  <a:srgbClr val="151922"/>
                </a:solidFill>
                <a:latin typeface="Helvetica Neue" pitchFamily="34" charset="0"/>
                <a:ea typeface="Helvetica Neue" pitchFamily="34" charset="-122"/>
                <a:cs typeface="Helvetica Neue" pitchFamily="34" charset="-120"/>
              </a:rPr>
              <a:t>First Mini DMA current sweeps</a:t>
            </a:r>
            <a:endParaRPr lang="en-US" sz="2500" dirty="0"/>
          </a:p>
        </p:txBody>
      </p:sp>
      <p:sp>
        <p:nvSpPr>
          <p:cNvPr id="3" name="Shape 1"/>
          <p:cNvSpPr/>
          <p:nvPr/>
        </p:nvSpPr>
        <p:spPr>
          <a:xfrm>
            <a:off x="585216" y="1078992"/>
            <a:ext cx="11018520" cy="0"/>
          </a:xfrm>
          <a:prstGeom prst="line">
            <a:avLst/>
          </a:prstGeom>
          <a:noFill/>
          <a:ln w="12700">
            <a:solidFill>
              <a:srgbClr val="D9DEE8"/>
            </a:solidFill>
            <a:prstDash val="solid"/>
          </a:ln>
        </p:spPr>
        <p:txBody>
          <a:bodyPr/>
          <a:p/>
        </p:txBody>
      </p:sp>
      <p:sp>
        <p:nvSpPr>
          <p:cNvPr id="4" name="Shape 2"/>
          <p:cNvSpPr/>
          <p:nvPr/>
        </p:nvSpPr>
        <p:spPr>
          <a:xfrm>
            <a:off x="749808" y="1234440"/>
            <a:ext cx="6629400" cy="4645152"/>
          </a:xfrm>
          <a:prstGeom prst="rect">
            <a:avLst/>
          </a:prstGeom>
          <a:solidFill>
            <a:srgbClr val="FFFFFF"/>
          </a:solidFill>
          <a:ln w="12700">
            <a:solidFill>
              <a:srgbClr val="D9DEE8"/>
            </a:solidFill>
            <a:prstDash val="solid"/>
          </a:ln>
        </p:spPr>
        <p:txBody>
          <a:bodyPr/>
          <a:p/>
        </p:txBody>
      </p:sp>
      <p:sp>
        <p:nvSpPr>
          <p:cNvPr id="6" name="Text 3"/>
          <p:cNvSpPr/>
          <p:nvPr/>
        </p:nvSpPr>
        <p:spPr>
          <a:xfrm>
            <a:off x="841248" y="5586984"/>
            <a:ext cx="6446520" cy="182880"/>
          </a:xfrm>
          <a:prstGeom prst="rect">
            <a:avLst/>
          </a:prstGeom>
          <a:noFill/>
          <a:ln/>
        </p:spPr>
        <p:txBody>
          <a:bodyPr wrap="square" lIns="0" tIns="0" rIns="0" bIns="0" rtlCol="0" anchor="ctr">
            <a:normAutofit/>
          </a:bodyPr>
          <a:lstStyle/>
          <a:p>
            <a:pPr algn="r" indent="0" marL="0">
              <a:buNone/>
            </a:pPr>
            <a:r>
              <a:rPr lang="en-US" sz="850" dirty="0">
                <a:solidFill>
                  <a:srgbClr val="687386"/>
                </a:solidFill>
                <a:latin typeface="Helvetica" pitchFamily="34" charset="0"/>
                <a:ea typeface="Helvetica" pitchFamily="34" charset="-122"/>
                <a:cs typeface="Helvetica" pitchFamily="34" charset="-120"/>
              </a:rPr>
              <a:t>Mini DMA run: 50-200 MPa targets</a:t>
            </a:r>
            <a:endParaRPr lang="en-US" sz="850" dirty="0"/>
          </a:p>
        </p:txBody>
      </p:sp>
      <p:sp>
        <p:nvSpPr>
          <p:cNvPr id="7" name="Text 4"/>
          <p:cNvSpPr/>
          <p:nvPr/>
        </p:nvSpPr>
        <p:spPr>
          <a:xfrm>
            <a:off x="7726680" y="1554480"/>
            <a:ext cx="3566160" cy="3429000"/>
          </a:xfrm>
          <a:prstGeom prst="rect">
            <a:avLst/>
          </a:prstGeom>
          <a:noFill/>
          <a:ln/>
        </p:spPr>
        <p:txBody>
          <a:bodyPr wrap="square" lIns="635" tIns="635" rIns="635" bIns="635" rtlCol="0" anchor="ctr">
            <a:normAutofit/>
          </a:bodyPr>
          <a:lstStyle/>
          <a:p>
            <a:pPr marL="203200" indent="-203200">
              <a:buSzPct val="100000"/>
              <a:buChar char="•"/>
            </a:pPr>
            <a:r>
              <a:rPr lang="en-US" sz="1850" dirty="0">
                <a:solidFill>
                  <a:srgbClr val="2F3642"/>
                </a:solidFill>
                <a:latin typeface="Helvetica" pitchFamily="34" charset="0"/>
                <a:ea typeface="Helvetica" pitchFamily="34" charset="-122"/>
                <a:cs typeface="Helvetica" pitchFamily="34" charset="-120"/>
              </a:rPr>
              <a:t>This is the first real measurement from the setup.</a:t>
            </a:r>
            <a:endParaRPr lang="en-US" sz="1850" dirty="0"/>
          </a:p>
          <a:p>
            <a:pPr marL="203200" indent="-203200">
              <a:buSzPct val="100000"/>
              <a:buChar char="•"/>
            </a:pPr>
            <a:r>
              <a:rPr lang="en-US" sz="1850" dirty="0">
                <a:solidFill>
                  <a:srgbClr val="2F3642"/>
                </a:solidFill>
                <a:latin typeface="Helvetica" pitchFamily="34" charset="0"/>
                <a:ea typeface="Helvetica" pitchFamily="34" charset="-122"/>
                <a:cs typeface="Helvetica" pitchFamily="34" charset="-120"/>
              </a:rPr>
              <a:t>The higher stress curves were removed here to keep the graph readable.</a:t>
            </a:r>
            <a:endParaRPr lang="en-US" sz="1850" dirty="0"/>
          </a:p>
          <a:p>
            <a:pPr marL="203200" indent="-203200">
              <a:buSzPct val="100000"/>
              <a:buChar char="•"/>
            </a:pPr>
            <a:r>
              <a:rPr lang="en-US" sz="1850" dirty="0">
                <a:solidFill>
                  <a:srgbClr val="2F3642"/>
                </a:solidFill>
                <a:latin typeface="Helvetica" pitchFamily="34" charset="0"/>
                <a:ea typeface="Helvetica" pitchFamily="34" charset="-122"/>
                <a:cs typeface="Helvetica" pitchFamily="34" charset="-120"/>
              </a:rPr>
              <a:t>Because current is measured, power for a target contraction can also be estimated.</a:t>
            </a:r>
            <a:endParaRPr lang="en-US" sz="1850" dirty="0"/>
          </a:p>
        </p:txBody>
      </p:sp>
      <p:sp>
        <p:nvSpPr>
          <p:cNvPr id="8" name="Text 5"/>
          <p:cNvSpPr/>
          <p:nvPr/>
        </p:nvSpPr>
        <p:spPr>
          <a:xfrm>
            <a:off x="11201400" y="6400800"/>
            <a:ext cx="502920" cy="201168"/>
          </a:xfrm>
          <a:prstGeom prst="rect">
            <a:avLst/>
          </a:prstGeom>
          <a:noFill/>
          <a:ln/>
        </p:spPr>
        <p:txBody>
          <a:bodyPr wrap="square" lIns="0" tIns="0" rIns="0" bIns="0" rtlCol="0" anchor="ctr">
            <a:normAutofit/>
          </a:bodyPr>
          <a:lstStyle/>
          <a:p>
            <a:pPr algn="r" indent="0" marL="0">
              <a:buNone/>
            </a:pPr>
            <a:r>
              <a:rPr sz="800">
                <a:solidFill>
                  <a:srgbClr val="4F5E73"/>
                </a:solidFill>
                <a:latin typeface="Aptos"/>
              </a:rPr>
              <a:t>10</a:t>
            </a:r>
            <a:endParaRPr lang="en-US" sz="900" dirty="0"/>
          </a:p>
        </p:txBody>
      </p:sp>
      <p:pic>
        <p:nvPicPr>
          <p:cNvPr id="9" name="Picture 8" descr="mini_dma_strain_current_power_pyplot.png"/>
          <p:cNvPicPr>
            <a:picLocks noChangeAspect="1"/>
          </p:cNvPicPr>
          <p:nvPr/>
        </p:nvPicPr>
        <p:blipFill>
          <a:blip r:embed="rId4"/>
          <a:stretch>
            <a:fillRect/>
          </a:stretch>
        </p:blipFill>
        <p:spPr>
          <a:xfrm>
            <a:off x="1081690" y="1699641"/>
            <a:ext cx="5965636" cy="371475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10" name="Comparison image"/>
          <p:cNvPicPr/>
          <p:nvPr/>
        </p:nvPicPr>
        <p:blipFill>
          <a:blip r:embed="rId3"/>
          <a:stretch>
            <a:fillRect/>
          </a:stretch>
        </p:blipFill>
        <p:spPr>
          <a:xfrm>
            <a:off x="384048" y="164592"/>
            <a:ext cx="11292840" cy="6272784"/>
          </a:xfrm>
          <a:prstGeom prst="rect">
            <a:avLst/>
          </a:prstGeom>
        </p:spPr>
      </p:pic>
      <p:sp>
        <p:nvSpPr>
          <p:cNvPr id="100" name="Page"/>
          <p:cNvSpPr txBox="1"/>
          <p:nvPr/>
        </p:nvSpPr>
        <p:spPr>
          <a:xfrm>
            <a:off x="11201400" y="6400800"/>
            <a:ext cx="502920" cy="201168"/>
          </a:xfrm>
          <a:prstGeom prst="rect">
            <a:avLst/>
          </a:prstGeom>
        </p:spPr>
        <p:txBody>
          <a:bodyPr wrap="square"/>
          <a:lstStyle/>
          <a:p>
            <a:pPr algn="right"/>
            <a:r>
              <a:rPr sz="800">
                <a:solidFill>
                  <a:srgbClr val="4F5E73"/>
                </a:solidFill>
                <a:latin typeface="Aptos"/>
              </a:rPr>
              <a:t>11</a:t>
            </a:r>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9784080" cy="438912"/>
          </a:xfrm>
          <a:prstGeom prst="rect">
            <a:avLst/>
          </a:prstGeom>
          <a:noFill/>
          <a:ln/>
        </p:spPr>
        <p:txBody>
          <a:bodyPr wrap="square" lIns="0" tIns="0" rIns="0" bIns="0" rtlCol="0" anchor="ctr">
            <a:normAutofit/>
          </a:bodyPr>
          <a:lstStyle/>
          <a:p>
            <a:pPr indent="0" marL="0">
              <a:buNone/>
            </a:pPr>
            <a:r>
              <a:rPr lang="en-US" sz="2500" b="1" dirty="0">
                <a:solidFill>
                  <a:srgbClr val="151922"/>
                </a:solidFill>
                <a:latin typeface="Helvetica Neue" pitchFamily="34" charset="0"/>
                <a:ea typeface="Helvetica Neue" pitchFamily="34" charset="-122"/>
                <a:cs typeface="Helvetica Neue" pitchFamily="34" charset="-120"/>
              </a:rPr>
              <a:t>Use Mini DMA before commercial DMA</a:t>
            </a:r>
            <a:endParaRPr lang="en-US" sz="2500" dirty="0"/>
          </a:p>
        </p:txBody>
      </p:sp>
      <p:sp>
        <p:nvSpPr>
          <p:cNvPr id="3" name="Shape 1"/>
          <p:cNvSpPr/>
          <p:nvPr/>
        </p:nvSpPr>
        <p:spPr>
          <a:xfrm>
            <a:off x="585216" y="1078992"/>
            <a:ext cx="11018520" cy="0"/>
          </a:xfrm>
          <a:prstGeom prst="line">
            <a:avLst/>
          </a:prstGeom>
          <a:noFill/>
          <a:ln w="12700">
            <a:solidFill>
              <a:srgbClr val="D9DEE8"/>
            </a:solidFill>
            <a:prstDash val="solid"/>
          </a:ln>
        </p:spPr>
        <p:txBody>
          <a:bodyPr/>
          <a:p/>
        </p:txBody>
      </p:sp>
      <p:sp>
        <p:nvSpPr>
          <p:cNvPr id="4" name="Shape 2"/>
          <p:cNvSpPr/>
          <p:nvPr/>
        </p:nvSpPr>
        <p:spPr>
          <a:xfrm>
            <a:off x="914400" y="1572768"/>
            <a:ext cx="2514600" cy="1005840"/>
          </a:xfrm>
          <a:prstGeom prst="rect">
            <a:avLst>
              <a:gd name="adj" fmla="val 4545"/>
            </a:avLst>
          </a:prstGeom>
          <a:solidFill>
            <a:srgbClr val="FFFFFF"/>
          </a:solidFill>
          <a:ln w="17780">
            <a:solidFill>
              <a:srgbClr val="1F4E79"/>
            </a:solidFill>
            <a:prstDash val="solid"/>
          </a:ln>
        </p:spPr>
        <p:txBody>
          <a:bodyPr/>
          <a:p/>
        </p:txBody>
      </p:sp>
      <p:sp>
        <p:nvSpPr>
          <p:cNvPr id="5" name="Text 3"/>
          <p:cNvSpPr/>
          <p:nvPr/>
        </p:nvSpPr>
        <p:spPr>
          <a:xfrm>
            <a:off x="1078992" y="1700784"/>
            <a:ext cx="2185416" cy="777240"/>
          </a:xfrm>
          <a:prstGeom prst="rect">
            <a:avLst/>
          </a:prstGeom>
          <a:noFill/>
          <a:ln/>
        </p:spPr>
        <p:txBody>
          <a:bodyPr wrap="square" lIns="381" tIns="381" rIns="381" bIns="381" rtlCol="0" anchor="ctr">
            <a:normAutofit/>
          </a:bodyPr>
          <a:lstStyle/>
          <a:p>
            <a:pPr algn="ctr" indent="0" marL="0">
              <a:buNone/>
            </a:pPr>
            <a:r>
              <a:rPr lang="en-US" sz="2200" b="1" dirty="0">
                <a:solidFill>
                  <a:srgbClr val="1F4E79"/>
                </a:solidFill>
                <a:latin typeface="Helvetica" pitchFamily="34" charset="0"/>
                <a:ea typeface="Helvetica" pitchFamily="34" charset="-122"/>
                <a:cs typeface="Helvetica" pitchFamily="34" charset="-120"/>
              </a:rPr>
              <a:t>Mini DMA</a:t>
            </a:r>
            <a:endParaRPr lang="en-US" sz="2200" dirty="0"/>
          </a:p>
          <a:p>
            <a:pPr algn="ctr" indent="0" marL="0">
              <a:buNone/>
            </a:pPr>
            <a:r>
              <a:rPr lang="en-US" sz="2200" b="1" dirty="0">
                <a:solidFill>
                  <a:srgbClr val="1F4E79"/>
                </a:solidFill>
                <a:latin typeface="Helvetica" pitchFamily="34" charset="0"/>
                <a:ea typeface="Helvetica" pitchFamily="34" charset="-122"/>
                <a:cs typeface="Helvetica" pitchFamily="34" charset="-120"/>
              </a:rPr>
              <a:t>screening</a:t>
            </a:r>
            <a:endParaRPr lang="en-US" sz="2200" dirty="0"/>
          </a:p>
        </p:txBody>
      </p:sp>
      <p:sp>
        <p:nvSpPr>
          <p:cNvPr id="6" name="Shape 4"/>
          <p:cNvSpPr/>
          <p:nvPr/>
        </p:nvSpPr>
        <p:spPr>
          <a:xfrm>
            <a:off x="4800600" y="1572768"/>
            <a:ext cx="2514600" cy="1005840"/>
          </a:xfrm>
          <a:prstGeom prst="rect">
            <a:avLst>
              <a:gd name="adj" fmla="val 4545"/>
            </a:avLst>
          </a:prstGeom>
          <a:solidFill>
            <a:srgbClr val="FFFFFF"/>
          </a:solidFill>
          <a:ln w="17780">
            <a:solidFill>
              <a:srgbClr val="2F8F83"/>
            </a:solidFill>
            <a:prstDash val="solid"/>
          </a:ln>
        </p:spPr>
        <p:txBody>
          <a:bodyPr/>
          <a:p/>
        </p:txBody>
      </p:sp>
      <p:sp>
        <p:nvSpPr>
          <p:cNvPr id="7" name="Text 5"/>
          <p:cNvSpPr/>
          <p:nvPr/>
        </p:nvSpPr>
        <p:spPr>
          <a:xfrm>
            <a:off x="4965192" y="1700784"/>
            <a:ext cx="2185416" cy="777240"/>
          </a:xfrm>
          <a:prstGeom prst="rect">
            <a:avLst/>
          </a:prstGeom>
          <a:noFill/>
          <a:ln/>
        </p:spPr>
        <p:txBody>
          <a:bodyPr wrap="square" lIns="381" tIns="381" rIns="381" bIns="381" rtlCol="0" anchor="ctr">
            <a:normAutofit/>
          </a:bodyPr>
          <a:lstStyle/>
          <a:p>
            <a:pPr algn="ctr" indent="0" marL="0">
              <a:buNone/>
            </a:pPr>
            <a:r>
              <a:rPr lang="en-US" sz="2200" b="1" dirty="0">
                <a:solidFill>
                  <a:srgbClr val="2F8F83"/>
                </a:solidFill>
                <a:latin typeface="Helvetica" pitchFamily="34" charset="0"/>
                <a:ea typeface="Helvetica" pitchFamily="34" charset="-122"/>
                <a:cs typeface="Helvetica" pitchFamily="34" charset="-120"/>
              </a:rPr>
              <a:t>Keep only</a:t>
            </a:r>
            <a:endParaRPr lang="en-US" sz="2200" dirty="0"/>
          </a:p>
          <a:p>
            <a:pPr algn="ctr" indent="0" marL="0">
              <a:buNone/>
            </a:pPr>
            <a:r>
              <a:rPr lang="en-US" sz="2200" b="1" dirty="0">
                <a:solidFill>
                  <a:srgbClr val="2F8F83"/>
                </a:solidFill>
                <a:latin typeface="Helvetica" pitchFamily="34" charset="0"/>
                <a:ea typeface="Helvetica" pitchFamily="34" charset="-122"/>
                <a:cs typeface="Helvetica" pitchFamily="34" charset="-120"/>
              </a:rPr>
              <a:t>promising wires</a:t>
            </a:r>
            <a:endParaRPr lang="en-US" sz="2200" dirty="0"/>
          </a:p>
        </p:txBody>
      </p:sp>
      <p:sp>
        <p:nvSpPr>
          <p:cNvPr id="8" name="Shape 6"/>
          <p:cNvSpPr/>
          <p:nvPr/>
        </p:nvSpPr>
        <p:spPr>
          <a:xfrm>
            <a:off x="8686800" y="1572768"/>
            <a:ext cx="2514600" cy="1005840"/>
          </a:xfrm>
          <a:prstGeom prst="rect">
            <a:avLst>
              <a:gd name="adj" fmla="val 4545"/>
            </a:avLst>
          </a:prstGeom>
          <a:solidFill>
            <a:srgbClr val="FFFFFF"/>
          </a:solidFill>
          <a:ln w="17780">
            <a:solidFill>
              <a:srgbClr val="F08B2D"/>
            </a:solidFill>
            <a:prstDash val="solid"/>
          </a:ln>
        </p:spPr>
        <p:txBody>
          <a:bodyPr/>
          <a:p/>
        </p:txBody>
      </p:sp>
      <p:sp>
        <p:nvSpPr>
          <p:cNvPr id="9" name="Text 7"/>
          <p:cNvSpPr/>
          <p:nvPr/>
        </p:nvSpPr>
        <p:spPr>
          <a:xfrm>
            <a:off x="8851392" y="1700784"/>
            <a:ext cx="2185416" cy="777240"/>
          </a:xfrm>
          <a:prstGeom prst="rect">
            <a:avLst/>
          </a:prstGeom>
          <a:noFill/>
          <a:ln/>
        </p:spPr>
        <p:txBody>
          <a:bodyPr wrap="square" lIns="381" tIns="381" rIns="381" bIns="381" rtlCol="0" anchor="ctr">
            <a:normAutofit/>
          </a:bodyPr>
          <a:lstStyle/>
          <a:p>
            <a:pPr algn="ctr" indent="0" marL="0">
              <a:buNone/>
            </a:pPr>
            <a:r>
              <a:rPr lang="en-US" sz="2200" b="1" dirty="0">
                <a:solidFill>
                  <a:srgbClr val="F08B2D"/>
                </a:solidFill>
                <a:latin typeface="Helvetica" pitchFamily="34" charset="0"/>
                <a:ea typeface="Helvetica" pitchFamily="34" charset="-122"/>
                <a:cs typeface="Helvetica" pitchFamily="34" charset="-120"/>
              </a:rPr>
              <a:t>DMA</a:t>
            </a:r>
            <a:endParaRPr lang="en-US" sz="2200" dirty="0"/>
          </a:p>
          <a:p>
            <a:pPr algn="ctr" indent="0" marL="0">
              <a:buNone/>
            </a:pPr>
            <a:r>
              <a:rPr lang="en-US" sz="2200" b="1" dirty="0">
                <a:solidFill>
                  <a:srgbClr val="F08B2D"/>
                </a:solidFill>
                <a:latin typeface="Helvetica" pitchFamily="34" charset="0"/>
                <a:ea typeface="Helvetica" pitchFamily="34" charset="-122"/>
                <a:cs typeface="Helvetica" pitchFamily="34" charset="-120"/>
              </a:rPr>
              <a:t>validation</a:t>
            </a:r>
            <a:endParaRPr lang="en-US" sz="2200" dirty="0"/>
          </a:p>
        </p:txBody>
      </p:sp>
      <p:sp>
        <p:nvSpPr>
          <p:cNvPr id="10" name="Shape 8"/>
          <p:cNvSpPr/>
          <p:nvPr/>
        </p:nvSpPr>
        <p:spPr>
          <a:xfrm>
            <a:off x="3703320" y="2084832"/>
            <a:ext cx="822960" cy="0"/>
          </a:xfrm>
          <a:prstGeom prst="line">
            <a:avLst/>
          </a:prstGeom>
          <a:noFill/>
          <a:ln w="26670">
            <a:solidFill>
              <a:srgbClr val="D9DEE8"/>
            </a:solidFill>
            <a:prstDash val="solid"/>
            <a:tailEnd type="triangle"/>
          </a:ln>
        </p:spPr>
        <p:txBody>
          <a:bodyPr/>
          <a:p/>
        </p:txBody>
      </p:sp>
      <p:sp>
        <p:nvSpPr>
          <p:cNvPr id="11" name="Shape 9"/>
          <p:cNvSpPr/>
          <p:nvPr/>
        </p:nvSpPr>
        <p:spPr>
          <a:xfrm>
            <a:off x="7589520" y="2084832"/>
            <a:ext cx="822960" cy="0"/>
          </a:xfrm>
          <a:prstGeom prst="line">
            <a:avLst/>
          </a:prstGeom>
          <a:noFill/>
          <a:ln w="26670">
            <a:solidFill>
              <a:srgbClr val="D9DEE8"/>
            </a:solidFill>
            <a:prstDash val="solid"/>
            <a:tailEnd type="triangle"/>
          </a:ln>
        </p:spPr>
        <p:txBody>
          <a:bodyPr/>
          <a:p/>
        </p:txBody>
      </p:sp>
      <p:sp>
        <p:nvSpPr>
          <p:cNvPr id="12" name="Shape 10"/>
          <p:cNvSpPr/>
          <p:nvPr/>
        </p:nvSpPr>
        <p:spPr>
          <a:xfrm>
            <a:off x="914400" y="3090672"/>
            <a:ext cx="2971800" cy="2240280"/>
          </a:xfrm>
          <a:prstGeom prst="rect">
            <a:avLst/>
          </a:prstGeom>
          <a:solidFill>
            <a:srgbClr val="FFFFFF"/>
          </a:solidFill>
          <a:ln w="12700">
            <a:solidFill>
              <a:srgbClr val="D9DEE8"/>
            </a:solidFill>
            <a:prstDash val="solid"/>
          </a:ln>
        </p:spPr>
        <p:txBody>
          <a:bodyPr/>
          <a:p/>
        </p:txBody>
      </p:sp>
      <p:pic>
        <p:nvPicPr>
          <p:cNvPr id="13" name="Image 0" descr="/Users/martin/PyPlot/outputs/manual-20260520-mini-dma-deck-v3/presentations/mini-dma-colloquium/source_unzipped/ppt/media/image.png">    </p:cNvPr>
          <p:cNvPicPr>
            <a:picLocks noChangeAspect="1"/>
          </p:cNvPicPr>
          <p:nvPr/>
        </p:nvPicPr>
        <p:blipFill>
          <a:blip r:embed="rId1"/>
          <a:stretch>
            <a:fillRect/>
          </a:stretch>
        </p:blipFill>
        <p:spPr>
          <a:xfrm>
            <a:off x="960120" y="3136392"/>
            <a:ext cx="2880360" cy="2148840"/>
          </a:xfrm>
          <a:prstGeom prst="rect">
            <a:avLst/>
          </a:prstGeom>
        </p:spPr>
      </p:pic>
      <p:sp>
        <p:nvSpPr>
          <p:cNvPr id="14" name="Text 11"/>
          <p:cNvSpPr/>
          <p:nvPr/>
        </p:nvSpPr>
        <p:spPr>
          <a:xfrm>
            <a:off x="1005840" y="5038344"/>
            <a:ext cx="2788920" cy="182880"/>
          </a:xfrm>
          <a:prstGeom prst="rect">
            <a:avLst/>
          </a:prstGeom>
          <a:noFill/>
          <a:ln/>
        </p:spPr>
        <p:txBody>
          <a:bodyPr wrap="square" lIns="0" tIns="0" rIns="0" bIns="0" rtlCol="0" anchor="ctr">
            <a:normAutofit/>
          </a:bodyPr>
          <a:lstStyle/>
          <a:p>
            <a:pPr algn="r" indent="0" marL="0">
              <a:buNone/>
            </a:pPr>
            <a:r>
              <a:rPr lang="en-US" sz="850" dirty="0">
                <a:solidFill>
                  <a:srgbClr val="687386"/>
                </a:solidFill>
                <a:latin typeface="Helvetica" pitchFamily="34" charset="0"/>
                <a:ea typeface="Helvetica" pitchFamily="34" charset="-122"/>
                <a:cs typeface="Helvetica" pitchFamily="34" charset="-120"/>
              </a:rPr>
              <a:t>Mini DMA setup</a:t>
            </a:r>
            <a:endParaRPr lang="en-US" sz="850" dirty="0"/>
          </a:p>
        </p:txBody>
      </p:sp>
      <p:sp>
        <p:nvSpPr>
          <p:cNvPr id="15" name="Shape 12"/>
          <p:cNvSpPr/>
          <p:nvPr/>
        </p:nvSpPr>
        <p:spPr>
          <a:xfrm>
            <a:off x="8275320" y="3090672"/>
            <a:ext cx="2971800" cy="2240280"/>
          </a:xfrm>
          <a:prstGeom prst="rect">
            <a:avLst/>
          </a:prstGeom>
          <a:solidFill>
            <a:srgbClr val="FFFFFF"/>
          </a:solidFill>
          <a:ln w="12700">
            <a:solidFill>
              <a:srgbClr val="D9DEE8"/>
            </a:solidFill>
            <a:prstDash val="solid"/>
          </a:ln>
        </p:spPr>
        <p:txBody>
          <a:bodyPr/>
          <a:p/>
        </p:txBody>
      </p:sp>
      <p:pic>
        <p:nvPicPr>
          <p:cNvPr id="16" name="Image 1" descr="/Users/martin/PyPlot/outputs/manual-20260520-mini-dma-deck-v3/presentations/mini-dma-colloquium/source_unzipped/ppt/media/image2.png">    </p:cNvPr>
          <p:cNvPicPr>
            <a:picLocks noChangeAspect="1"/>
          </p:cNvPicPr>
          <p:nvPr/>
        </p:nvPicPr>
        <p:blipFill>
          <a:blip r:embed="rId2"/>
          <a:stretch>
            <a:fillRect/>
          </a:stretch>
        </p:blipFill>
        <p:spPr>
          <a:xfrm>
            <a:off x="8321040" y="3301224"/>
            <a:ext cx="2880360" cy="1819175"/>
          </a:xfrm>
          <a:prstGeom prst="rect">
            <a:avLst/>
          </a:prstGeom>
        </p:spPr>
      </p:pic>
      <p:sp>
        <p:nvSpPr>
          <p:cNvPr id="17" name="Text 13"/>
          <p:cNvSpPr/>
          <p:nvPr/>
        </p:nvSpPr>
        <p:spPr>
          <a:xfrm>
            <a:off x="8366760" y="5038344"/>
            <a:ext cx="2788920" cy="182880"/>
          </a:xfrm>
          <a:prstGeom prst="rect">
            <a:avLst/>
          </a:prstGeom>
          <a:noFill/>
          <a:ln/>
        </p:spPr>
        <p:txBody>
          <a:bodyPr wrap="square" lIns="0" tIns="0" rIns="0" bIns="0" rtlCol="0" anchor="ctr">
            <a:normAutofit/>
          </a:bodyPr>
          <a:lstStyle/>
          <a:p>
            <a:pPr algn="r" indent="0" marL="0">
              <a:buNone/>
            </a:pPr>
            <a:r>
              <a:rPr lang="en-US" sz="850" dirty="0">
                <a:solidFill>
                  <a:srgbClr val="687386"/>
                </a:solidFill>
                <a:latin typeface="Helvetica" pitchFamily="34" charset="0"/>
                <a:ea typeface="Helvetica" pitchFamily="34" charset="-122"/>
                <a:cs typeface="Helvetica" pitchFamily="34" charset="-120"/>
              </a:rPr>
              <a:t>DMA result</a:t>
            </a:r>
            <a:endParaRPr lang="en-US" sz="850" dirty="0"/>
          </a:p>
        </p:txBody>
      </p:sp>
      <p:sp>
        <p:nvSpPr>
          <p:cNvPr id="18" name="Text 14"/>
          <p:cNvSpPr/>
          <p:nvPr/>
        </p:nvSpPr>
        <p:spPr>
          <a:xfrm>
            <a:off x="4251960" y="3227832"/>
            <a:ext cx="3611880" cy="1874520"/>
          </a:xfrm>
          <a:prstGeom prst="rect">
            <a:avLst/>
          </a:prstGeom>
          <a:noFill/>
          <a:ln/>
        </p:spPr>
        <p:txBody>
          <a:bodyPr wrap="square" lIns="635" tIns="635" rIns="635" bIns="635" rtlCol="0" anchor="ctr">
            <a:normAutofit/>
          </a:bodyPr>
          <a:lstStyle/>
          <a:p>
            <a:pPr marL="203200" indent="-203200">
              <a:buSzPct val="100000"/>
              <a:buChar char="•"/>
            </a:pPr>
            <a:r>
              <a:rPr lang="en-US" sz="1850" dirty="0">
                <a:solidFill>
                  <a:srgbClr val="2F3642"/>
                </a:solidFill>
                <a:latin typeface="Helvetica" pitchFamily="34" charset="0"/>
                <a:ea typeface="Helvetica" pitchFamily="34" charset="-122"/>
                <a:cs typeface="Helvetica" pitchFamily="34" charset="-120"/>
              </a:rPr>
              <a:t>The Mini DMA is a decision tool: it helps decide what is worth measuring carefully.</a:t>
            </a:r>
            <a:endParaRPr lang="en-US" sz="1850" dirty="0"/>
          </a:p>
          <a:p>
            <a:pPr marL="203200" indent="-203200">
              <a:buSzPct val="100000"/>
              <a:buChar char="•"/>
            </a:pPr>
            <a:r>
              <a:rPr lang="en-US" sz="1850" dirty="0">
                <a:solidFill>
                  <a:srgbClr val="2F3642"/>
                </a:solidFill>
                <a:latin typeface="Helvetica" pitchFamily="34" charset="0"/>
                <a:ea typeface="Helvetica" pitchFamily="34" charset="-122"/>
                <a:cs typeface="Helvetica" pitchFamily="34" charset="-120"/>
              </a:rPr>
              <a:t>That turns the slow reference method into a validation step, not a bottleneck.</a:t>
            </a:r>
            <a:endParaRPr lang="en-US" sz="1850" dirty="0"/>
          </a:p>
        </p:txBody>
      </p:sp>
      <p:sp>
        <p:nvSpPr>
          <p:cNvPr id="19" name="Text 15"/>
          <p:cNvSpPr/>
          <p:nvPr/>
        </p:nvSpPr>
        <p:spPr>
          <a:xfrm>
            <a:off x="11201400" y="6400800"/>
            <a:ext cx="502920" cy="201168"/>
          </a:xfrm>
          <a:prstGeom prst="rect">
            <a:avLst/>
          </a:prstGeom>
          <a:noFill/>
          <a:ln/>
        </p:spPr>
        <p:txBody>
          <a:bodyPr wrap="square" lIns="0" tIns="0" rIns="0" bIns="0" rtlCol="0" anchor="ctr">
            <a:normAutofit/>
          </a:bodyPr>
          <a:lstStyle/>
          <a:p>
            <a:pPr algn="r" indent="0" marL="0">
              <a:buNone/>
            </a:pPr>
            <a:r>
              <a:rPr sz="800">
                <a:solidFill>
                  <a:srgbClr val="4F5E73"/>
                </a:solidFill>
                <a:latin typeface="Aptos"/>
              </a:rPr>
              <a:t>12</a:t>
            </a:r>
            <a:endParaRPr lang="en-US" sz="9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9784080" cy="438912"/>
          </a:xfrm>
          <a:prstGeom prst="rect">
            <a:avLst/>
          </a:prstGeom>
          <a:noFill/>
          <a:ln/>
        </p:spPr>
        <p:txBody>
          <a:bodyPr wrap="square" lIns="0" tIns="0" rIns="0" bIns="0" rtlCol="0" anchor="ctr">
            <a:normAutofit/>
          </a:bodyPr>
          <a:lstStyle/>
          <a:p>
            <a:pPr indent="0" marL="0">
              <a:buNone/>
            </a:pPr>
            <a:r>
              <a:rPr lang="en-US" sz="2500" b="1" dirty="0">
                <a:solidFill>
                  <a:srgbClr val="151922"/>
                </a:solidFill>
                <a:latin typeface="Helvetica Neue" pitchFamily="34" charset="0"/>
                <a:ea typeface="Helvetica Neue" pitchFamily="34" charset="-122"/>
                <a:cs typeface="Helvetica Neue" pitchFamily="34" charset="-120"/>
              </a:rPr>
              <a:t>Next step: add temperature to the same run</a:t>
            </a:r>
            <a:endParaRPr lang="en-US" sz="2500" dirty="0"/>
          </a:p>
        </p:txBody>
      </p:sp>
      <p:sp>
        <p:nvSpPr>
          <p:cNvPr id="3" name="Shape 1"/>
          <p:cNvSpPr/>
          <p:nvPr/>
        </p:nvSpPr>
        <p:spPr>
          <a:xfrm>
            <a:off x="585216" y="1078992"/>
            <a:ext cx="11018520" cy="0"/>
          </a:xfrm>
          <a:prstGeom prst="line">
            <a:avLst/>
          </a:prstGeom>
          <a:noFill/>
          <a:ln w="12700">
            <a:solidFill>
              <a:srgbClr val="D9DEE8"/>
            </a:solidFill>
            <a:prstDash val="solid"/>
          </a:ln>
        </p:spPr>
        <p:txBody>
          <a:bodyPr/>
          <a:p/>
        </p:txBody>
      </p:sp>
      <p:sp>
        <p:nvSpPr>
          <p:cNvPr id="4" name="Shape 2"/>
          <p:cNvSpPr/>
          <p:nvPr/>
        </p:nvSpPr>
        <p:spPr>
          <a:xfrm>
            <a:off x="822960" y="1298448"/>
            <a:ext cx="5486400" cy="4343400"/>
          </a:xfrm>
          <a:prstGeom prst="rect">
            <a:avLst/>
          </a:prstGeom>
          <a:solidFill>
            <a:srgbClr val="FFFFFF"/>
          </a:solidFill>
          <a:ln w="12700">
            <a:solidFill>
              <a:srgbClr val="D9DEE8"/>
            </a:solidFill>
            <a:prstDash val="solid"/>
          </a:ln>
        </p:spPr>
        <p:txBody>
          <a:bodyPr/>
          <a:p/>
        </p:txBody>
      </p:sp>
      <p:sp>
        <p:nvSpPr>
          <p:cNvPr id="7" name="Shape 4"/>
          <p:cNvSpPr/>
          <p:nvPr/>
        </p:nvSpPr>
        <p:spPr>
          <a:xfrm>
            <a:off x="6812280" y="1389888"/>
            <a:ext cx="4343400" cy="914400"/>
          </a:xfrm>
          <a:prstGeom prst="rect">
            <a:avLst/>
          </a:prstGeom>
          <a:solidFill>
            <a:srgbClr val="F2F8FF"/>
          </a:solidFill>
          <a:ln w="15240">
            <a:solidFill>
              <a:srgbClr val="BAD2EA"/>
            </a:solidFill>
            <a:prstDash val="solid"/>
          </a:ln>
        </p:spPr>
        <p:txBody>
          <a:bodyPr/>
          <a:p/>
        </p:txBody>
      </p:sp>
      <p:sp>
        <p:nvSpPr>
          <p:cNvPr id="8" name="Text 5"/>
          <p:cNvSpPr/>
          <p:nvPr/>
        </p:nvSpPr>
        <p:spPr>
          <a:xfrm>
            <a:off x="7086600" y="1618488"/>
            <a:ext cx="3794760" cy="457200"/>
          </a:xfrm>
          <a:prstGeom prst="rect">
            <a:avLst/>
          </a:prstGeom>
          <a:noFill/>
          <a:ln/>
        </p:spPr>
        <p:txBody>
          <a:bodyPr wrap="square" lIns="381" tIns="381" rIns="381" bIns="381" rtlCol="0" anchor="ctr">
            <a:normAutofit/>
          </a:bodyPr>
          <a:lstStyle/>
          <a:p>
            <a:pPr algn="ctr" indent="0" marL="0">
              <a:buNone/>
            </a:pPr>
            <a:r>
              <a:rPr lang="en-US" sz="2100" b="1" dirty="0">
                <a:solidFill>
                  <a:srgbClr val="151922"/>
                </a:solidFill>
              </a:rPr>
              <a:t>Current tells us input.</a:t>
            </a:r>
            <a:endParaRPr lang="en-US" sz="2100" dirty="0"/>
          </a:p>
          <a:p>
            <a:pPr algn="ctr" indent="0" marL="0">
              <a:buNone/>
            </a:pPr>
            <a:r>
              <a:rPr lang="en-US" sz="2100" b="1" dirty="0">
                <a:solidFill>
                  <a:srgbClr val="151922"/>
                </a:solidFill>
              </a:rPr>
              <a:t>Temperature tells us the wire state.</a:t>
            </a:r>
            <a:endParaRPr lang="en-US" sz="2100" dirty="0"/>
          </a:p>
        </p:txBody>
      </p:sp>
      <p:sp>
        <p:nvSpPr>
          <p:cNvPr id="9" name="Text 6"/>
          <p:cNvSpPr/>
          <p:nvPr/>
        </p:nvSpPr>
        <p:spPr>
          <a:xfrm>
            <a:off x="6903720" y="2907792"/>
            <a:ext cx="4160520" cy="1965960"/>
          </a:xfrm>
          <a:prstGeom prst="rect">
            <a:avLst/>
          </a:prstGeom>
          <a:noFill/>
          <a:ln/>
        </p:spPr>
        <p:txBody>
          <a:bodyPr wrap="square" lIns="635" tIns="635" rIns="635" bIns="635" rtlCol="0" anchor="ctr">
            <a:normAutofit/>
          </a:bodyPr>
          <a:lstStyle/>
          <a:p>
            <a:pPr marL="203200" indent="-203200">
              <a:buSzPct val="100000"/>
              <a:buChar char="•"/>
            </a:pPr>
            <a:r>
              <a:rPr lang="en-US" sz="1850" dirty="0">
                <a:solidFill>
                  <a:srgbClr val="2F3642"/>
                </a:solidFill>
                <a:latin typeface="Helvetica" pitchFamily="34" charset="0"/>
                <a:ea typeface="Helvetica" pitchFamily="34" charset="-122"/>
                <a:cs typeface="Helvetica" pitchFamily="34" charset="-120"/>
              </a:rPr>
              <a:t>Current gives electrical input.</a:t>
            </a:r>
            <a:endParaRPr lang="en-US" sz="1850" dirty="0"/>
          </a:p>
          <a:p>
            <a:pPr marL="203200" indent="-203200">
              <a:buSzPct val="100000"/>
              <a:buChar char="•"/>
            </a:pPr>
            <a:r>
              <a:rPr lang="en-US" sz="1850" dirty="0">
                <a:solidFill>
                  <a:srgbClr val="2F3642"/>
                </a:solidFill>
                <a:latin typeface="Helvetica" pitchFamily="34" charset="0"/>
                <a:ea typeface="Helvetica" pitchFamily="34" charset="-122"/>
                <a:cs typeface="Helvetica" pitchFamily="34" charset="-120"/>
              </a:rPr>
              <a:t>Temperature gives actual wire heating.</a:t>
            </a:r>
            <a:endParaRPr lang="en-US" sz="1850" dirty="0"/>
          </a:p>
          <a:p>
            <a:pPr marL="203200" indent="-203200">
              <a:buSzPct val="100000"/>
              <a:buChar char="•"/>
            </a:pPr>
            <a:r>
              <a:rPr lang="en-US" sz="1850" dirty="0">
                <a:solidFill>
                  <a:srgbClr val="2F3642"/>
                </a:solidFill>
                <a:latin typeface="Helvetica" pitchFamily="34" charset="0"/>
                <a:ea typeface="Helvetica" pitchFamily="34" charset="-122"/>
                <a:cs typeface="Helvetica" pitchFamily="34" charset="-120"/>
              </a:rPr>
              <a:t>Then the same setup can track the elastocaloric effect during transformation.</a:t>
            </a:r>
            <a:endParaRPr lang="en-US" sz="1850" dirty="0"/>
          </a:p>
        </p:txBody>
      </p:sp>
      <p:sp>
        <p:nvSpPr>
          <p:cNvPr id="10" name="Text 7"/>
          <p:cNvSpPr/>
          <p:nvPr/>
        </p:nvSpPr>
        <p:spPr>
          <a:xfrm>
            <a:off x="11201400" y="6400800"/>
            <a:ext cx="502920" cy="201168"/>
          </a:xfrm>
          <a:prstGeom prst="rect">
            <a:avLst/>
          </a:prstGeom>
          <a:noFill/>
          <a:ln/>
        </p:spPr>
        <p:txBody>
          <a:bodyPr wrap="square" lIns="0" tIns="0" rIns="0" bIns="0" rtlCol="0" anchor="ctr">
            <a:normAutofit/>
          </a:bodyPr>
          <a:lstStyle/>
          <a:p>
            <a:pPr algn="r" indent="0" marL="0">
              <a:buNone/>
            </a:pPr>
            <a:r>
              <a:rPr sz="800">
                <a:solidFill>
                  <a:srgbClr val="4F5E73"/>
                </a:solidFill>
                <a:latin typeface="Aptos"/>
              </a:rPr>
              <a:t>13</a:t>
            </a:r>
            <a:endParaRPr lang="en-US" sz="900" dirty="0"/>
          </a:p>
        </p:txBody>
      </p:sp>
      <p:pic>
        <p:nvPicPr>
          <p:cNvPr id="11" name="Picture 10" descr="thermal_camera_hardware_landscape.jpg"/>
          <p:cNvPicPr>
            <a:picLocks noChangeAspect="1"/>
          </p:cNvPicPr>
          <p:nvPr/>
        </p:nvPicPr>
        <p:blipFill>
          <a:blip r:embed="rId5"/>
          <a:stretch>
            <a:fillRect/>
          </a:stretch>
        </p:blipFill>
        <p:spPr>
          <a:xfrm>
            <a:off x="1710519" y="1828800"/>
            <a:ext cx="3519258" cy="1901952"/>
          </a:xfrm>
          <a:prstGeom prst="rect">
            <a:avLst/>
          </a:prstGeom>
          <a:ln w="9525">
            <a:solidFill>
              <a:srgbClr val="D2DAE6"/>
            </a:solidFill>
          </a:ln>
        </p:spPr>
      </p:pic>
      <p:sp>
        <p:nvSpPr>
          <p:cNvPr id="12" name="TextBox 11"/>
          <p:cNvSpPr txBox="1"/>
          <p:nvPr/>
        </p:nvSpPr>
        <p:spPr>
          <a:xfrm>
            <a:off x="658368" y="3767328"/>
            <a:ext cx="5623560" cy="164592"/>
          </a:xfrm>
          <a:prstGeom prst="rect">
            <a:avLst/>
          </a:prstGeom>
          <a:noFill/>
        </p:spPr>
        <p:txBody>
          <a:bodyPr wrap="none">
            <a:spAutoFit/>
          </a:bodyPr>
          <a:lstStyle/>
          <a:p>
            <a:pPr algn="ctr"/>
            <a:r>
              <a:rPr sz="900">
                <a:solidFill>
                  <a:srgbClr val="56677D"/>
                </a:solidFill>
                <a:latin typeface="Aptos"/>
              </a:rPr>
              <a:t>Camera module and wiring prepared for integration</a:t>
            </a:r>
          </a:p>
        </p:txBody>
      </p:sp>
      <p:pic>
        <p:nvPicPr>
          <p:cNvPr id="13" name="Picture 12" descr="image.png"/>
          <p:cNvPicPr>
            <a:picLocks noChangeAspect="1"/>
          </p:cNvPicPr>
          <p:nvPr/>
        </p:nvPicPr>
        <p:blipFill>
          <a:blip r:embed="rId4"/>
          <a:stretch>
            <a:fillRect/>
          </a:stretch>
        </p:blipFill>
        <p:spPr>
          <a:xfrm>
            <a:off x="2202180" y="4041648"/>
            <a:ext cx="2535936" cy="1901952"/>
          </a:xfrm>
          <a:prstGeom prst="rect">
            <a:avLst/>
          </a:prstGeom>
          <a:ln w="9525">
            <a:solidFill>
              <a:srgbClr val="D2DAE6"/>
            </a:solidFill>
          </a:ln>
        </p:spPr>
      </p:pic>
      <p:sp>
        <p:nvSpPr>
          <p:cNvPr id="14" name="TextBox 13"/>
          <p:cNvSpPr txBox="1"/>
          <p:nvPr/>
        </p:nvSpPr>
        <p:spPr>
          <a:xfrm>
            <a:off x="658368" y="5980176"/>
            <a:ext cx="5623560" cy="164592"/>
          </a:xfrm>
          <a:prstGeom prst="rect">
            <a:avLst/>
          </a:prstGeom>
          <a:noFill/>
        </p:spPr>
        <p:txBody>
          <a:bodyPr wrap="none">
            <a:spAutoFit/>
          </a:bodyPr>
          <a:lstStyle/>
          <a:p>
            <a:pPr algn="ctr"/>
            <a:r>
              <a:rPr sz="900">
                <a:solidFill>
                  <a:srgbClr val="56677D"/>
                </a:solidFill>
                <a:latin typeface="Aptos"/>
              </a:rPr>
              <a:t>Thermal frame from a heated wire</a:t>
            </a:r>
          </a:p>
        </p:txBody>
      </p:sp>
    </p:spTree>
  </p:cSld>
  <p:clrMapOvr>
    <a:masterClrMapping/>
  </p:clrMapOvr>
</p:sld>
</file>

<file path=ppt/slides/slide14.xml><?xml version="1.0" encoding="utf-8"?>
<p:sld xmlns:a="http://schemas.openxmlformats.org/drawingml/2006/main"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9784080" cy="438912"/>
          </a:xfrm>
          <a:prstGeom prst="rect">
            <a:avLst/>
          </a:prstGeom>
          <a:noFill/>
          <a:ln/>
        </p:spPr>
        <p:txBody>
          <a:bodyPr wrap="square" lIns="0" tIns="0" rIns="0" bIns="0" rtlCol="0" anchor="ctr">
            <a:normAutofit/>
          </a:bodyPr>
          <a:lstStyle/>
          <a:p>
            <a:pPr indent="0" marL="0">
              <a:buNone/>
            </a:pPr>
            <a:r>
              <a:rPr lang="en-US" sz="2500" b="1" dirty="0">
                <a:solidFill>
                  <a:srgbClr val="151922"/>
                </a:solidFill>
                <a:latin typeface="Helvetica Neue" pitchFamily="34" charset="0"/>
                <a:ea typeface="Helvetica Neue" pitchFamily="34" charset="-122"/>
                <a:cs typeface="Helvetica Neue" pitchFamily="34" charset="-120"/>
              </a:rPr>
              <a:t>Codex made this a one-person prototype</a:t>
            </a:r>
            <a:endParaRPr lang="en-US" sz="2500" dirty="0"/>
          </a:p>
        </p:txBody>
      </p:sp>
      <p:sp>
        <p:nvSpPr>
          <p:cNvPr id="3" name="Shape 1"/>
          <p:cNvSpPr/>
          <p:nvPr/>
        </p:nvSpPr>
        <p:spPr>
          <a:xfrm>
            <a:off x="585216" y="1078992"/>
            <a:ext cx="11018520" cy="0"/>
          </a:xfrm>
          <a:prstGeom prst="line">
            <a:avLst/>
          </a:prstGeom>
          <a:noFill/>
          <a:ln w="12700">
            <a:solidFill>
              <a:srgbClr val="D9DEE8"/>
            </a:solidFill>
            <a:prstDash val="solid"/>
          </a:ln>
        </p:spPr>
        <p:txBody>
          <a:bodyPr/>
          <a:p/>
        </p:txBody>
      </p:sp>
      <p:sp>
        <p:nvSpPr>
          <p:cNvPr id="4" name="Shape 2"/>
          <p:cNvSpPr/>
          <p:nvPr/>
        </p:nvSpPr>
        <p:spPr>
          <a:xfrm>
            <a:off x="841248" y="1298448"/>
            <a:ext cx="10515600" cy="960120"/>
          </a:xfrm>
          <a:prstGeom prst="rect">
            <a:avLst/>
          </a:prstGeom>
          <a:solidFill>
            <a:srgbClr val="F2F8FF"/>
          </a:solidFill>
          <a:ln w="12700">
            <a:solidFill>
              <a:srgbClr val="BAD2EA"/>
            </a:solidFill>
            <a:prstDash val="solid"/>
          </a:ln>
        </p:spPr>
        <p:txBody>
          <a:bodyPr/>
          <a:p/>
        </p:txBody>
      </p:sp>
      <p:sp>
        <p:nvSpPr>
          <p:cNvPr id="5" name="Text 3"/>
          <p:cNvSpPr/>
          <p:nvPr/>
        </p:nvSpPr>
        <p:spPr>
          <a:xfrm>
            <a:off x="1115568" y="1572768"/>
            <a:ext cx="9966960" cy="384048"/>
          </a:xfrm>
          <a:prstGeom prst="rect">
            <a:avLst/>
          </a:prstGeom>
          <a:noFill/>
          <a:ln/>
        </p:spPr>
        <p:txBody>
          <a:bodyPr wrap="square" lIns="0" tIns="0" rIns="0" bIns="0" rtlCol="0" anchor="ctr">
            <a:normAutofit/>
          </a:bodyPr>
          <a:lstStyle/>
          <a:p>
            <a:pPr algn="ctr" indent="0" marL="0">
              <a:buNone/>
            </a:pPr>
            <a:r>
              <a:rPr lang="en-US" sz="2400" b="1" dirty="0">
                <a:solidFill>
                  <a:srgbClr val="151922"/>
                </a:solidFill>
              </a:rPr>
              <a:t>The hardware, wiring, drivers, and software came together in about two weeks.</a:t>
            </a:r>
            <a:endParaRPr lang="en-US" sz="2400" dirty="0"/>
          </a:p>
        </p:txBody>
      </p:sp>
      <p:sp>
        <p:nvSpPr>
          <p:cNvPr id="6" name="Shape 4"/>
          <p:cNvSpPr/>
          <p:nvPr/>
        </p:nvSpPr>
        <p:spPr>
          <a:xfrm>
            <a:off x="914400" y="2788920"/>
            <a:ext cx="2377440" cy="960120"/>
          </a:xfrm>
          <a:prstGeom prst="rect">
            <a:avLst>
              <a:gd name="adj" fmla="val 4762"/>
            </a:avLst>
          </a:prstGeom>
          <a:solidFill>
            <a:srgbClr val="FFFFFF"/>
          </a:solidFill>
          <a:ln w="17780">
            <a:solidFill>
              <a:srgbClr val="1F4E79"/>
            </a:solidFill>
            <a:prstDash val="solid"/>
          </a:ln>
        </p:spPr>
        <p:txBody>
          <a:bodyPr/>
          <a:p/>
        </p:txBody>
      </p:sp>
      <p:sp>
        <p:nvSpPr>
          <p:cNvPr id="7" name="Text 5"/>
          <p:cNvSpPr/>
          <p:nvPr/>
        </p:nvSpPr>
        <p:spPr>
          <a:xfrm>
            <a:off x="1078992" y="2916936"/>
            <a:ext cx="2048256" cy="731520"/>
          </a:xfrm>
          <a:prstGeom prst="rect">
            <a:avLst/>
          </a:prstGeom>
          <a:noFill/>
          <a:ln/>
        </p:spPr>
        <p:txBody>
          <a:bodyPr wrap="square" lIns="381" tIns="381" rIns="381" bIns="381" rtlCol="0" anchor="ctr">
            <a:normAutofit/>
          </a:bodyPr>
          <a:lstStyle/>
          <a:p>
            <a:pPr algn="ctr" indent="0" marL="0">
              <a:buNone/>
            </a:pPr>
            <a:r>
              <a:rPr lang="en-US" sz="1800" b="1" dirty="0">
                <a:solidFill>
                  <a:srgbClr val="1F4E79"/>
                </a:solidFill>
                <a:latin typeface="Helvetica" pitchFamily="34" charset="0"/>
                <a:ea typeface="Helvetica" pitchFamily="34" charset="-122"/>
                <a:cs typeface="Helvetica" pitchFamily="34" charset="-120"/>
              </a:rPr>
              <a:t>ChatGPT</a:t>
            </a:r>
            <a:endParaRPr lang="en-US" sz="1800" dirty="0"/>
          </a:p>
          <a:p>
            <a:pPr algn="ctr" indent="0" marL="0">
              <a:buNone/>
            </a:pPr>
            <a:r>
              <a:rPr lang="en-US" sz="1800" b="1" dirty="0">
                <a:solidFill>
                  <a:srgbClr val="1F4E79"/>
                </a:solidFill>
                <a:latin typeface="Helvetica" pitchFamily="34" charset="0"/>
                <a:ea typeface="Helvetica" pitchFamily="34" charset="-122"/>
                <a:cs typeface="Helvetica" pitchFamily="34" charset="-120"/>
              </a:rPr>
              <a:t>picked components</a:t>
            </a:r>
            <a:endParaRPr lang="en-US" sz="1800" dirty="0"/>
          </a:p>
        </p:txBody>
      </p:sp>
      <p:sp>
        <p:nvSpPr>
          <p:cNvPr id="8" name="Shape 6"/>
          <p:cNvSpPr/>
          <p:nvPr/>
        </p:nvSpPr>
        <p:spPr>
          <a:xfrm>
            <a:off x="3611880" y="2788920"/>
            <a:ext cx="2377440" cy="960120"/>
          </a:xfrm>
          <a:prstGeom prst="rect">
            <a:avLst>
              <a:gd name="adj" fmla="val 4762"/>
            </a:avLst>
          </a:prstGeom>
          <a:solidFill>
            <a:srgbClr val="FFFFFF"/>
          </a:solidFill>
          <a:ln w="17780">
            <a:solidFill>
              <a:srgbClr val="2F8F83"/>
            </a:solidFill>
            <a:prstDash val="solid"/>
          </a:ln>
        </p:spPr>
        <p:txBody>
          <a:bodyPr/>
          <a:p/>
        </p:txBody>
      </p:sp>
      <p:sp>
        <p:nvSpPr>
          <p:cNvPr id="9" name="Text 7"/>
          <p:cNvSpPr/>
          <p:nvPr/>
        </p:nvSpPr>
        <p:spPr>
          <a:xfrm>
            <a:off x="3776472" y="2916936"/>
            <a:ext cx="2048256" cy="731520"/>
          </a:xfrm>
          <a:prstGeom prst="rect">
            <a:avLst/>
          </a:prstGeom>
          <a:noFill/>
          <a:ln/>
        </p:spPr>
        <p:txBody>
          <a:bodyPr wrap="square" lIns="381" tIns="381" rIns="381" bIns="381" rtlCol="0" anchor="ctr">
            <a:normAutofit/>
          </a:bodyPr>
          <a:lstStyle/>
          <a:p>
            <a:pPr algn="ctr" indent="0" marL="0">
              <a:buNone/>
            </a:pPr>
            <a:r>
              <a:rPr lang="en-US" sz="1800" b="1" dirty="0">
                <a:solidFill>
                  <a:srgbClr val="2F8F83"/>
                </a:solidFill>
                <a:latin typeface="Helvetica" pitchFamily="34" charset="0"/>
                <a:ea typeface="Helvetica" pitchFamily="34" charset="-122"/>
                <a:cs typeface="Helvetica" pitchFamily="34" charset="-120"/>
              </a:rPr>
              <a:t>ChatGPT</a:t>
            </a:r>
            <a:endParaRPr lang="en-US" sz="1800" dirty="0"/>
          </a:p>
          <a:p>
            <a:pPr algn="ctr" indent="0" marL="0">
              <a:buNone/>
            </a:pPr>
            <a:r>
              <a:rPr lang="en-US" sz="1800" b="1" dirty="0">
                <a:solidFill>
                  <a:srgbClr val="2F8F83"/>
                </a:solidFill>
                <a:latin typeface="Helvetica" pitchFamily="34" charset="0"/>
                <a:ea typeface="Helvetica" pitchFamily="34" charset="-122"/>
                <a:cs typeface="Helvetica" pitchFamily="34" charset="-120"/>
              </a:rPr>
              <a:t>explained wiring</a:t>
            </a:r>
            <a:endParaRPr lang="en-US" sz="1800" dirty="0"/>
          </a:p>
        </p:txBody>
      </p:sp>
      <p:sp>
        <p:nvSpPr>
          <p:cNvPr id="10" name="Shape 8"/>
          <p:cNvSpPr/>
          <p:nvPr/>
        </p:nvSpPr>
        <p:spPr>
          <a:xfrm>
            <a:off x="6309360" y="2788920"/>
            <a:ext cx="2377440" cy="960120"/>
          </a:xfrm>
          <a:prstGeom prst="rect">
            <a:avLst>
              <a:gd name="adj" fmla="val 4762"/>
            </a:avLst>
          </a:prstGeom>
          <a:solidFill>
            <a:srgbClr val="FFFFFF"/>
          </a:solidFill>
          <a:ln w="17780">
            <a:solidFill>
              <a:srgbClr val="F08B2D"/>
            </a:solidFill>
            <a:prstDash val="solid"/>
          </a:ln>
        </p:spPr>
        <p:txBody>
          <a:bodyPr/>
          <a:p/>
        </p:txBody>
      </p:sp>
      <p:sp>
        <p:nvSpPr>
          <p:cNvPr id="11" name="Text 9"/>
          <p:cNvSpPr/>
          <p:nvPr/>
        </p:nvSpPr>
        <p:spPr>
          <a:xfrm>
            <a:off x="6473952" y="2916936"/>
            <a:ext cx="2048256" cy="731520"/>
          </a:xfrm>
          <a:prstGeom prst="rect">
            <a:avLst/>
          </a:prstGeom>
          <a:noFill/>
          <a:ln/>
        </p:spPr>
        <p:txBody>
          <a:bodyPr wrap="square" lIns="381" tIns="381" rIns="381" bIns="381" rtlCol="0" anchor="ctr">
            <a:normAutofit/>
          </a:bodyPr>
          <a:lstStyle/>
          <a:p>
            <a:pPr algn="ctr" indent="0" marL="0">
              <a:buNone/>
            </a:pPr>
            <a:r>
              <a:rPr lang="en-US" sz="1800" b="1" dirty="0">
                <a:solidFill>
                  <a:srgbClr val="F08B2D"/>
                </a:solidFill>
                <a:latin typeface="Helvetica" pitchFamily="34" charset="0"/>
                <a:ea typeface="Helvetica" pitchFamily="34" charset="-122"/>
                <a:cs typeface="Helvetica" pitchFamily="34" charset="-120"/>
              </a:rPr>
              <a:t>Codex</a:t>
            </a:r>
            <a:endParaRPr lang="en-US" sz="1800" dirty="0"/>
          </a:p>
          <a:p>
            <a:pPr algn="ctr" indent="0" marL="0">
              <a:buNone/>
            </a:pPr>
            <a:r>
              <a:rPr lang="en-US" sz="1800" b="1" dirty="0">
                <a:solidFill>
                  <a:srgbClr val="F08B2D"/>
                </a:solidFill>
                <a:latin typeface="Helvetica" pitchFamily="34" charset="0"/>
                <a:ea typeface="Helvetica" pitchFamily="34" charset="-122"/>
                <a:cs typeface="Helvetica" pitchFamily="34" charset="-120"/>
              </a:rPr>
              <a:t>wrote software</a:t>
            </a:r>
            <a:endParaRPr lang="en-US" sz="1800" dirty="0"/>
          </a:p>
        </p:txBody>
      </p:sp>
      <p:sp>
        <p:nvSpPr>
          <p:cNvPr id="12" name="Shape 10"/>
          <p:cNvSpPr/>
          <p:nvPr/>
        </p:nvSpPr>
        <p:spPr>
          <a:xfrm>
            <a:off x="9006840" y="2788920"/>
            <a:ext cx="2377440" cy="960120"/>
          </a:xfrm>
          <a:prstGeom prst="rect">
            <a:avLst>
              <a:gd name="adj" fmla="val 4762"/>
            </a:avLst>
          </a:prstGeom>
          <a:solidFill>
            <a:srgbClr val="FFFFFF"/>
          </a:solidFill>
          <a:ln w="17780">
            <a:solidFill>
              <a:srgbClr val="D94F4F"/>
            </a:solidFill>
            <a:prstDash val="solid"/>
          </a:ln>
        </p:spPr>
        <p:txBody>
          <a:bodyPr/>
          <a:p/>
        </p:txBody>
      </p:sp>
      <p:sp>
        <p:nvSpPr>
          <p:cNvPr id="13" name="Text 11"/>
          <p:cNvSpPr/>
          <p:nvPr/>
        </p:nvSpPr>
        <p:spPr>
          <a:xfrm>
            <a:off x="9171432" y="2916936"/>
            <a:ext cx="2048256" cy="731520"/>
          </a:xfrm>
          <a:prstGeom prst="rect">
            <a:avLst/>
          </a:prstGeom>
          <a:noFill/>
          <a:ln/>
        </p:spPr>
        <p:txBody>
          <a:bodyPr wrap="square" lIns="381" tIns="381" rIns="381" bIns="381" rtlCol="0" anchor="ctr">
            <a:normAutofit/>
          </a:bodyPr>
          <a:lstStyle/>
          <a:p>
            <a:pPr algn="ctr" indent="0" marL="0">
              <a:buNone/>
            </a:pPr>
            <a:r>
              <a:rPr lang="en-US" sz="1800" b="1" dirty="0">
                <a:solidFill>
                  <a:srgbClr val="D94F4F"/>
                </a:solidFill>
                <a:latin typeface="Helvetica" pitchFamily="34" charset="0"/>
                <a:ea typeface="Helvetica" pitchFamily="34" charset="-122"/>
                <a:cs typeface="Helvetica" pitchFamily="34" charset="-120"/>
              </a:rPr>
              <a:t>Codex</a:t>
            </a:r>
            <a:endParaRPr lang="en-US" sz="1800" dirty="0"/>
          </a:p>
          <a:p>
            <a:pPr algn="ctr" indent="0" marL="0">
              <a:buNone/>
            </a:pPr>
            <a:r>
              <a:rPr lang="en-US" sz="1800" b="1" dirty="0">
                <a:solidFill>
                  <a:srgbClr val="D94F4F"/>
                </a:solidFill>
                <a:latin typeface="Helvetica" pitchFamily="34" charset="0"/>
                <a:ea typeface="Helvetica" pitchFamily="34" charset="-122"/>
                <a:cs typeface="Helvetica" pitchFamily="34" charset="-120"/>
              </a:rPr>
              <a:t>installed drivers</a:t>
            </a:r>
            <a:endParaRPr lang="en-US" sz="1800" dirty="0"/>
          </a:p>
        </p:txBody>
      </p:sp>
      <p:sp>
        <p:nvSpPr>
          <p:cNvPr id="14" name="Text 12"/>
          <p:cNvSpPr/>
          <p:nvPr/>
        </p:nvSpPr>
        <p:spPr>
          <a:xfrm>
            <a:off x="1005840" y="4800600"/>
            <a:ext cx="10149840" cy="585216"/>
          </a:xfrm>
          <a:prstGeom prst="rect">
            <a:avLst/>
          </a:prstGeom>
          <a:noFill/>
          <a:ln/>
        </p:spPr>
        <p:txBody>
          <a:bodyPr wrap="square" lIns="0" tIns="0" rIns="0" bIns="0" rtlCol="0" anchor="ctr">
            <a:normAutofit/>
          </a:bodyPr>
          <a:lstStyle/>
          <a:p>
            <a:pPr algn="ctr" indent="0" marL="0">
              <a:buNone/>
            </a:pPr>
            <a:r>
              <a:rPr lang="en-US" sz="2500" b="1" dirty="0">
                <a:solidFill>
                  <a:srgbClr val="151922"/>
                </a:solidFill>
              </a:rPr>
              <a:t>The bigger message: AI can turn small experimental ideas into working lab tools much faster than before.</a:t>
            </a:r>
            <a:endParaRPr lang="en-US" sz="2500" dirty="0"/>
          </a:p>
        </p:txBody>
      </p:sp>
      <p:sp>
        <p:nvSpPr>
          <p:cNvPr id="15" name="Text 13"/>
          <p:cNvSpPr/>
          <p:nvPr/>
        </p:nvSpPr>
        <p:spPr>
          <a:xfrm>
            <a:off x="11201400" y="6400800"/>
            <a:ext cx="502920" cy="201168"/>
          </a:xfrm>
          <a:prstGeom prst="rect">
            <a:avLst/>
          </a:prstGeom>
          <a:noFill/>
          <a:ln/>
        </p:spPr>
        <p:txBody>
          <a:bodyPr wrap="square" lIns="0" tIns="0" rIns="0" bIns="0" rtlCol="0" anchor="ctr">
            <a:normAutofit/>
          </a:bodyPr>
          <a:lstStyle/>
          <a:p>
            <a:pPr algn="r" indent="0" marL="0">
              <a:buNone/>
            </a:pPr>
            <a:r>
              <a:rPr sz="800">
                <a:solidFill>
                  <a:srgbClr val="4F5E73"/>
                </a:solidFill>
                <a:latin typeface="Aptos"/>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TUKE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DMA for microwire screening</dc:title>
  <dc:subject>Mini DMA screening and validation</dc:subject>
  <dc:creator>Martin Elias</dc:creator>
  <cp:lastModifiedBy>Martin Elias</cp:lastModifiedBy>
  <cp:revision>1</cp:revision>
  <dcterms:created xsi:type="dcterms:W3CDTF">2026-05-20T19:59:45Z</dcterms:created>
  <dcterms:modified xsi:type="dcterms:W3CDTF">2026-05-20T19:59:45Z</dcterms:modified>
</cp:coreProperties>
</file>