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Limpat has already introduced the microwires themselves, so I will focus on the measurement problem.
If we want to prepare good wires reproducibly, we need to measure enough of them to learn which preparation routes work.
This talk is about the measurement workflow and about the small Mini DMA setup we built to make that workflow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goal is not to measure one nice wire.
The real question is how to prepare good wires on purpose.
In Prague we have many wires prepared under different conditions, so the useful workflow has to select functional samples, connect preparation to response, and reserve slow measurements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preparation choice creates another sample branch.
One very precise measurement is useful, but it does not tell me how the whole preparation space behaves.
That is why screening has to be part of the research strategy: many wires go through fast checks, and only the promising ones go to slow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wire, I need a few concrete quantities.
Where does the transformation happen, how much strain do we get, how does it depend on applied stress, and what electrical input is needed.
These are the values that decide whether a wire deserves a slow validation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DMA is still the best tool for precise strain and temperature values.
The problem is practical: each run takes time, needs setup and liquid nitrogen, and access is limited.
So for a large sample set, the measurement itself becomes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not to replace commercial DMA.
I see Mini DMA as a first-pass instrument: it lets me screen samples and test protocols before spending time on the full DMA measurement.
In other words, Mini DMA should make commercial DMA time more focused and more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is simple on purpose.
The motor changes the wire length, the balance measures load, the power supply heats the wire, and the software closes the loop.
A key detail is that the scale gives high-resolution force feedback, but only about every 200 milliseconds, so the control has to respect that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experiment is similar in idea to an iso-stress DMA measurement.
I set a target stress, the motor moves until the wire reaches that target, and then the current sweep starts.
As the wire heats, it can transform and contract. The load changes, so the software moves the motor to bring the stress back to target.
Because we know how much the motor moved, we can calculate the strain. During cooling, the same thing happens in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each measurement, I need to define the real starting length of the wire.
The setup measures motor displacement accurately, but it does not directly know the absolute length of the mounted wire.
First I bring the wire to a small preload, for example 20 MPa. At that point the wire is straight, and the software asks me to measure and enter the actual wire length.
Then the motor moves back toward zero load. In the linear part of this unloading curve, the wire is still responding elastically. When the wire starts to lose tension, the measured load no longer follows that line.
I use that deviation point to estimate the zero-load baseline. From the length entered at preload and the motor displacement back to that baseline, the software calculates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has to be precise without becoming painfully slow.
Far from the target it can take larger corrections. In this example, approaching 100 MPa, it first uses larger stress steps and a cruise mode.
In cruise mode the motor can keep moving while the software checks scale readings as they arrive. This matters because the scale has about 200 milliseconds of feedback delay.
Near the target, the controller becomes conservative: move, wait for a fresh scale value, then decide the next move. The correction size shrinks progressively, and near the target it can use single 10 micrometer motor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real measurement I want to show from the setup.
Mini DMA is running a current sweep while controlling the mechanical condition of the wire.
I kept only the clearest stress levels here, because too many curves make the graph hard to read.
The important point is that the curve is interpretable: we can see how strain changes during electrical heating under controlled stress.
Since the setup records current and resistance, we can also calculate power. For applications, power is often more meaningful than current alone, because it tells us how much electrical input is needed for a given contraction.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claim that Mini DMA replaces commercial DMA.
Commercial DMA is still the validated measurement tool.
But if the curves are similar enough to guide selection, Mini DMA can help decide which samples deserve the slow measurement.
The cost difference is also large: this setup is on the order of hundreds of euros, while commercial DMA is on the order of tens of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experiment is mostly current-driven.
We measure current, voltage, resistance, and power, but we still want the actual wire temperature.
The next step is to connect the thermal camera to the same workflow, so each mechanical measurement also has temperature information.
That will make the comparison with commercial DMA stronger, and it also opens the possibility of looking at elastocaloric effects during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part of this project that is worth mentioning is how it was built.
A lot of the engineering work was AI-assisted. ChatGPT helped with component choice and wiring, down to which cable should go to which pin.
Then Codex helped on the software side: connecting devices to the PC, installing drivers, writing the control software, and testing that the system worked.
The important point is not that AI replaces the experimenter. The scientific question, the physical setup, and the validation still come from us.
But it changes what one person can realistically build. A setup like this would previously require separate electronics and software support. Here, it took roughly two weeks to get a working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Instrumentation for Ni-Fe-Ga microwire research</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Faster measurement workflow for preparation mapping</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assets/ppt/media/image.png">    </p:cNvPr>
          <p:cNvPicPr>
            <a:picLocks noChangeAspect="1"/>
          </p:cNvPicPr>
          <p:nvPr/>
        </p:nvPicPr>
        <p:blipFill>
          <a:blip r:embed="rId1"/>
          <a:stretch>
            <a:fillRect/>
          </a:stretch>
        </p:blipFill>
        <p:spPr>
          <a:xfrm>
            <a:off x="594360" y="1325880"/>
            <a:ext cx="5486400" cy="4114800"/>
          </a:xfrm>
          <a:prstGeom prst="rect">
            <a:avLst/>
          </a:prstGeom>
        </p:spPr>
      </p:pic>
      <p:sp>
        <p:nvSpPr>
          <p:cNvPr id="6" name="Text 3"/>
          <p:cNvSpPr/>
          <p:nvPr/>
        </p:nvSpPr>
        <p:spPr>
          <a:xfrm>
            <a:off x="6537960" y="1600200"/>
            <a:ext cx="4526280" cy="640080"/>
          </a:xfrm>
          <a:prstGeom prst="rect">
            <a:avLst/>
          </a:prstGeom>
          <a:noFill/>
          <a:ln/>
        </p:spPr>
        <p:txBody>
          <a:bodyPr wrap="square" lIns="635" tIns="635" rIns="635" bIns="635" rtlCol="0" anchor="ctr">
            <a:normAutofit/>
          </a:bodyPr>
          <a:lstStyle/>
          <a:p>
            <a:pPr algn="l" indent="0" marL="0">
              <a:buNone/>
            </a:pPr>
            <a:r>
              <a:rPr lang="en-US" sz="3800" b="1" dirty="0">
                <a:solidFill>
                  <a:srgbClr val="172033"/>
                </a:solidFill>
                <a:latin typeface="Helvetica" pitchFamily="34" charset="0"/>
                <a:ea typeface="Helvetica" pitchFamily="34" charset="-122"/>
                <a:cs typeface="Helvetica" pitchFamily="34" charset="-120"/>
              </a:rPr>
              <a:t>Mini DMA</a:t>
            </a:r>
            <a:endParaRPr lang="en-US" sz="3800" dirty="0"/>
          </a:p>
        </p:txBody>
      </p:sp>
      <p:sp>
        <p:nvSpPr>
          <p:cNvPr id="7" name="Text 4"/>
          <p:cNvSpPr/>
          <p:nvPr/>
        </p:nvSpPr>
        <p:spPr>
          <a:xfrm>
            <a:off x="6565392" y="2331720"/>
            <a:ext cx="4343400" cy="914400"/>
          </a:xfrm>
          <a:prstGeom prst="rect">
            <a:avLst/>
          </a:prstGeom>
          <a:noFill/>
          <a:ln/>
        </p:spPr>
        <p:txBody>
          <a:bodyPr wrap="square" lIns="635" tIns="635" rIns="635" bIns="635" rtlCol="0" anchor="t">
            <a:normAutofit/>
          </a:bodyPr>
          <a:lstStyle/>
          <a:p>
            <a:pPr algn="l" indent="0" marL="0">
              <a:buNone/>
            </a:pPr>
            <a:r>
              <a:rPr lang="en-US" sz="2300" dirty="0">
                <a:solidFill>
                  <a:srgbClr val="5B677A"/>
                </a:solidFill>
                <a:latin typeface="Helvetica" pitchFamily="34" charset="0"/>
                <a:ea typeface="Helvetica" pitchFamily="34" charset="-122"/>
                <a:cs typeface="Helvetica" pitchFamily="34" charset="-120"/>
              </a:rPr>
              <a:t>A purpose-built setup for current-driven, stress-controlled microwire measurements.</a:t>
            </a:r>
            <a:endParaRPr lang="en-US" sz="2300" dirty="0"/>
          </a:p>
        </p:txBody>
      </p:sp>
      <p:sp>
        <p:nvSpPr>
          <p:cNvPr id="8" name="Text 5"/>
          <p:cNvSpPr/>
          <p:nvPr/>
        </p:nvSpPr>
        <p:spPr>
          <a:xfrm>
            <a:off x="6565392" y="4617720"/>
            <a:ext cx="2560320" cy="320040"/>
          </a:xfrm>
          <a:prstGeom prst="rect">
            <a:avLst/>
          </a:prstGeom>
          <a:noFill/>
          <a:ln/>
        </p:spPr>
        <p:txBody>
          <a:bodyPr wrap="square" lIns="635" tIns="635" rIns="635" bIns="635" rtlCol="0" anchor="ctr">
            <a:normAutofit/>
          </a:bodyPr>
          <a:lstStyle/>
          <a:p>
            <a:pPr algn="l" indent="0" marL="0">
              <a:buNone/>
            </a:pPr>
            <a:r>
              <a:rPr lang="en-US" sz="1800" b="1" dirty="0">
                <a:solidFill>
                  <a:srgbClr val="172033"/>
                </a:solidFill>
                <a:latin typeface="Helvetica" pitchFamily="34" charset="0"/>
                <a:ea typeface="Helvetica" pitchFamily="34" charset="-122"/>
                <a:cs typeface="Helvetica" pitchFamily="34" charset="-120"/>
              </a:rPr>
              <a:t>Martin Elias</a:t>
            </a:r>
            <a:endParaRPr lang="en-US" sz="1800" dirty="0"/>
          </a:p>
        </p:txBody>
      </p:sp>
      <p:sp>
        <p:nvSpPr>
          <p:cNvPr id="9" name="Text 6"/>
          <p:cNvSpPr/>
          <p:nvPr/>
        </p:nvSpPr>
        <p:spPr>
          <a:xfrm>
            <a:off x="6565392" y="4983480"/>
            <a:ext cx="3840480" cy="256032"/>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Ni-Fe-Ga colloquium / 21 May 2026</a:t>
            </a:r>
            <a:endParaRPr lang="en-US" sz="1300" dirty="0"/>
          </a:p>
        </p:txBody>
      </p:sp>
      <p:sp>
        <p:nvSpPr>
          <p:cNvPr id="11" name="Text 7"/>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1/14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Goal: prepare good wires reproducibly</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measurement problem starts before the instrument</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Shape 3"/>
          <p:cNvSpPr/>
          <p:nvPr/>
        </p:nvSpPr>
        <p:spPr>
          <a:xfrm>
            <a:off x="685800" y="1417320"/>
            <a:ext cx="3246120" cy="1325880"/>
          </a:xfrm>
          <a:prstGeom prst="rect">
            <a:avLst/>
          </a:prstGeom>
          <a:solidFill>
            <a:srgbClr val="FFFFFF"/>
          </a:solidFill>
          <a:ln w="12700">
            <a:solidFill>
              <a:srgbClr val="D8DEE8"/>
            </a:solidFill>
            <a:prstDash val="solid"/>
          </a:ln>
        </p:spPr>
      </p:sp>
      <p:sp>
        <p:nvSpPr>
          <p:cNvPr id="6" name="Shape 4"/>
          <p:cNvSpPr/>
          <p:nvPr/>
        </p:nvSpPr>
        <p:spPr>
          <a:xfrm>
            <a:off x="685800" y="1417320"/>
            <a:ext cx="64008" cy="1325880"/>
          </a:xfrm>
          <a:prstGeom prst="rect">
            <a:avLst/>
          </a:prstGeom>
          <a:solidFill>
            <a:srgbClr val="2A9D8F"/>
          </a:solidFill>
          <a:ln w="12700">
            <a:solidFill>
              <a:srgbClr val="2A9D8F"/>
            </a:solidFill>
            <a:prstDash val="solid"/>
          </a:ln>
        </p:spPr>
      </p:sp>
      <p:sp>
        <p:nvSpPr>
          <p:cNvPr id="7" name="Text 5"/>
          <p:cNvSpPr/>
          <p:nvPr/>
        </p:nvSpPr>
        <p:spPr>
          <a:xfrm>
            <a:off x="914400" y="158191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Select samples</a:t>
            </a:r>
            <a:endParaRPr lang="en-US" sz="2000" dirty="0"/>
          </a:p>
        </p:txBody>
      </p:sp>
      <p:sp>
        <p:nvSpPr>
          <p:cNvPr id="8" name="Text 6"/>
          <p:cNvSpPr/>
          <p:nvPr/>
        </p:nvSpPr>
        <p:spPr>
          <a:xfrm>
            <a:off x="914400" y="2039112"/>
            <a:ext cx="2880360" cy="57607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Find wires with a clear and useful transformation.</a:t>
            </a:r>
            <a:endParaRPr lang="en-US" sz="1500" dirty="0"/>
          </a:p>
        </p:txBody>
      </p:sp>
      <p:sp>
        <p:nvSpPr>
          <p:cNvPr id="9" name="Shape 7"/>
          <p:cNvSpPr/>
          <p:nvPr/>
        </p:nvSpPr>
        <p:spPr>
          <a:xfrm>
            <a:off x="4434840" y="1417320"/>
            <a:ext cx="3246120" cy="1325880"/>
          </a:xfrm>
          <a:prstGeom prst="rect">
            <a:avLst/>
          </a:prstGeom>
          <a:solidFill>
            <a:srgbClr val="FFFFFF"/>
          </a:solidFill>
          <a:ln w="12700">
            <a:solidFill>
              <a:srgbClr val="D8DEE8"/>
            </a:solidFill>
            <a:prstDash val="solid"/>
          </a:ln>
        </p:spPr>
      </p:sp>
      <p:sp>
        <p:nvSpPr>
          <p:cNvPr id="10" name="Shape 8"/>
          <p:cNvSpPr/>
          <p:nvPr/>
        </p:nvSpPr>
        <p:spPr>
          <a:xfrm>
            <a:off x="4434840" y="1417320"/>
            <a:ext cx="64008" cy="1325880"/>
          </a:xfrm>
          <a:prstGeom prst="rect">
            <a:avLst/>
          </a:prstGeom>
          <a:solidFill>
            <a:srgbClr val="E76F51"/>
          </a:solidFill>
          <a:ln w="12700">
            <a:solidFill>
              <a:srgbClr val="E76F51"/>
            </a:solidFill>
            <a:prstDash val="solid"/>
          </a:ln>
        </p:spPr>
      </p:sp>
      <p:sp>
        <p:nvSpPr>
          <p:cNvPr id="11" name="Text 9"/>
          <p:cNvSpPr/>
          <p:nvPr/>
        </p:nvSpPr>
        <p:spPr>
          <a:xfrm>
            <a:off x="4663440" y="158191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Connect cause and response</a:t>
            </a:r>
            <a:endParaRPr lang="en-US" sz="2000" dirty="0"/>
          </a:p>
        </p:txBody>
      </p:sp>
      <p:sp>
        <p:nvSpPr>
          <p:cNvPr id="12" name="Text 10"/>
          <p:cNvSpPr/>
          <p:nvPr/>
        </p:nvSpPr>
        <p:spPr>
          <a:xfrm>
            <a:off x="4663440" y="2039112"/>
            <a:ext cx="2880360" cy="57607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Link composition, annealing, stress, and strain behavior.</a:t>
            </a:r>
            <a:endParaRPr lang="en-US" sz="1500" dirty="0"/>
          </a:p>
        </p:txBody>
      </p:sp>
      <p:sp>
        <p:nvSpPr>
          <p:cNvPr id="13" name="Shape 11"/>
          <p:cNvSpPr/>
          <p:nvPr/>
        </p:nvSpPr>
        <p:spPr>
          <a:xfrm>
            <a:off x="8183880" y="1417320"/>
            <a:ext cx="3246120" cy="1325880"/>
          </a:xfrm>
          <a:prstGeom prst="rect">
            <a:avLst/>
          </a:prstGeom>
          <a:solidFill>
            <a:srgbClr val="FFFFFF"/>
          </a:solidFill>
          <a:ln w="12700">
            <a:solidFill>
              <a:srgbClr val="D8DEE8"/>
            </a:solidFill>
            <a:prstDash val="solid"/>
          </a:ln>
        </p:spPr>
      </p:sp>
      <p:sp>
        <p:nvSpPr>
          <p:cNvPr id="14" name="Shape 12"/>
          <p:cNvSpPr/>
          <p:nvPr/>
        </p:nvSpPr>
        <p:spPr>
          <a:xfrm>
            <a:off x="8183880" y="1417320"/>
            <a:ext cx="64008" cy="1325880"/>
          </a:xfrm>
          <a:prstGeom prst="rect">
            <a:avLst/>
          </a:prstGeom>
          <a:solidFill>
            <a:srgbClr val="1F77B4"/>
          </a:solidFill>
          <a:ln w="12700">
            <a:solidFill>
              <a:srgbClr val="1F77B4"/>
            </a:solidFill>
            <a:prstDash val="solid"/>
          </a:ln>
        </p:spPr>
      </p:sp>
      <p:sp>
        <p:nvSpPr>
          <p:cNvPr id="15" name="Text 13"/>
          <p:cNvSpPr/>
          <p:nvPr/>
        </p:nvSpPr>
        <p:spPr>
          <a:xfrm>
            <a:off x="8412480" y="158191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Use DMA carefully</a:t>
            </a:r>
            <a:endParaRPr lang="en-US" sz="2000" dirty="0"/>
          </a:p>
        </p:txBody>
      </p:sp>
      <p:sp>
        <p:nvSpPr>
          <p:cNvPr id="16" name="Text 14"/>
          <p:cNvSpPr/>
          <p:nvPr/>
        </p:nvSpPr>
        <p:spPr>
          <a:xfrm>
            <a:off x="8412480" y="2039112"/>
            <a:ext cx="2880360" cy="57607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Spend slow commercial DMA time only on stronger candidates.</a:t>
            </a:r>
            <a:endParaRPr lang="en-US" sz="1500" dirty="0"/>
          </a:p>
        </p:txBody>
      </p:sp>
      <p:sp>
        <p:nvSpPr>
          <p:cNvPr id="17" name="Text 15"/>
          <p:cNvSpPr/>
          <p:nvPr/>
        </p:nvSpPr>
        <p:spPr>
          <a:xfrm>
            <a:off x="914400" y="3886200"/>
            <a:ext cx="2560320" cy="320040"/>
          </a:xfrm>
          <a:prstGeom prst="rect">
            <a:avLst/>
          </a:prstGeom>
          <a:noFill/>
          <a:ln/>
        </p:spPr>
        <p:txBody>
          <a:bodyPr wrap="square" lIns="635" tIns="635" rIns="635" bIns="635" rtlCol="0" anchor="ctr">
            <a:normAutofit/>
          </a:bodyPr>
          <a:lstStyle/>
          <a:p>
            <a:pPr algn="l" indent="0" marL="0">
              <a:buNone/>
            </a:pPr>
            <a:r>
              <a:rPr lang="en-US" sz="2500" b="1" dirty="0">
                <a:solidFill>
                  <a:srgbClr val="172033"/>
                </a:solidFill>
                <a:latin typeface="Helvetica" pitchFamily="34" charset="0"/>
                <a:ea typeface="Helvetica" pitchFamily="34" charset="-122"/>
                <a:cs typeface="Helvetica" pitchFamily="34" charset="-120"/>
              </a:rPr>
              <a:t>many samples</a:t>
            </a:r>
            <a:endParaRPr lang="en-US" sz="2500" dirty="0"/>
          </a:p>
        </p:txBody>
      </p:sp>
      <p:sp>
        <p:nvSpPr>
          <p:cNvPr id="18" name="Text 16"/>
          <p:cNvSpPr/>
          <p:nvPr/>
        </p:nvSpPr>
        <p:spPr>
          <a:xfrm>
            <a:off x="914400" y="4279392"/>
            <a:ext cx="2834640" cy="594360"/>
          </a:xfrm>
          <a:prstGeom prst="rect">
            <a:avLst/>
          </a:prstGeom>
          <a:noFill/>
          <a:ln/>
        </p:spPr>
        <p:txBody>
          <a:bodyPr wrap="square" lIns="635" tIns="635" rIns="635" bIns="635" rtlCol="0" anchor="ctr">
            <a:normAutofit/>
          </a:bodyPr>
          <a:lstStyle/>
          <a:p>
            <a:pPr algn="l" indent="0" marL="0">
              <a:buNone/>
            </a:pPr>
            <a:r>
              <a:rPr lang="en-US" sz="1600" dirty="0">
                <a:solidFill>
                  <a:srgbClr val="5B677A"/>
                </a:solidFill>
                <a:latin typeface="Helvetica" pitchFamily="34" charset="0"/>
                <a:ea typeface="Helvetica" pitchFamily="34" charset="-122"/>
                <a:cs typeface="Helvetica" pitchFamily="34" charset="-120"/>
              </a:rPr>
              <a:t>different compositions and preparation conditions</a:t>
            </a:r>
            <a:endParaRPr lang="en-US" sz="1600" dirty="0"/>
          </a:p>
        </p:txBody>
      </p:sp>
      <p:sp>
        <p:nvSpPr>
          <p:cNvPr id="19" name="Text 17"/>
          <p:cNvSpPr/>
          <p:nvPr/>
        </p:nvSpPr>
        <p:spPr>
          <a:xfrm>
            <a:off x="4617720" y="3886200"/>
            <a:ext cx="2743200" cy="320040"/>
          </a:xfrm>
          <a:prstGeom prst="rect">
            <a:avLst/>
          </a:prstGeom>
          <a:noFill/>
          <a:ln/>
        </p:spPr>
        <p:txBody>
          <a:bodyPr wrap="square" lIns="635" tIns="635" rIns="635" bIns="635" rtlCol="0" anchor="ctr">
            <a:normAutofit/>
          </a:bodyPr>
          <a:lstStyle/>
          <a:p>
            <a:pPr algn="l" indent="0" marL="0">
              <a:buNone/>
            </a:pPr>
            <a:r>
              <a:rPr lang="en-US" sz="2500" b="1" dirty="0">
                <a:solidFill>
                  <a:srgbClr val="172033"/>
                </a:solidFill>
                <a:latin typeface="Helvetica" pitchFamily="34" charset="0"/>
                <a:ea typeface="Helvetica" pitchFamily="34" charset="-122"/>
                <a:cs typeface="Helvetica" pitchFamily="34" charset="-120"/>
              </a:rPr>
              <a:t>faster screening</a:t>
            </a:r>
            <a:endParaRPr lang="en-US" sz="2500" dirty="0"/>
          </a:p>
        </p:txBody>
      </p:sp>
      <p:sp>
        <p:nvSpPr>
          <p:cNvPr id="20" name="Text 18"/>
          <p:cNvSpPr/>
          <p:nvPr/>
        </p:nvSpPr>
        <p:spPr>
          <a:xfrm>
            <a:off x="4617720" y="4279392"/>
            <a:ext cx="2834640" cy="594360"/>
          </a:xfrm>
          <a:prstGeom prst="rect">
            <a:avLst/>
          </a:prstGeom>
          <a:noFill/>
          <a:ln/>
        </p:spPr>
        <p:txBody>
          <a:bodyPr wrap="square" lIns="635" tIns="635" rIns="635" bIns="635" rtlCol="0" anchor="ctr">
            <a:normAutofit/>
          </a:bodyPr>
          <a:lstStyle/>
          <a:p>
            <a:pPr algn="l" indent="0" marL="0">
              <a:buNone/>
            </a:pPr>
            <a:r>
              <a:rPr lang="en-US" sz="1600" dirty="0">
                <a:solidFill>
                  <a:srgbClr val="5B677A"/>
                </a:solidFill>
                <a:latin typeface="Helvetica" pitchFamily="34" charset="0"/>
                <a:ea typeface="Helvetica" pitchFamily="34" charset="-122"/>
                <a:cs typeface="Helvetica" pitchFamily="34" charset="-120"/>
              </a:rPr>
              <a:t>quick checks before high-precision validation</a:t>
            </a:r>
            <a:endParaRPr lang="en-US" sz="1600" dirty="0"/>
          </a:p>
        </p:txBody>
      </p:sp>
      <p:sp>
        <p:nvSpPr>
          <p:cNvPr id="21" name="Text 19"/>
          <p:cNvSpPr/>
          <p:nvPr/>
        </p:nvSpPr>
        <p:spPr>
          <a:xfrm>
            <a:off x="8229600" y="3886200"/>
            <a:ext cx="2926080" cy="320040"/>
          </a:xfrm>
          <a:prstGeom prst="rect">
            <a:avLst/>
          </a:prstGeom>
          <a:noFill/>
          <a:ln/>
        </p:spPr>
        <p:txBody>
          <a:bodyPr wrap="square" lIns="635" tIns="635" rIns="635" bIns="635" rtlCol="0" anchor="ctr">
            <a:normAutofit/>
          </a:bodyPr>
          <a:lstStyle/>
          <a:p>
            <a:pPr algn="l" indent="0" marL="0">
              <a:buNone/>
            </a:pPr>
            <a:r>
              <a:rPr lang="en-US" sz="2500" b="1" dirty="0">
                <a:solidFill>
                  <a:srgbClr val="172033"/>
                </a:solidFill>
                <a:latin typeface="Helvetica" pitchFamily="34" charset="0"/>
                <a:ea typeface="Helvetica" pitchFamily="34" charset="-122"/>
                <a:cs typeface="Helvetica" pitchFamily="34" charset="-120"/>
              </a:rPr>
              <a:t>limited DMA time</a:t>
            </a:r>
            <a:endParaRPr lang="en-US" sz="2500" dirty="0"/>
          </a:p>
        </p:txBody>
      </p:sp>
      <p:sp>
        <p:nvSpPr>
          <p:cNvPr id="22" name="Text 20"/>
          <p:cNvSpPr/>
          <p:nvPr/>
        </p:nvSpPr>
        <p:spPr>
          <a:xfrm>
            <a:off x="8229600" y="4279392"/>
            <a:ext cx="2926080" cy="594360"/>
          </a:xfrm>
          <a:prstGeom prst="rect">
            <a:avLst/>
          </a:prstGeom>
          <a:noFill/>
          <a:ln/>
        </p:spPr>
        <p:txBody>
          <a:bodyPr wrap="square" lIns="635" tIns="635" rIns="635" bIns="635" rtlCol="0" anchor="ctr">
            <a:normAutofit/>
          </a:bodyPr>
          <a:lstStyle/>
          <a:p>
            <a:pPr algn="l" indent="0" marL="0">
              <a:buNone/>
            </a:pPr>
            <a:r>
              <a:rPr lang="en-US" sz="1600" dirty="0">
                <a:solidFill>
                  <a:srgbClr val="5B677A"/>
                </a:solidFill>
                <a:latin typeface="Helvetica" pitchFamily="34" charset="0"/>
                <a:ea typeface="Helvetica" pitchFamily="34" charset="-122"/>
                <a:cs typeface="Helvetica" pitchFamily="34" charset="-120"/>
              </a:rPr>
              <a:t>commercial DMA is valuable, but it cannot test every branch</a:t>
            </a:r>
            <a:endParaRPr lang="en-US" sz="1600" dirty="0"/>
          </a:p>
        </p:txBody>
      </p:sp>
      <p:sp>
        <p:nvSpPr>
          <p:cNvPr id="24" name="Text 21"/>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2/14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Many preparation routes must be screened</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One precise measurement is not enough to map the sample space</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Text 3"/>
          <p:cNvSpPr/>
          <p:nvPr/>
        </p:nvSpPr>
        <p:spPr>
          <a:xfrm>
            <a:off x="2103120" y="1325880"/>
            <a:ext cx="3657600" cy="320040"/>
          </a:xfrm>
          <a:prstGeom prst="rect">
            <a:avLst/>
          </a:prstGeom>
          <a:noFill/>
          <a:ln/>
        </p:spPr>
        <p:txBody>
          <a:bodyPr wrap="square" lIns="635" tIns="635" rIns="635" bIns="635" rtlCol="0" anchor="ctr">
            <a:normAutofit/>
          </a:bodyPr>
          <a:lstStyle/>
          <a:p>
            <a:pPr algn="l" indent="0" marL="0">
              <a:buNone/>
            </a:pPr>
            <a:r>
              <a:rPr lang="en-US" sz="1600" b="1" dirty="0">
                <a:solidFill>
                  <a:srgbClr val="5B677A"/>
                </a:solidFill>
                <a:latin typeface="Helvetica" pitchFamily="34" charset="0"/>
                <a:ea typeface="Helvetica" pitchFamily="34" charset="-122"/>
                <a:cs typeface="Helvetica" pitchFamily="34" charset="-120"/>
              </a:rPr>
              <a:t>Preparation condition</a:t>
            </a:r>
            <a:endParaRPr lang="en-US" sz="1600" dirty="0"/>
          </a:p>
        </p:txBody>
      </p:sp>
      <p:sp>
        <p:nvSpPr>
          <p:cNvPr id="6" name="Text 4"/>
          <p:cNvSpPr/>
          <p:nvPr/>
        </p:nvSpPr>
        <p:spPr>
          <a:xfrm>
            <a:off x="6400800" y="1325880"/>
            <a:ext cx="1463040" cy="320040"/>
          </a:xfrm>
          <a:prstGeom prst="rect">
            <a:avLst/>
          </a:prstGeom>
          <a:noFill/>
          <a:ln/>
        </p:spPr>
        <p:txBody>
          <a:bodyPr wrap="square" lIns="635" tIns="635" rIns="635" bIns="635" rtlCol="0" anchor="ctr">
            <a:normAutofit/>
          </a:bodyPr>
          <a:lstStyle/>
          <a:p>
            <a:pPr algn="ctr" indent="0" marL="0">
              <a:buNone/>
            </a:pPr>
            <a:r>
              <a:rPr lang="en-US" sz="1600" b="1" dirty="0">
                <a:solidFill>
                  <a:srgbClr val="5B677A"/>
                </a:solidFill>
                <a:latin typeface="Helvetica" pitchFamily="34" charset="0"/>
                <a:ea typeface="Helvetica" pitchFamily="34" charset="-122"/>
                <a:cs typeface="Helvetica" pitchFamily="34" charset="-120"/>
              </a:rPr>
              <a:t>screen</a:t>
            </a:r>
            <a:endParaRPr lang="en-US" sz="1600" dirty="0"/>
          </a:p>
        </p:txBody>
      </p:sp>
      <p:sp>
        <p:nvSpPr>
          <p:cNvPr id="7" name="Text 5"/>
          <p:cNvSpPr/>
          <p:nvPr/>
        </p:nvSpPr>
        <p:spPr>
          <a:xfrm>
            <a:off x="8732520" y="1325880"/>
            <a:ext cx="1645920" cy="320040"/>
          </a:xfrm>
          <a:prstGeom prst="rect">
            <a:avLst/>
          </a:prstGeom>
          <a:noFill/>
          <a:ln/>
        </p:spPr>
        <p:txBody>
          <a:bodyPr wrap="square" lIns="635" tIns="635" rIns="635" bIns="635" rtlCol="0" anchor="ctr">
            <a:normAutofit/>
          </a:bodyPr>
          <a:lstStyle/>
          <a:p>
            <a:pPr algn="ctr" indent="0" marL="0">
              <a:buNone/>
            </a:pPr>
            <a:r>
              <a:rPr lang="en-US" sz="1600" b="1" dirty="0">
                <a:solidFill>
                  <a:srgbClr val="5B677A"/>
                </a:solidFill>
                <a:latin typeface="Helvetica" pitchFamily="34" charset="0"/>
                <a:ea typeface="Helvetica" pitchFamily="34" charset="-122"/>
                <a:cs typeface="Helvetica" pitchFamily="34" charset="-120"/>
              </a:rPr>
              <a:t>validate</a:t>
            </a:r>
            <a:endParaRPr lang="en-US" sz="1600" dirty="0"/>
          </a:p>
        </p:txBody>
      </p:sp>
      <p:sp>
        <p:nvSpPr>
          <p:cNvPr id="8" name="Text 6"/>
          <p:cNvSpPr/>
          <p:nvPr/>
        </p:nvSpPr>
        <p:spPr>
          <a:xfrm>
            <a:off x="1828800" y="1828800"/>
            <a:ext cx="1097280" cy="274320"/>
          </a:xfrm>
          <a:prstGeom prst="rect">
            <a:avLst/>
          </a:prstGeom>
          <a:noFill/>
          <a:ln/>
        </p:spPr>
        <p:txBody>
          <a:bodyPr wrap="square" lIns="635" tIns="635" rIns="635" bIns="635" rtlCol="0" anchor="ctr">
            <a:normAutofit/>
          </a:bodyPr>
          <a:lstStyle/>
          <a:p>
            <a:pPr algn="ctr" indent="0" marL="0">
              <a:buNone/>
            </a:pPr>
            <a:r>
              <a:rPr lang="en-US" sz="1500" b="1" dirty="0">
                <a:solidFill>
                  <a:srgbClr val="172033"/>
                </a:solidFill>
                <a:latin typeface="Helvetica" pitchFamily="34" charset="0"/>
                <a:ea typeface="Helvetica" pitchFamily="34" charset="-122"/>
                <a:cs typeface="Helvetica" pitchFamily="34" charset="-120"/>
              </a:rPr>
              <a:t>as-cast</a:t>
            </a:r>
            <a:endParaRPr lang="en-US" sz="1500" dirty="0"/>
          </a:p>
        </p:txBody>
      </p:sp>
      <p:sp>
        <p:nvSpPr>
          <p:cNvPr id="9" name="Text 7"/>
          <p:cNvSpPr/>
          <p:nvPr/>
        </p:nvSpPr>
        <p:spPr>
          <a:xfrm>
            <a:off x="3154680" y="1828800"/>
            <a:ext cx="1097280" cy="274320"/>
          </a:xfrm>
          <a:prstGeom prst="rect">
            <a:avLst/>
          </a:prstGeom>
          <a:noFill/>
          <a:ln/>
        </p:spPr>
        <p:txBody>
          <a:bodyPr wrap="square" lIns="635" tIns="635" rIns="635" bIns="635" rtlCol="0" anchor="ctr">
            <a:normAutofit/>
          </a:bodyPr>
          <a:lstStyle/>
          <a:p>
            <a:pPr algn="ctr" indent="0" marL="0">
              <a:buNone/>
            </a:pPr>
            <a:r>
              <a:rPr lang="en-US" sz="1500" b="1" dirty="0">
                <a:solidFill>
                  <a:srgbClr val="172033"/>
                </a:solidFill>
                <a:latin typeface="Helvetica" pitchFamily="34" charset="0"/>
                <a:ea typeface="Helvetica" pitchFamily="34" charset="-122"/>
                <a:cs typeface="Helvetica" pitchFamily="34" charset="-120"/>
              </a:rPr>
              <a:t>anneal A</a:t>
            </a:r>
            <a:endParaRPr lang="en-US" sz="1500" dirty="0"/>
          </a:p>
        </p:txBody>
      </p:sp>
      <p:sp>
        <p:nvSpPr>
          <p:cNvPr id="10" name="Text 8"/>
          <p:cNvSpPr/>
          <p:nvPr/>
        </p:nvSpPr>
        <p:spPr>
          <a:xfrm>
            <a:off x="4480560" y="1828800"/>
            <a:ext cx="1097280" cy="274320"/>
          </a:xfrm>
          <a:prstGeom prst="rect">
            <a:avLst/>
          </a:prstGeom>
          <a:noFill/>
          <a:ln/>
        </p:spPr>
        <p:txBody>
          <a:bodyPr wrap="square" lIns="635" tIns="635" rIns="635" bIns="635" rtlCol="0" anchor="ctr">
            <a:normAutofit/>
          </a:bodyPr>
          <a:lstStyle/>
          <a:p>
            <a:pPr algn="ctr" indent="0" marL="0">
              <a:buNone/>
            </a:pPr>
            <a:r>
              <a:rPr lang="en-US" sz="1500" b="1" dirty="0">
                <a:solidFill>
                  <a:srgbClr val="172033"/>
                </a:solidFill>
                <a:latin typeface="Helvetica" pitchFamily="34" charset="0"/>
                <a:ea typeface="Helvetica" pitchFamily="34" charset="-122"/>
                <a:cs typeface="Helvetica" pitchFamily="34" charset="-120"/>
              </a:rPr>
              <a:t>anneal B</a:t>
            </a:r>
            <a:endParaRPr lang="en-US" sz="1500" dirty="0"/>
          </a:p>
        </p:txBody>
      </p:sp>
      <p:sp>
        <p:nvSpPr>
          <p:cNvPr id="11" name="Text 9"/>
          <p:cNvSpPr/>
          <p:nvPr/>
        </p:nvSpPr>
        <p:spPr>
          <a:xfrm>
            <a:off x="749808" y="2331720"/>
            <a:ext cx="914400" cy="228600"/>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sample 1</a:t>
            </a:r>
            <a:endParaRPr lang="en-US" sz="1300" dirty="0"/>
          </a:p>
        </p:txBody>
      </p:sp>
      <p:sp>
        <p:nvSpPr>
          <p:cNvPr id="12" name="Text 10"/>
          <p:cNvSpPr/>
          <p:nvPr/>
        </p:nvSpPr>
        <p:spPr>
          <a:xfrm>
            <a:off x="749808" y="2862072"/>
            <a:ext cx="914400" cy="228600"/>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sample 2</a:t>
            </a:r>
            <a:endParaRPr lang="en-US" sz="1300" dirty="0"/>
          </a:p>
        </p:txBody>
      </p:sp>
      <p:sp>
        <p:nvSpPr>
          <p:cNvPr id="13" name="Text 11"/>
          <p:cNvSpPr/>
          <p:nvPr/>
        </p:nvSpPr>
        <p:spPr>
          <a:xfrm>
            <a:off x="749808" y="3392424"/>
            <a:ext cx="914400" cy="228600"/>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sample 3</a:t>
            </a:r>
            <a:endParaRPr lang="en-US" sz="1300" dirty="0"/>
          </a:p>
        </p:txBody>
      </p:sp>
      <p:sp>
        <p:nvSpPr>
          <p:cNvPr id="14" name="Text 12"/>
          <p:cNvSpPr/>
          <p:nvPr/>
        </p:nvSpPr>
        <p:spPr>
          <a:xfrm>
            <a:off x="749808" y="3922776"/>
            <a:ext cx="914400" cy="228600"/>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sample 4</a:t>
            </a:r>
            <a:endParaRPr lang="en-US" sz="1300" dirty="0"/>
          </a:p>
        </p:txBody>
      </p:sp>
      <p:sp>
        <p:nvSpPr>
          <p:cNvPr id="15" name="Text 13"/>
          <p:cNvSpPr/>
          <p:nvPr/>
        </p:nvSpPr>
        <p:spPr>
          <a:xfrm>
            <a:off x="749808" y="4453128"/>
            <a:ext cx="914400" cy="228600"/>
          </a:xfrm>
          <a:prstGeom prst="rect">
            <a:avLst/>
          </a:prstGeom>
          <a:noFill/>
          <a:ln/>
        </p:spPr>
        <p:txBody>
          <a:bodyPr wrap="square" lIns="635" tIns="635" rIns="635" bIns="635" rtlCol="0" anchor="ctr">
            <a:normAutofit/>
          </a:bodyPr>
          <a:lstStyle/>
          <a:p>
            <a:pPr algn="l" indent="0" marL="0">
              <a:buNone/>
            </a:pPr>
            <a:r>
              <a:rPr lang="en-US" sz="1300" dirty="0">
                <a:solidFill>
                  <a:srgbClr val="5B677A"/>
                </a:solidFill>
                <a:latin typeface="Helvetica" pitchFamily="34" charset="0"/>
                <a:ea typeface="Helvetica" pitchFamily="34" charset="-122"/>
                <a:cs typeface="Helvetica" pitchFamily="34" charset="-120"/>
              </a:rPr>
              <a:t>sample 5</a:t>
            </a:r>
            <a:endParaRPr lang="en-US" sz="1300" dirty="0"/>
          </a:p>
        </p:txBody>
      </p:sp>
      <p:sp>
        <p:nvSpPr>
          <p:cNvPr id="16" name="Shape 14"/>
          <p:cNvSpPr/>
          <p:nvPr/>
        </p:nvSpPr>
        <p:spPr>
          <a:xfrm>
            <a:off x="1828800" y="2240280"/>
            <a:ext cx="914400" cy="329184"/>
          </a:xfrm>
          <a:prstGeom prst="rect">
            <a:avLst/>
          </a:prstGeom>
          <a:solidFill>
            <a:srgbClr val="EAF3F8"/>
          </a:solidFill>
          <a:ln w="12700">
            <a:solidFill>
              <a:srgbClr val="FFFFFF"/>
            </a:solidFill>
            <a:prstDash val="solid"/>
          </a:ln>
        </p:spPr>
      </p:sp>
      <p:sp>
        <p:nvSpPr>
          <p:cNvPr id="17" name="Shape 15"/>
          <p:cNvSpPr/>
          <p:nvPr/>
        </p:nvSpPr>
        <p:spPr>
          <a:xfrm>
            <a:off x="3154680" y="2240280"/>
            <a:ext cx="914400" cy="329184"/>
          </a:xfrm>
          <a:prstGeom prst="rect">
            <a:avLst/>
          </a:prstGeom>
          <a:solidFill>
            <a:srgbClr val="EAF3F8"/>
          </a:solidFill>
          <a:ln w="12700">
            <a:solidFill>
              <a:srgbClr val="FFFFFF"/>
            </a:solidFill>
            <a:prstDash val="solid"/>
          </a:ln>
        </p:spPr>
      </p:sp>
      <p:sp>
        <p:nvSpPr>
          <p:cNvPr id="18" name="Shape 16"/>
          <p:cNvSpPr/>
          <p:nvPr/>
        </p:nvSpPr>
        <p:spPr>
          <a:xfrm>
            <a:off x="4480560" y="2240280"/>
            <a:ext cx="914400" cy="329184"/>
          </a:xfrm>
          <a:prstGeom prst="rect">
            <a:avLst/>
          </a:prstGeom>
          <a:solidFill>
            <a:srgbClr val="EAF3F8"/>
          </a:solidFill>
          <a:ln w="12700">
            <a:solidFill>
              <a:srgbClr val="FFFFFF"/>
            </a:solidFill>
            <a:prstDash val="solid"/>
          </a:ln>
        </p:spPr>
      </p:sp>
      <p:sp>
        <p:nvSpPr>
          <p:cNvPr id="19" name="Shape 17"/>
          <p:cNvSpPr/>
          <p:nvPr/>
        </p:nvSpPr>
        <p:spPr>
          <a:xfrm>
            <a:off x="1828800" y="2770632"/>
            <a:ext cx="914400" cy="329184"/>
          </a:xfrm>
          <a:prstGeom prst="rect">
            <a:avLst/>
          </a:prstGeom>
          <a:solidFill>
            <a:srgbClr val="EAF3F8"/>
          </a:solidFill>
          <a:ln w="12700">
            <a:solidFill>
              <a:srgbClr val="FFFFFF"/>
            </a:solidFill>
            <a:prstDash val="solid"/>
          </a:ln>
        </p:spPr>
      </p:sp>
      <p:sp>
        <p:nvSpPr>
          <p:cNvPr id="20" name="Shape 18"/>
          <p:cNvSpPr/>
          <p:nvPr/>
        </p:nvSpPr>
        <p:spPr>
          <a:xfrm>
            <a:off x="3154680" y="2770632"/>
            <a:ext cx="914400" cy="329184"/>
          </a:xfrm>
          <a:prstGeom prst="rect">
            <a:avLst/>
          </a:prstGeom>
          <a:solidFill>
            <a:srgbClr val="EAF3F8"/>
          </a:solidFill>
          <a:ln w="12700">
            <a:solidFill>
              <a:srgbClr val="FFFFFF"/>
            </a:solidFill>
            <a:prstDash val="solid"/>
          </a:ln>
        </p:spPr>
      </p:sp>
      <p:sp>
        <p:nvSpPr>
          <p:cNvPr id="21" name="Shape 19"/>
          <p:cNvSpPr/>
          <p:nvPr/>
        </p:nvSpPr>
        <p:spPr>
          <a:xfrm>
            <a:off x="4480560" y="2770632"/>
            <a:ext cx="914400" cy="329184"/>
          </a:xfrm>
          <a:prstGeom prst="rect">
            <a:avLst/>
          </a:prstGeom>
          <a:solidFill>
            <a:srgbClr val="EAF3F8"/>
          </a:solidFill>
          <a:ln w="12700">
            <a:solidFill>
              <a:srgbClr val="FFFFFF"/>
            </a:solidFill>
            <a:prstDash val="solid"/>
          </a:ln>
        </p:spPr>
      </p:sp>
      <p:sp>
        <p:nvSpPr>
          <p:cNvPr id="22" name="Shape 20"/>
          <p:cNvSpPr/>
          <p:nvPr/>
        </p:nvSpPr>
        <p:spPr>
          <a:xfrm>
            <a:off x="1828800" y="3300984"/>
            <a:ext cx="914400" cy="329184"/>
          </a:xfrm>
          <a:prstGeom prst="rect">
            <a:avLst/>
          </a:prstGeom>
          <a:solidFill>
            <a:srgbClr val="EAF3F8"/>
          </a:solidFill>
          <a:ln w="12700">
            <a:solidFill>
              <a:srgbClr val="FFFFFF"/>
            </a:solidFill>
            <a:prstDash val="solid"/>
          </a:ln>
        </p:spPr>
      </p:sp>
      <p:sp>
        <p:nvSpPr>
          <p:cNvPr id="23" name="Shape 21"/>
          <p:cNvSpPr/>
          <p:nvPr/>
        </p:nvSpPr>
        <p:spPr>
          <a:xfrm>
            <a:off x="3154680" y="3300984"/>
            <a:ext cx="914400" cy="329184"/>
          </a:xfrm>
          <a:prstGeom prst="rect">
            <a:avLst/>
          </a:prstGeom>
          <a:solidFill>
            <a:srgbClr val="EAF3F8"/>
          </a:solidFill>
          <a:ln w="12700">
            <a:solidFill>
              <a:srgbClr val="FFFFFF"/>
            </a:solidFill>
            <a:prstDash val="solid"/>
          </a:ln>
        </p:spPr>
      </p:sp>
      <p:sp>
        <p:nvSpPr>
          <p:cNvPr id="24" name="Shape 22"/>
          <p:cNvSpPr/>
          <p:nvPr/>
        </p:nvSpPr>
        <p:spPr>
          <a:xfrm>
            <a:off x="4480560" y="3300984"/>
            <a:ext cx="914400" cy="329184"/>
          </a:xfrm>
          <a:prstGeom prst="rect">
            <a:avLst/>
          </a:prstGeom>
          <a:solidFill>
            <a:srgbClr val="EAF3F8"/>
          </a:solidFill>
          <a:ln w="12700">
            <a:solidFill>
              <a:srgbClr val="FFFFFF"/>
            </a:solidFill>
            <a:prstDash val="solid"/>
          </a:ln>
        </p:spPr>
      </p:sp>
      <p:sp>
        <p:nvSpPr>
          <p:cNvPr id="25" name="Shape 23"/>
          <p:cNvSpPr/>
          <p:nvPr/>
        </p:nvSpPr>
        <p:spPr>
          <a:xfrm>
            <a:off x="1828800" y="3831336"/>
            <a:ext cx="914400" cy="329184"/>
          </a:xfrm>
          <a:prstGeom prst="rect">
            <a:avLst/>
          </a:prstGeom>
          <a:solidFill>
            <a:srgbClr val="EAF3F8"/>
          </a:solidFill>
          <a:ln w="12700">
            <a:solidFill>
              <a:srgbClr val="FFFFFF"/>
            </a:solidFill>
            <a:prstDash val="solid"/>
          </a:ln>
        </p:spPr>
      </p:sp>
      <p:sp>
        <p:nvSpPr>
          <p:cNvPr id="26" name="Shape 24"/>
          <p:cNvSpPr/>
          <p:nvPr/>
        </p:nvSpPr>
        <p:spPr>
          <a:xfrm>
            <a:off x="3154680" y="3831336"/>
            <a:ext cx="914400" cy="329184"/>
          </a:xfrm>
          <a:prstGeom prst="rect">
            <a:avLst/>
          </a:prstGeom>
          <a:solidFill>
            <a:srgbClr val="EAF3F8"/>
          </a:solidFill>
          <a:ln w="12700">
            <a:solidFill>
              <a:srgbClr val="FFFFFF"/>
            </a:solidFill>
            <a:prstDash val="solid"/>
          </a:ln>
        </p:spPr>
      </p:sp>
      <p:sp>
        <p:nvSpPr>
          <p:cNvPr id="27" name="Shape 25"/>
          <p:cNvSpPr/>
          <p:nvPr/>
        </p:nvSpPr>
        <p:spPr>
          <a:xfrm>
            <a:off x="4480560" y="3831336"/>
            <a:ext cx="914400" cy="329184"/>
          </a:xfrm>
          <a:prstGeom prst="rect">
            <a:avLst/>
          </a:prstGeom>
          <a:solidFill>
            <a:srgbClr val="F8EDE8"/>
          </a:solidFill>
          <a:ln w="12700">
            <a:solidFill>
              <a:srgbClr val="FFFFFF"/>
            </a:solidFill>
            <a:prstDash val="solid"/>
          </a:ln>
        </p:spPr>
      </p:sp>
      <p:sp>
        <p:nvSpPr>
          <p:cNvPr id="28" name="Shape 26"/>
          <p:cNvSpPr/>
          <p:nvPr/>
        </p:nvSpPr>
        <p:spPr>
          <a:xfrm>
            <a:off x="1828800" y="4361688"/>
            <a:ext cx="914400" cy="329184"/>
          </a:xfrm>
          <a:prstGeom prst="rect">
            <a:avLst/>
          </a:prstGeom>
          <a:solidFill>
            <a:srgbClr val="EAF3F8"/>
          </a:solidFill>
          <a:ln w="12700">
            <a:solidFill>
              <a:srgbClr val="FFFFFF"/>
            </a:solidFill>
            <a:prstDash val="solid"/>
          </a:ln>
        </p:spPr>
      </p:sp>
      <p:sp>
        <p:nvSpPr>
          <p:cNvPr id="29" name="Shape 27"/>
          <p:cNvSpPr/>
          <p:nvPr/>
        </p:nvSpPr>
        <p:spPr>
          <a:xfrm>
            <a:off x="3154680" y="4361688"/>
            <a:ext cx="914400" cy="329184"/>
          </a:xfrm>
          <a:prstGeom prst="rect">
            <a:avLst/>
          </a:prstGeom>
          <a:solidFill>
            <a:srgbClr val="F8EDE8"/>
          </a:solidFill>
          <a:ln w="12700">
            <a:solidFill>
              <a:srgbClr val="FFFFFF"/>
            </a:solidFill>
            <a:prstDash val="solid"/>
          </a:ln>
        </p:spPr>
      </p:sp>
      <p:sp>
        <p:nvSpPr>
          <p:cNvPr id="30" name="Shape 28"/>
          <p:cNvSpPr/>
          <p:nvPr/>
        </p:nvSpPr>
        <p:spPr>
          <a:xfrm>
            <a:off x="4480560" y="4361688"/>
            <a:ext cx="914400" cy="329184"/>
          </a:xfrm>
          <a:prstGeom prst="rect">
            <a:avLst/>
          </a:prstGeom>
          <a:solidFill>
            <a:srgbClr val="F8EDE8"/>
          </a:solidFill>
          <a:ln w="12700">
            <a:solidFill>
              <a:srgbClr val="FFFFFF"/>
            </a:solidFill>
            <a:prstDash val="solid"/>
          </a:ln>
        </p:spPr>
      </p:sp>
      <p:sp>
        <p:nvSpPr>
          <p:cNvPr id="31" name="Shape 29"/>
          <p:cNvSpPr/>
          <p:nvPr/>
        </p:nvSpPr>
        <p:spPr>
          <a:xfrm>
            <a:off x="5989320" y="3246120"/>
            <a:ext cx="1920240" cy="0"/>
          </a:xfrm>
          <a:prstGeom prst="line">
            <a:avLst/>
          </a:prstGeom>
          <a:noFill/>
          <a:ln w="27940">
            <a:solidFill>
              <a:srgbClr val="1F77B4"/>
            </a:solidFill>
            <a:prstDash val="solid"/>
            <a:headEnd type="none"/>
            <a:tailEnd type="triangle"/>
          </a:ln>
        </p:spPr>
      </p:sp>
      <p:sp>
        <p:nvSpPr>
          <p:cNvPr id="32" name="Shape 30"/>
          <p:cNvSpPr/>
          <p:nvPr/>
        </p:nvSpPr>
        <p:spPr>
          <a:xfrm>
            <a:off x="8321040" y="3246120"/>
            <a:ext cx="1965960" cy="0"/>
          </a:xfrm>
          <a:prstGeom prst="line">
            <a:avLst/>
          </a:prstGeom>
          <a:noFill/>
          <a:ln w="27940">
            <a:solidFill>
              <a:srgbClr val="E76F51"/>
            </a:solidFill>
            <a:prstDash val="solid"/>
            <a:headEnd type="none"/>
            <a:tailEnd type="triangle"/>
          </a:ln>
        </p:spPr>
      </p:sp>
      <p:sp>
        <p:nvSpPr>
          <p:cNvPr id="33" name="Shape 31"/>
          <p:cNvSpPr/>
          <p:nvPr/>
        </p:nvSpPr>
        <p:spPr>
          <a:xfrm>
            <a:off x="6144768" y="2743200"/>
            <a:ext cx="1645920" cy="384048"/>
          </a:xfrm>
          <a:prstGeom prst="roundRect">
            <a:avLst>
              <a:gd name="adj" fmla="val 16667"/>
            </a:avLst>
          </a:prstGeom>
          <a:solidFill>
            <a:srgbClr val="1F77B4"/>
          </a:solidFill>
          <a:ln w="12700">
            <a:solidFill>
              <a:srgbClr val="1F77B4"/>
            </a:solidFill>
            <a:prstDash val="solid"/>
          </a:ln>
        </p:spPr>
      </p:sp>
      <p:sp>
        <p:nvSpPr>
          <p:cNvPr id="34" name="Text 32"/>
          <p:cNvSpPr/>
          <p:nvPr/>
        </p:nvSpPr>
        <p:spPr>
          <a:xfrm>
            <a:off x="6254496" y="2834640"/>
            <a:ext cx="1426464" cy="182880"/>
          </a:xfrm>
          <a:prstGeom prst="rect">
            <a:avLst/>
          </a:prstGeom>
          <a:noFill/>
          <a:ln/>
        </p:spPr>
        <p:txBody>
          <a:bodyPr wrap="square" lIns="635" tIns="635" rIns="635" bIns="635" rtlCol="0" anchor="ctr">
            <a:normAutofit/>
          </a:bodyPr>
          <a:lstStyle/>
          <a:p>
            <a:pPr algn="ctr" indent="0" marL="0">
              <a:buNone/>
            </a:pPr>
            <a:r>
              <a:rPr lang="en-US" sz="1200" b="1" dirty="0">
                <a:solidFill>
                  <a:srgbClr val="FFFFFF"/>
                </a:solidFill>
                <a:latin typeface="Helvetica" pitchFamily="34" charset="0"/>
                <a:ea typeface="Helvetica" pitchFamily="34" charset="-122"/>
                <a:cs typeface="Helvetica" pitchFamily="34" charset="-120"/>
              </a:rPr>
              <a:t>fast checks</a:t>
            </a:r>
            <a:endParaRPr lang="en-US" sz="1200" dirty="0"/>
          </a:p>
        </p:txBody>
      </p:sp>
      <p:sp>
        <p:nvSpPr>
          <p:cNvPr id="35" name="Shape 33"/>
          <p:cNvSpPr/>
          <p:nvPr/>
        </p:nvSpPr>
        <p:spPr>
          <a:xfrm>
            <a:off x="8503920" y="2743200"/>
            <a:ext cx="2057400" cy="384048"/>
          </a:xfrm>
          <a:prstGeom prst="roundRect">
            <a:avLst>
              <a:gd name="adj" fmla="val 16667"/>
            </a:avLst>
          </a:prstGeom>
          <a:solidFill>
            <a:srgbClr val="E76F51"/>
          </a:solidFill>
          <a:ln w="12700">
            <a:solidFill>
              <a:srgbClr val="E76F51"/>
            </a:solidFill>
            <a:prstDash val="solid"/>
          </a:ln>
        </p:spPr>
      </p:sp>
      <p:sp>
        <p:nvSpPr>
          <p:cNvPr id="36" name="Text 34"/>
          <p:cNvSpPr/>
          <p:nvPr/>
        </p:nvSpPr>
        <p:spPr>
          <a:xfrm>
            <a:off x="8613648" y="2834640"/>
            <a:ext cx="1837944" cy="182880"/>
          </a:xfrm>
          <a:prstGeom prst="rect">
            <a:avLst/>
          </a:prstGeom>
          <a:noFill/>
          <a:ln/>
        </p:spPr>
        <p:txBody>
          <a:bodyPr wrap="square" lIns="635" tIns="635" rIns="635" bIns="635" rtlCol="0" anchor="ctr">
            <a:normAutofit/>
          </a:bodyPr>
          <a:lstStyle/>
          <a:p>
            <a:pPr algn="ctr" indent="0" marL="0">
              <a:buNone/>
            </a:pPr>
            <a:r>
              <a:rPr lang="en-US" sz="1200" b="1" dirty="0">
                <a:solidFill>
                  <a:srgbClr val="FFFFFF"/>
                </a:solidFill>
                <a:latin typeface="Helvetica" pitchFamily="34" charset="0"/>
                <a:ea typeface="Helvetica" pitchFamily="34" charset="-122"/>
                <a:cs typeface="Helvetica" pitchFamily="34" charset="-120"/>
              </a:rPr>
              <a:t>selected candidates</a:t>
            </a:r>
            <a:endParaRPr lang="en-US" sz="1200" dirty="0"/>
          </a:p>
        </p:txBody>
      </p:sp>
      <p:sp>
        <p:nvSpPr>
          <p:cNvPr id="37" name="Text 35"/>
          <p:cNvSpPr/>
          <p:nvPr/>
        </p:nvSpPr>
        <p:spPr>
          <a:xfrm>
            <a:off x="1005840" y="5577840"/>
            <a:ext cx="9875520" cy="502920"/>
          </a:xfrm>
          <a:prstGeom prst="rect">
            <a:avLst/>
          </a:prstGeom>
          <a:noFill/>
          <a:ln/>
        </p:spPr>
        <p:txBody>
          <a:bodyPr wrap="square" lIns="635" tIns="635" rIns="635" bIns="635" rtlCol="0" anchor="ctr">
            <a:normAutofit/>
          </a:bodyPr>
          <a:lstStyle/>
          <a:p>
            <a:pPr algn="ctr" indent="0" marL="0">
              <a:buNone/>
            </a:pPr>
            <a:r>
              <a:rPr lang="en-US" sz="2400" b="1" dirty="0">
                <a:solidFill>
                  <a:srgbClr val="172033"/>
                </a:solidFill>
                <a:latin typeface="Helvetica" pitchFamily="34" charset="0"/>
                <a:ea typeface="Helvetica" pitchFamily="34" charset="-122"/>
                <a:cs typeface="Helvetica" pitchFamily="34" charset="-120"/>
              </a:rPr>
              <a:t>The practical task is not one curve. It is selecting the right curves to measure carefully.</a:t>
            </a:r>
            <a:endParaRPr lang="en-US" sz="2400" dirty="0"/>
          </a:p>
        </p:txBody>
      </p:sp>
      <p:sp>
        <p:nvSpPr>
          <p:cNvPr id="39" name="Text 36"/>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3/14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What each measurement must tell us</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important outputs are selection variables</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Shape 3"/>
          <p:cNvSpPr/>
          <p:nvPr/>
        </p:nvSpPr>
        <p:spPr>
          <a:xfrm>
            <a:off x="731520" y="1463040"/>
            <a:ext cx="2514600" cy="1463040"/>
          </a:xfrm>
          <a:prstGeom prst="rect">
            <a:avLst/>
          </a:prstGeom>
          <a:solidFill>
            <a:srgbClr val="FFFFFF"/>
          </a:solidFill>
          <a:ln w="12700">
            <a:solidFill>
              <a:srgbClr val="D8DEE8"/>
            </a:solidFill>
            <a:prstDash val="solid"/>
          </a:ln>
        </p:spPr>
      </p:sp>
      <p:sp>
        <p:nvSpPr>
          <p:cNvPr id="6" name="Shape 4"/>
          <p:cNvSpPr/>
          <p:nvPr/>
        </p:nvSpPr>
        <p:spPr>
          <a:xfrm>
            <a:off x="731520" y="1463040"/>
            <a:ext cx="64008" cy="1463040"/>
          </a:xfrm>
          <a:prstGeom prst="rect">
            <a:avLst/>
          </a:prstGeom>
          <a:solidFill>
            <a:srgbClr val="1F77B4"/>
          </a:solidFill>
          <a:ln w="12700">
            <a:solidFill>
              <a:srgbClr val="1F77B4"/>
            </a:solidFill>
            <a:prstDash val="solid"/>
          </a:ln>
        </p:spPr>
      </p:sp>
      <p:sp>
        <p:nvSpPr>
          <p:cNvPr id="7" name="Text 5"/>
          <p:cNvSpPr/>
          <p:nvPr/>
        </p:nvSpPr>
        <p:spPr>
          <a:xfrm>
            <a:off x="960120" y="1627632"/>
            <a:ext cx="21488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Transition behavior</a:t>
            </a:r>
            <a:endParaRPr lang="en-US" sz="2000" dirty="0"/>
          </a:p>
        </p:txBody>
      </p:sp>
      <p:sp>
        <p:nvSpPr>
          <p:cNvPr id="8" name="Text 6"/>
          <p:cNvSpPr/>
          <p:nvPr/>
        </p:nvSpPr>
        <p:spPr>
          <a:xfrm>
            <a:off x="960120" y="2084832"/>
            <a:ext cx="2148840" cy="7132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Where the response begins and ends.</a:t>
            </a:r>
            <a:endParaRPr lang="en-US" sz="1500" dirty="0"/>
          </a:p>
        </p:txBody>
      </p:sp>
      <p:sp>
        <p:nvSpPr>
          <p:cNvPr id="9" name="Shape 7"/>
          <p:cNvSpPr/>
          <p:nvPr/>
        </p:nvSpPr>
        <p:spPr>
          <a:xfrm>
            <a:off x="3520440" y="1463040"/>
            <a:ext cx="2514600" cy="1463040"/>
          </a:xfrm>
          <a:prstGeom prst="rect">
            <a:avLst/>
          </a:prstGeom>
          <a:solidFill>
            <a:srgbClr val="FFFFFF"/>
          </a:solidFill>
          <a:ln w="12700">
            <a:solidFill>
              <a:srgbClr val="D8DEE8"/>
            </a:solidFill>
            <a:prstDash val="solid"/>
          </a:ln>
        </p:spPr>
      </p:sp>
      <p:sp>
        <p:nvSpPr>
          <p:cNvPr id="10" name="Shape 8"/>
          <p:cNvSpPr/>
          <p:nvPr/>
        </p:nvSpPr>
        <p:spPr>
          <a:xfrm>
            <a:off x="3520440" y="1463040"/>
            <a:ext cx="64008" cy="1463040"/>
          </a:xfrm>
          <a:prstGeom prst="rect">
            <a:avLst/>
          </a:prstGeom>
          <a:solidFill>
            <a:srgbClr val="2A9D8F"/>
          </a:solidFill>
          <a:ln w="12700">
            <a:solidFill>
              <a:srgbClr val="2A9D8F"/>
            </a:solidFill>
            <a:prstDash val="solid"/>
          </a:ln>
        </p:spPr>
      </p:sp>
      <p:sp>
        <p:nvSpPr>
          <p:cNvPr id="11" name="Text 9"/>
          <p:cNvSpPr/>
          <p:nvPr/>
        </p:nvSpPr>
        <p:spPr>
          <a:xfrm>
            <a:off x="3749040" y="1627632"/>
            <a:ext cx="21488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Recoverable strain</a:t>
            </a:r>
            <a:endParaRPr lang="en-US" sz="2000" dirty="0"/>
          </a:p>
        </p:txBody>
      </p:sp>
      <p:sp>
        <p:nvSpPr>
          <p:cNvPr id="12" name="Text 10"/>
          <p:cNvSpPr/>
          <p:nvPr/>
        </p:nvSpPr>
        <p:spPr>
          <a:xfrm>
            <a:off x="3749040" y="2084832"/>
            <a:ext cx="2148840" cy="7132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How much usable motion is available.</a:t>
            </a:r>
            <a:endParaRPr lang="en-US" sz="1500" dirty="0"/>
          </a:p>
        </p:txBody>
      </p:sp>
      <p:sp>
        <p:nvSpPr>
          <p:cNvPr id="13" name="Shape 11"/>
          <p:cNvSpPr/>
          <p:nvPr/>
        </p:nvSpPr>
        <p:spPr>
          <a:xfrm>
            <a:off x="6309360" y="1463040"/>
            <a:ext cx="2514600" cy="1463040"/>
          </a:xfrm>
          <a:prstGeom prst="rect">
            <a:avLst/>
          </a:prstGeom>
          <a:solidFill>
            <a:srgbClr val="FFFFFF"/>
          </a:solidFill>
          <a:ln w="12700">
            <a:solidFill>
              <a:srgbClr val="D8DEE8"/>
            </a:solidFill>
            <a:prstDash val="solid"/>
          </a:ln>
        </p:spPr>
      </p:sp>
      <p:sp>
        <p:nvSpPr>
          <p:cNvPr id="14" name="Shape 12"/>
          <p:cNvSpPr/>
          <p:nvPr/>
        </p:nvSpPr>
        <p:spPr>
          <a:xfrm>
            <a:off x="6309360" y="1463040"/>
            <a:ext cx="64008" cy="1463040"/>
          </a:xfrm>
          <a:prstGeom prst="rect">
            <a:avLst/>
          </a:prstGeom>
          <a:solidFill>
            <a:srgbClr val="E76F51"/>
          </a:solidFill>
          <a:ln w="12700">
            <a:solidFill>
              <a:srgbClr val="E76F51"/>
            </a:solidFill>
            <a:prstDash val="solid"/>
          </a:ln>
        </p:spPr>
      </p:sp>
      <p:sp>
        <p:nvSpPr>
          <p:cNvPr id="15" name="Text 13"/>
          <p:cNvSpPr/>
          <p:nvPr/>
        </p:nvSpPr>
        <p:spPr>
          <a:xfrm>
            <a:off x="6537960" y="1627632"/>
            <a:ext cx="21488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Stress dependence</a:t>
            </a:r>
            <a:endParaRPr lang="en-US" sz="2000" dirty="0"/>
          </a:p>
        </p:txBody>
      </p:sp>
      <p:sp>
        <p:nvSpPr>
          <p:cNvPr id="16" name="Text 14"/>
          <p:cNvSpPr/>
          <p:nvPr/>
        </p:nvSpPr>
        <p:spPr>
          <a:xfrm>
            <a:off x="6537960" y="2084832"/>
            <a:ext cx="2148840" cy="7132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Whether the effect survives applied load.</a:t>
            </a:r>
            <a:endParaRPr lang="en-US" sz="1500" dirty="0"/>
          </a:p>
        </p:txBody>
      </p:sp>
      <p:sp>
        <p:nvSpPr>
          <p:cNvPr id="17" name="Shape 15"/>
          <p:cNvSpPr/>
          <p:nvPr/>
        </p:nvSpPr>
        <p:spPr>
          <a:xfrm>
            <a:off x="9098280" y="1463040"/>
            <a:ext cx="2514600" cy="1463040"/>
          </a:xfrm>
          <a:prstGeom prst="rect">
            <a:avLst/>
          </a:prstGeom>
          <a:solidFill>
            <a:srgbClr val="FFFFFF"/>
          </a:solidFill>
          <a:ln w="12700">
            <a:solidFill>
              <a:srgbClr val="D8DEE8"/>
            </a:solidFill>
            <a:prstDash val="solid"/>
          </a:ln>
        </p:spPr>
      </p:sp>
      <p:sp>
        <p:nvSpPr>
          <p:cNvPr id="18" name="Shape 16"/>
          <p:cNvSpPr/>
          <p:nvPr/>
        </p:nvSpPr>
        <p:spPr>
          <a:xfrm>
            <a:off x="9098280" y="1463040"/>
            <a:ext cx="64008" cy="1463040"/>
          </a:xfrm>
          <a:prstGeom prst="rect">
            <a:avLst/>
          </a:prstGeom>
          <a:solidFill>
            <a:srgbClr val="F2B544"/>
          </a:solidFill>
          <a:ln w="12700">
            <a:solidFill>
              <a:srgbClr val="F2B544"/>
            </a:solidFill>
            <a:prstDash val="solid"/>
          </a:ln>
        </p:spPr>
      </p:sp>
      <p:sp>
        <p:nvSpPr>
          <p:cNvPr id="19" name="Text 17"/>
          <p:cNvSpPr/>
          <p:nvPr/>
        </p:nvSpPr>
        <p:spPr>
          <a:xfrm>
            <a:off x="9326880" y="1627632"/>
            <a:ext cx="21488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Power and current</a:t>
            </a:r>
            <a:endParaRPr lang="en-US" sz="2000" dirty="0"/>
          </a:p>
        </p:txBody>
      </p:sp>
      <p:sp>
        <p:nvSpPr>
          <p:cNvPr id="20" name="Text 18"/>
          <p:cNvSpPr/>
          <p:nvPr/>
        </p:nvSpPr>
        <p:spPr>
          <a:xfrm>
            <a:off x="9326880" y="2084832"/>
            <a:ext cx="2148840" cy="7132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What actuation costs electrically.</a:t>
            </a:r>
            <a:endParaRPr lang="en-US" sz="1500" dirty="0"/>
          </a:p>
        </p:txBody>
      </p:sp>
      <p:sp>
        <p:nvSpPr>
          <p:cNvPr id="21" name="Text 19"/>
          <p:cNvSpPr/>
          <p:nvPr/>
        </p:nvSpPr>
        <p:spPr>
          <a:xfrm>
            <a:off x="1234440" y="4572000"/>
            <a:ext cx="9784080" cy="502920"/>
          </a:xfrm>
          <a:prstGeom prst="rect">
            <a:avLst/>
          </a:prstGeom>
          <a:noFill/>
          <a:ln/>
        </p:spPr>
        <p:txBody>
          <a:bodyPr wrap="square" lIns="635" tIns="635" rIns="635" bIns="635" rtlCol="0" anchor="ctr">
            <a:normAutofit/>
          </a:bodyPr>
          <a:lstStyle/>
          <a:p>
            <a:pPr algn="ctr" indent="0" marL="0">
              <a:buNone/>
            </a:pPr>
            <a:r>
              <a:rPr lang="en-US" sz="2800" b="1" dirty="0">
                <a:solidFill>
                  <a:srgbClr val="172033"/>
                </a:solidFill>
                <a:latin typeface="Helvetica" pitchFamily="34" charset="0"/>
                <a:ea typeface="Helvetica" pitchFamily="34" charset="-122"/>
                <a:cs typeface="Helvetica" pitchFamily="34" charset="-120"/>
              </a:rPr>
              <a:t>These values decide which samples continue to commercial DMA.</a:t>
            </a:r>
            <a:endParaRPr lang="en-US" sz="2800" dirty="0"/>
          </a:p>
        </p:txBody>
      </p:sp>
      <p:sp>
        <p:nvSpPr>
          <p:cNvPr id="23" name="Text 20"/>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4/14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Commercial DMA is too slow for screening</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It remains the validation tool, but not the first-pass tool</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Shape 3"/>
          <p:cNvSpPr/>
          <p:nvPr/>
        </p:nvSpPr>
        <p:spPr>
          <a:xfrm>
            <a:off x="822960" y="1508760"/>
            <a:ext cx="3246120" cy="1920240"/>
          </a:xfrm>
          <a:prstGeom prst="rect">
            <a:avLst/>
          </a:prstGeom>
          <a:solidFill>
            <a:srgbClr val="FFFFFF"/>
          </a:solidFill>
          <a:ln w="12700">
            <a:solidFill>
              <a:srgbClr val="D8DEE8"/>
            </a:solidFill>
            <a:prstDash val="solid"/>
          </a:ln>
        </p:spPr>
      </p:sp>
      <p:sp>
        <p:nvSpPr>
          <p:cNvPr id="6" name="Shape 4"/>
          <p:cNvSpPr/>
          <p:nvPr/>
        </p:nvSpPr>
        <p:spPr>
          <a:xfrm>
            <a:off x="822960" y="1508760"/>
            <a:ext cx="64008" cy="1920240"/>
          </a:xfrm>
          <a:prstGeom prst="rect">
            <a:avLst/>
          </a:prstGeom>
          <a:solidFill>
            <a:srgbClr val="1F77B4"/>
          </a:solidFill>
          <a:ln w="12700">
            <a:solidFill>
              <a:srgbClr val="1F77B4"/>
            </a:solidFill>
            <a:prstDash val="solid"/>
          </a:ln>
        </p:spPr>
      </p:sp>
      <p:sp>
        <p:nvSpPr>
          <p:cNvPr id="7" name="Text 5"/>
          <p:cNvSpPr/>
          <p:nvPr/>
        </p:nvSpPr>
        <p:spPr>
          <a:xfrm>
            <a:off x="1051560" y="167335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Precise</a:t>
            </a:r>
            <a:endParaRPr lang="en-US" sz="2000" dirty="0"/>
          </a:p>
        </p:txBody>
      </p:sp>
      <p:sp>
        <p:nvSpPr>
          <p:cNvPr id="8" name="Text 6"/>
          <p:cNvSpPr/>
          <p:nvPr/>
        </p:nvSpPr>
        <p:spPr>
          <a:xfrm>
            <a:off x="1051560" y="2130552"/>
            <a:ext cx="288036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Validated strain and temperature values.</a:t>
            </a:r>
            <a:endParaRPr lang="en-US" sz="1500" dirty="0"/>
          </a:p>
        </p:txBody>
      </p:sp>
      <p:sp>
        <p:nvSpPr>
          <p:cNvPr id="9" name="Shape 7"/>
          <p:cNvSpPr/>
          <p:nvPr/>
        </p:nvSpPr>
        <p:spPr>
          <a:xfrm>
            <a:off x="4480560" y="1508760"/>
            <a:ext cx="3246120" cy="1920240"/>
          </a:xfrm>
          <a:prstGeom prst="rect">
            <a:avLst/>
          </a:prstGeom>
          <a:solidFill>
            <a:srgbClr val="FFFFFF"/>
          </a:solidFill>
          <a:ln w="12700">
            <a:solidFill>
              <a:srgbClr val="D8DEE8"/>
            </a:solidFill>
            <a:prstDash val="solid"/>
          </a:ln>
        </p:spPr>
      </p:sp>
      <p:sp>
        <p:nvSpPr>
          <p:cNvPr id="10" name="Shape 8"/>
          <p:cNvSpPr/>
          <p:nvPr/>
        </p:nvSpPr>
        <p:spPr>
          <a:xfrm>
            <a:off x="4480560" y="1508760"/>
            <a:ext cx="64008" cy="1920240"/>
          </a:xfrm>
          <a:prstGeom prst="rect">
            <a:avLst/>
          </a:prstGeom>
          <a:solidFill>
            <a:srgbClr val="E76F51"/>
          </a:solidFill>
          <a:ln w="12700">
            <a:solidFill>
              <a:srgbClr val="E76F51"/>
            </a:solidFill>
            <a:prstDash val="solid"/>
          </a:ln>
        </p:spPr>
      </p:sp>
      <p:sp>
        <p:nvSpPr>
          <p:cNvPr id="11" name="Text 9"/>
          <p:cNvSpPr/>
          <p:nvPr/>
        </p:nvSpPr>
        <p:spPr>
          <a:xfrm>
            <a:off x="4709160" y="167335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Slow</a:t>
            </a:r>
            <a:endParaRPr lang="en-US" sz="2000" dirty="0"/>
          </a:p>
        </p:txBody>
      </p:sp>
      <p:sp>
        <p:nvSpPr>
          <p:cNvPr id="12" name="Text 10"/>
          <p:cNvSpPr/>
          <p:nvPr/>
        </p:nvSpPr>
        <p:spPr>
          <a:xfrm>
            <a:off x="4709160" y="2130552"/>
            <a:ext cx="288036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Long runs, setup time, and liquid nitrogen.</a:t>
            </a:r>
            <a:endParaRPr lang="en-US" sz="1500" dirty="0"/>
          </a:p>
        </p:txBody>
      </p:sp>
      <p:sp>
        <p:nvSpPr>
          <p:cNvPr id="13" name="Shape 11"/>
          <p:cNvSpPr/>
          <p:nvPr/>
        </p:nvSpPr>
        <p:spPr>
          <a:xfrm>
            <a:off x="8138160" y="1508760"/>
            <a:ext cx="3246120" cy="1920240"/>
          </a:xfrm>
          <a:prstGeom prst="rect">
            <a:avLst/>
          </a:prstGeom>
          <a:solidFill>
            <a:srgbClr val="FFFFFF"/>
          </a:solidFill>
          <a:ln w="12700">
            <a:solidFill>
              <a:srgbClr val="D8DEE8"/>
            </a:solidFill>
            <a:prstDash val="solid"/>
          </a:ln>
        </p:spPr>
      </p:sp>
      <p:sp>
        <p:nvSpPr>
          <p:cNvPr id="14" name="Shape 12"/>
          <p:cNvSpPr/>
          <p:nvPr/>
        </p:nvSpPr>
        <p:spPr>
          <a:xfrm>
            <a:off x="8138160" y="1508760"/>
            <a:ext cx="64008" cy="1920240"/>
          </a:xfrm>
          <a:prstGeom prst="rect">
            <a:avLst/>
          </a:prstGeom>
          <a:solidFill>
            <a:srgbClr val="C0392B"/>
          </a:solidFill>
          <a:ln w="12700">
            <a:solidFill>
              <a:srgbClr val="C0392B"/>
            </a:solidFill>
            <a:prstDash val="solid"/>
          </a:ln>
        </p:spPr>
      </p:sp>
      <p:sp>
        <p:nvSpPr>
          <p:cNvPr id="15" name="Text 13"/>
          <p:cNvSpPr/>
          <p:nvPr/>
        </p:nvSpPr>
        <p:spPr>
          <a:xfrm>
            <a:off x="8366760" y="1673352"/>
            <a:ext cx="288036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Limited access</a:t>
            </a:r>
            <a:endParaRPr lang="en-US" sz="2000" dirty="0"/>
          </a:p>
        </p:txBody>
      </p:sp>
      <p:sp>
        <p:nvSpPr>
          <p:cNvPr id="16" name="Text 14"/>
          <p:cNvSpPr/>
          <p:nvPr/>
        </p:nvSpPr>
        <p:spPr>
          <a:xfrm>
            <a:off x="8366760" y="2130552"/>
            <a:ext cx="288036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Not practical for every preparation branch.</a:t>
            </a:r>
            <a:endParaRPr lang="en-US" sz="1500" dirty="0"/>
          </a:p>
        </p:txBody>
      </p:sp>
      <p:sp>
        <p:nvSpPr>
          <p:cNvPr id="17" name="Text 15"/>
          <p:cNvSpPr/>
          <p:nvPr/>
        </p:nvSpPr>
        <p:spPr>
          <a:xfrm>
            <a:off x="1417320" y="4892040"/>
            <a:ext cx="2743200" cy="292608"/>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Good validation method</a:t>
            </a:r>
            <a:endParaRPr lang="en-US" sz="1800" dirty="0"/>
          </a:p>
        </p:txBody>
      </p:sp>
      <p:sp>
        <p:nvSpPr>
          <p:cNvPr id="18" name="Shape 16"/>
          <p:cNvSpPr/>
          <p:nvPr/>
        </p:nvSpPr>
        <p:spPr>
          <a:xfrm>
            <a:off x="4251960" y="5029200"/>
            <a:ext cx="3794760" cy="0"/>
          </a:xfrm>
          <a:prstGeom prst="line">
            <a:avLst/>
          </a:prstGeom>
          <a:noFill/>
          <a:ln w="25400">
            <a:solidFill>
              <a:srgbClr val="5B677A"/>
            </a:solidFill>
            <a:prstDash val="solid"/>
            <a:headEnd type="none"/>
            <a:tailEnd type="triangle"/>
          </a:ln>
        </p:spPr>
      </p:sp>
      <p:sp>
        <p:nvSpPr>
          <p:cNvPr id="19" name="Text 17"/>
          <p:cNvSpPr/>
          <p:nvPr/>
        </p:nvSpPr>
        <p:spPr>
          <a:xfrm>
            <a:off x="8183880" y="4892040"/>
            <a:ext cx="3017520" cy="292608"/>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bad screening bottleneck</a:t>
            </a:r>
            <a:endParaRPr lang="en-US" sz="1800" dirty="0"/>
          </a:p>
        </p:txBody>
      </p:sp>
      <p:sp>
        <p:nvSpPr>
          <p:cNvPr id="21" name="Text 18"/>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5/14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Use Mini DMA before commercial DMA</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setup is a bridge between rough screening and slow validation</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Shape 3"/>
          <p:cNvSpPr/>
          <p:nvPr/>
        </p:nvSpPr>
        <p:spPr>
          <a:xfrm>
            <a:off x="731520" y="1828800"/>
            <a:ext cx="2880360" cy="1920240"/>
          </a:xfrm>
          <a:prstGeom prst="rect">
            <a:avLst/>
          </a:prstGeom>
          <a:solidFill>
            <a:srgbClr val="FFFFFF"/>
          </a:solidFill>
          <a:ln w="12700">
            <a:solidFill>
              <a:srgbClr val="D8DEE8"/>
            </a:solidFill>
            <a:prstDash val="solid"/>
          </a:ln>
        </p:spPr>
      </p:sp>
      <p:sp>
        <p:nvSpPr>
          <p:cNvPr id="6" name="Shape 4"/>
          <p:cNvSpPr/>
          <p:nvPr/>
        </p:nvSpPr>
        <p:spPr>
          <a:xfrm>
            <a:off x="731520" y="1828800"/>
            <a:ext cx="64008" cy="1920240"/>
          </a:xfrm>
          <a:prstGeom prst="rect">
            <a:avLst/>
          </a:prstGeom>
          <a:solidFill>
            <a:srgbClr val="2A9D8F"/>
          </a:solidFill>
          <a:ln w="12700">
            <a:solidFill>
              <a:srgbClr val="2A9D8F"/>
            </a:solidFill>
            <a:prstDash val="solid"/>
          </a:ln>
        </p:spPr>
      </p:sp>
      <p:sp>
        <p:nvSpPr>
          <p:cNvPr id="7" name="Text 5"/>
          <p:cNvSpPr/>
          <p:nvPr/>
        </p:nvSpPr>
        <p:spPr>
          <a:xfrm>
            <a:off x="960120" y="1993392"/>
            <a:ext cx="25146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Fast screening</a:t>
            </a:r>
            <a:endParaRPr lang="en-US" sz="2000" dirty="0"/>
          </a:p>
        </p:txBody>
      </p:sp>
      <p:sp>
        <p:nvSpPr>
          <p:cNvPr id="8" name="Text 6"/>
          <p:cNvSpPr/>
          <p:nvPr/>
        </p:nvSpPr>
        <p:spPr>
          <a:xfrm>
            <a:off x="960120" y="2450592"/>
            <a:ext cx="251460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many wires, quick electrical and mechanical checks</a:t>
            </a:r>
            <a:endParaRPr lang="en-US" sz="1500" dirty="0"/>
          </a:p>
        </p:txBody>
      </p:sp>
      <p:sp>
        <p:nvSpPr>
          <p:cNvPr id="9" name="Shape 7"/>
          <p:cNvSpPr/>
          <p:nvPr/>
        </p:nvSpPr>
        <p:spPr>
          <a:xfrm>
            <a:off x="3703320" y="2788920"/>
            <a:ext cx="320040" cy="0"/>
          </a:xfrm>
          <a:prstGeom prst="line">
            <a:avLst/>
          </a:prstGeom>
          <a:noFill/>
          <a:ln w="27940">
            <a:solidFill>
              <a:srgbClr val="5B677A"/>
            </a:solidFill>
            <a:prstDash val="solid"/>
            <a:headEnd type="none"/>
            <a:tailEnd type="triangle"/>
          </a:ln>
        </p:spPr>
      </p:sp>
      <p:sp>
        <p:nvSpPr>
          <p:cNvPr id="10" name="Shape 8"/>
          <p:cNvSpPr/>
          <p:nvPr/>
        </p:nvSpPr>
        <p:spPr>
          <a:xfrm>
            <a:off x="4251960" y="1828800"/>
            <a:ext cx="2880360" cy="1920240"/>
          </a:xfrm>
          <a:prstGeom prst="rect">
            <a:avLst/>
          </a:prstGeom>
          <a:solidFill>
            <a:srgbClr val="FFFFFF"/>
          </a:solidFill>
          <a:ln w="12700">
            <a:solidFill>
              <a:srgbClr val="D8DEE8"/>
            </a:solidFill>
            <a:prstDash val="solid"/>
          </a:ln>
        </p:spPr>
      </p:sp>
      <p:sp>
        <p:nvSpPr>
          <p:cNvPr id="11" name="Shape 9"/>
          <p:cNvSpPr/>
          <p:nvPr/>
        </p:nvSpPr>
        <p:spPr>
          <a:xfrm>
            <a:off x="4251960" y="1828800"/>
            <a:ext cx="64008" cy="1920240"/>
          </a:xfrm>
          <a:prstGeom prst="rect">
            <a:avLst/>
          </a:prstGeom>
          <a:solidFill>
            <a:srgbClr val="E76F51"/>
          </a:solidFill>
          <a:ln w="12700">
            <a:solidFill>
              <a:srgbClr val="E76F51"/>
            </a:solidFill>
            <a:prstDash val="solid"/>
          </a:ln>
        </p:spPr>
      </p:sp>
      <p:sp>
        <p:nvSpPr>
          <p:cNvPr id="12" name="Text 10"/>
          <p:cNvSpPr/>
          <p:nvPr/>
        </p:nvSpPr>
        <p:spPr>
          <a:xfrm>
            <a:off x="4480560" y="1993392"/>
            <a:ext cx="25146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Mini DMA</a:t>
            </a:r>
            <a:endParaRPr lang="en-US" sz="2000" dirty="0"/>
          </a:p>
        </p:txBody>
      </p:sp>
      <p:sp>
        <p:nvSpPr>
          <p:cNvPr id="13" name="Text 11"/>
          <p:cNvSpPr/>
          <p:nvPr/>
        </p:nvSpPr>
        <p:spPr>
          <a:xfrm>
            <a:off x="4480560" y="2450592"/>
            <a:ext cx="251460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controlled stress-current sweeps on promising samples</a:t>
            </a:r>
            <a:endParaRPr lang="en-US" sz="1500" dirty="0"/>
          </a:p>
        </p:txBody>
      </p:sp>
      <p:sp>
        <p:nvSpPr>
          <p:cNvPr id="14" name="Shape 12"/>
          <p:cNvSpPr/>
          <p:nvPr/>
        </p:nvSpPr>
        <p:spPr>
          <a:xfrm>
            <a:off x="7223760" y="2788920"/>
            <a:ext cx="320040" cy="0"/>
          </a:xfrm>
          <a:prstGeom prst="line">
            <a:avLst/>
          </a:prstGeom>
          <a:noFill/>
          <a:ln w="27940">
            <a:solidFill>
              <a:srgbClr val="5B677A"/>
            </a:solidFill>
            <a:prstDash val="solid"/>
            <a:headEnd type="none"/>
            <a:tailEnd type="triangle"/>
          </a:ln>
        </p:spPr>
      </p:sp>
      <p:sp>
        <p:nvSpPr>
          <p:cNvPr id="15" name="Shape 13"/>
          <p:cNvSpPr/>
          <p:nvPr/>
        </p:nvSpPr>
        <p:spPr>
          <a:xfrm>
            <a:off x="7772400" y="1828800"/>
            <a:ext cx="2880360" cy="1920240"/>
          </a:xfrm>
          <a:prstGeom prst="rect">
            <a:avLst/>
          </a:prstGeom>
          <a:solidFill>
            <a:srgbClr val="FFFFFF"/>
          </a:solidFill>
          <a:ln w="12700">
            <a:solidFill>
              <a:srgbClr val="D8DEE8"/>
            </a:solidFill>
            <a:prstDash val="solid"/>
          </a:ln>
        </p:spPr>
      </p:sp>
      <p:sp>
        <p:nvSpPr>
          <p:cNvPr id="16" name="Shape 14"/>
          <p:cNvSpPr/>
          <p:nvPr/>
        </p:nvSpPr>
        <p:spPr>
          <a:xfrm>
            <a:off x="7772400" y="1828800"/>
            <a:ext cx="64008" cy="1920240"/>
          </a:xfrm>
          <a:prstGeom prst="rect">
            <a:avLst/>
          </a:prstGeom>
          <a:solidFill>
            <a:srgbClr val="1F77B4"/>
          </a:solidFill>
          <a:ln w="12700">
            <a:solidFill>
              <a:srgbClr val="1F77B4"/>
            </a:solidFill>
            <a:prstDash val="solid"/>
          </a:ln>
        </p:spPr>
      </p:sp>
      <p:sp>
        <p:nvSpPr>
          <p:cNvPr id="17" name="Text 15"/>
          <p:cNvSpPr/>
          <p:nvPr/>
        </p:nvSpPr>
        <p:spPr>
          <a:xfrm>
            <a:off x="8001000" y="1993392"/>
            <a:ext cx="25146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Commercial DMA</a:t>
            </a:r>
            <a:endParaRPr lang="en-US" sz="2000" dirty="0"/>
          </a:p>
        </p:txBody>
      </p:sp>
      <p:sp>
        <p:nvSpPr>
          <p:cNvPr id="18" name="Text 16"/>
          <p:cNvSpPr/>
          <p:nvPr/>
        </p:nvSpPr>
        <p:spPr>
          <a:xfrm>
            <a:off x="8001000" y="2450592"/>
            <a:ext cx="2514600" cy="11704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precise validation where it matters</a:t>
            </a:r>
            <a:endParaRPr lang="en-US" sz="1500" dirty="0"/>
          </a:p>
        </p:txBody>
      </p:sp>
      <p:sp>
        <p:nvSpPr>
          <p:cNvPr id="19" name="Text 17"/>
          <p:cNvSpPr/>
          <p:nvPr/>
        </p:nvSpPr>
        <p:spPr>
          <a:xfrm>
            <a:off x="1051560" y="5074920"/>
            <a:ext cx="10058400" cy="548640"/>
          </a:xfrm>
          <a:prstGeom prst="rect">
            <a:avLst/>
          </a:prstGeom>
          <a:noFill/>
          <a:ln/>
        </p:spPr>
        <p:txBody>
          <a:bodyPr wrap="square" lIns="635" tIns="635" rIns="635" bIns="635" rtlCol="0" anchor="ctr">
            <a:normAutofit/>
          </a:bodyPr>
          <a:lstStyle/>
          <a:p>
            <a:pPr algn="ctr" indent="0" marL="0">
              <a:buNone/>
            </a:pPr>
            <a:r>
              <a:rPr lang="en-US" sz="2500" b="1" dirty="0">
                <a:solidFill>
                  <a:srgbClr val="172033"/>
                </a:solidFill>
                <a:latin typeface="Helvetica" pitchFamily="34" charset="0"/>
                <a:ea typeface="Helvetica" pitchFamily="34" charset="-122"/>
                <a:cs typeface="Helvetica" pitchFamily="34" charset="-120"/>
              </a:rPr>
              <a:t>Mini DMA does not replace the slow method. It helps choose when the slow method is worth using.</a:t>
            </a:r>
            <a:endParaRPr lang="en-US" sz="2500" dirty="0"/>
          </a:p>
        </p:txBody>
      </p:sp>
      <p:sp>
        <p:nvSpPr>
          <p:cNvPr id="21" name="Text 18"/>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6/14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Mini DMA hardware</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Motion, load feedback, electrical heating, and software control</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assets/ppt/media/image3.png">    </p:cNvPr>
          <p:cNvPicPr>
            <a:picLocks noChangeAspect="1"/>
          </p:cNvPicPr>
          <p:nvPr/>
        </p:nvPicPr>
        <p:blipFill>
          <a:blip r:embed="rId1"/>
          <a:stretch>
            <a:fillRect/>
          </a:stretch>
        </p:blipFill>
        <p:spPr>
          <a:xfrm>
            <a:off x="594360" y="1325880"/>
            <a:ext cx="4709160" cy="3703320"/>
          </a:xfrm>
          <a:prstGeom prst="rect">
            <a:avLst/>
          </a:prstGeom>
        </p:spPr>
      </p:pic>
      <p:sp>
        <p:nvSpPr>
          <p:cNvPr id="6" name="Shape 3"/>
          <p:cNvSpPr/>
          <p:nvPr/>
        </p:nvSpPr>
        <p:spPr>
          <a:xfrm>
            <a:off x="5577840" y="1325880"/>
            <a:ext cx="2651760" cy="1051560"/>
          </a:xfrm>
          <a:prstGeom prst="rect">
            <a:avLst/>
          </a:prstGeom>
          <a:solidFill>
            <a:srgbClr val="FFFFFF"/>
          </a:solidFill>
          <a:ln w="12700">
            <a:solidFill>
              <a:srgbClr val="D8DEE8"/>
            </a:solidFill>
            <a:prstDash val="solid"/>
          </a:ln>
        </p:spPr>
      </p:sp>
      <p:sp>
        <p:nvSpPr>
          <p:cNvPr id="7" name="Shape 4"/>
          <p:cNvSpPr/>
          <p:nvPr/>
        </p:nvSpPr>
        <p:spPr>
          <a:xfrm>
            <a:off x="5577840" y="1325880"/>
            <a:ext cx="64008" cy="1051560"/>
          </a:xfrm>
          <a:prstGeom prst="rect">
            <a:avLst/>
          </a:prstGeom>
          <a:solidFill>
            <a:srgbClr val="1F77B4"/>
          </a:solidFill>
          <a:ln w="12700">
            <a:solidFill>
              <a:srgbClr val="1F77B4"/>
            </a:solidFill>
            <a:prstDash val="solid"/>
          </a:ln>
        </p:spPr>
      </p:sp>
      <p:sp>
        <p:nvSpPr>
          <p:cNvPr id="8" name="Text 5"/>
          <p:cNvSpPr/>
          <p:nvPr/>
        </p:nvSpPr>
        <p:spPr>
          <a:xfrm>
            <a:off x="5806440" y="1490472"/>
            <a:ext cx="22860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Linear stepper</a:t>
            </a:r>
            <a:endParaRPr lang="en-US" sz="2000" dirty="0"/>
          </a:p>
        </p:txBody>
      </p:sp>
      <p:sp>
        <p:nvSpPr>
          <p:cNvPr id="9" name="Text 6"/>
          <p:cNvSpPr/>
          <p:nvPr/>
        </p:nvSpPr>
        <p:spPr>
          <a:xfrm>
            <a:off x="5806440" y="1947672"/>
            <a:ext cx="22860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10 um full-step travel</a:t>
            </a:r>
            <a:endParaRPr lang="en-US" sz="1500" dirty="0"/>
          </a:p>
        </p:txBody>
      </p:sp>
      <p:sp>
        <p:nvSpPr>
          <p:cNvPr id="10" name="Shape 7"/>
          <p:cNvSpPr/>
          <p:nvPr/>
        </p:nvSpPr>
        <p:spPr>
          <a:xfrm>
            <a:off x="8549640" y="1325880"/>
            <a:ext cx="2651760" cy="1051560"/>
          </a:xfrm>
          <a:prstGeom prst="rect">
            <a:avLst/>
          </a:prstGeom>
          <a:solidFill>
            <a:srgbClr val="FFFFFF"/>
          </a:solidFill>
          <a:ln w="12700">
            <a:solidFill>
              <a:srgbClr val="D8DEE8"/>
            </a:solidFill>
            <a:prstDash val="solid"/>
          </a:ln>
        </p:spPr>
      </p:sp>
      <p:sp>
        <p:nvSpPr>
          <p:cNvPr id="11" name="Shape 8"/>
          <p:cNvSpPr/>
          <p:nvPr/>
        </p:nvSpPr>
        <p:spPr>
          <a:xfrm>
            <a:off x="8549640" y="1325880"/>
            <a:ext cx="64008" cy="1051560"/>
          </a:xfrm>
          <a:prstGeom prst="rect">
            <a:avLst/>
          </a:prstGeom>
          <a:solidFill>
            <a:srgbClr val="2A9D8F"/>
          </a:solidFill>
          <a:ln w="12700">
            <a:solidFill>
              <a:srgbClr val="2A9D8F"/>
            </a:solidFill>
            <a:prstDash val="solid"/>
          </a:ln>
        </p:spPr>
      </p:sp>
      <p:sp>
        <p:nvSpPr>
          <p:cNvPr id="12" name="Text 9"/>
          <p:cNvSpPr/>
          <p:nvPr/>
        </p:nvSpPr>
        <p:spPr>
          <a:xfrm>
            <a:off x="8778240" y="1490472"/>
            <a:ext cx="22860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Balance</a:t>
            </a:r>
            <a:endParaRPr lang="en-US" sz="2000" dirty="0"/>
          </a:p>
        </p:txBody>
      </p:sp>
      <p:sp>
        <p:nvSpPr>
          <p:cNvPr id="13" name="Text 10"/>
          <p:cNvSpPr/>
          <p:nvPr/>
        </p:nvSpPr>
        <p:spPr>
          <a:xfrm>
            <a:off x="8778240" y="1947672"/>
            <a:ext cx="22860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0.005 g readability; about 200 ms feedback</a:t>
            </a:r>
            <a:endParaRPr lang="en-US" sz="1500" dirty="0"/>
          </a:p>
        </p:txBody>
      </p:sp>
      <p:sp>
        <p:nvSpPr>
          <p:cNvPr id="14" name="Shape 11"/>
          <p:cNvSpPr/>
          <p:nvPr/>
        </p:nvSpPr>
        <p:spPr>
          <a:xfrm>
            <a:off x="5577840" y="2743200"/>
            <a:ext cx="2651760" cy="1051560"/>
          </a:xfrm>
          <a:prstGeom prst="rect">
            <a:avLst/>
          </a:prstGeom>
          <a:solidFill>
            <a:srgbClr val="FFFFFF"/>
          </a:solidFill>
          <a:ln w="12700">
            <a:solidFill>
              <a:srgbClr val="D8DEE8"/>
            </a:solidFill>
            <a:prstDash val="solid"/>
          </a:ln>
        </p:spPr>
      </p:sp>
      <p:sp>
        <p:nvSpPr>
          <p:cNvPr id="15" name="Shape 12"/>
          <p:cNvSpPr/>
          <p:nvPr/>
        </p:nvSpPr>
        <p:spPr>
          <a:xfrm>
            <a:off x="5577840" y="2743200"/>
            <a:ext cx="64008" cy="1051560"/>
          </a:xfrm>
          <a:prstGeom prst="rect">
            <a:avLst/>
          </a:prstGeom>
          <a:solidFill>
            <a:srgbClr val="E76F51"/>
          </a:solidFill>
          <a:ln w="12700">
            <a:solidFill>
              <a:srgbClr val="E76F51"/>
            </a:solidFill>
            <a:prstDash val="solid"/>
          </a:ln>
        </p:spPr>
      </p:sp>
      <p:sp>
        <p:nvSpPr>
          <p:cNvPr id="16" name="Text 13"/>
          <p:cNvSpPr/>
          <p:nvPr/>
        </p:nvSpPr>
        <p:spPr>
          <a:xfrm>
            <a:off x="5806440" y="2907792"/>
            <a:ext cx="22860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Power supply</a:t>
            </a:r>
            <a:endParaRPr lang="en-US" sz="2000" dirty="0"/>
          </a:p>
        </p:txBody>
      </p:sp>
      <p:sp>
        <p:nvSpPr>
          <p:cNvPr id="17" name="Text 14"/>
          <p:cNvSpPr/>
          <p:nvPr/>
        </p:nvSpPr>
        <p:spPr>
          <a:xfrm>
            <a:off x="5806440" y="3364992"/>
            <a:ext cx="22860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current heating and electrical readback</a:t>
            </a:r>
            <a:endParaRPr lang="en-US" sz="1500" dirty="0"/>
          </a:p>
        </p:txBody>
      </p:sp>
      <p:sp>
        <p:nvSpPr>
          <p:cNvPr id="18" name="Shape 15"/>
          <p:cNvSpPr/>
          <p:nvPr/>
        </p:nvSpPr>
        <p:spPr>
          <a:xfrm>
            <a:off x="8549640" y="2743200"/>
            <a:ext cx="2651760" cy="1051560"/>
          </a:xfrm>
          <a:prstGeom prst="rect">
            <a:avLst/>
          </a:prstGeom>
          <a:solidFill>
            <a:srgbClr val="FFFFFF"/>
          </a:solidFill>
          <a:ln w="12700">
            <a:solidFill>
              <a:srgbClr val="D8DEE8"/>
            </a:solidFill>
            <a:prstDash val="solid"/>
          </a:ln>
        </p:spPr>
      </p:sp>
      <p:sp>
        <p:nvSpPr>
          <p:cNvPr id="19" name="Shape 16"/>
          <p:cNvSpPr/>
          <p:nvPr/>
        </p:nvSpPr>
        <p:spPr>
          <a:xfrm>
            <a:off x="8549640" y="2743200"/>
            <a:ext cx="64008" cy="1051560"/>
          </a:xfrm>
          <a:prstGeom prst="rect">
            <a:avLst/>
          </a:prstGeom>
          <a:solidFill>
            <a:srgbClr val="F2B544"/>
          </a:solidFill>
          <a:ln w="12700">
            <a:solidFill>
              <a:srgbClr val="F2B544"/>
            </a:solidFill>
            <a:prstDash val="solid"/>
          </a:ln>
        </p:spPr>
      </p:sp>
      <p:sp>
        <p:nvSpPr>
          <p:cNvPr id="20" name="Text 17"/>
          <p:cNvSpPr/>
          <p:nvPr/>
        </p:nvSpPr>
        <p:spPr>
          <a:xfrm>
            <a:off x="8778240" y="2907792"/>
            <a:ext cx="22860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Software</a:t>
            </a:r>
            <a:endParaRPr lang="en-US" sz="2000" dirty="0"/>
          </a:p>
        </p:txBody>
      </p:sp>
      <p:sp>
        <p:nvSpPr>
          <p:cNvPr id="21" name="Text 18"/>
          <p:cNvSpPr/>
          <p:nvPr/>
        </p:nvSpPr>
        <p:spPr>
          <a:xfrm>
            <a:off x="8778240" y="3364992"/>
            <a:ext cx="22860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recipes, control loop, synchronized logs</a:t>
            </a:r>
            <a:endParaRPr lang="en-US" sz="1500" dirty="0"/>
          </a:p>
        </p:txBody>
      </p:sp>
      <p:sp>
        <p:nvSpPr>
          <p:cNvPr id="22" name="Text 19"/>
          <p:cNvSpPr/>
          <p:nvPr/>
        </p:nvSpPr>
        <p:spPr>
          <a:xfrm>
            <a:off x="5577840" y="4800600"/>
            <a:ext cx="2651760" cy="320040"/>
          </a:xfrm>
          <a:prstGeom prst="rect">
            <a:avLst/>
          </a:prstGeom>
          <a:noFill/>
          <a:ln/>
        </p:spPr>
        <p:txBody>
          <a:bodyPr wrap="square" lIns="635" tIns="635" rIns="635" bIns="635" rtlCol="0" anchor="ctr">
            <a:normAutofit/>
          </a:bodyPr>
          <a:lstStyle/>
          <a:p>
            <a:pPr algn="l" indent="0" marL="0">
              <a:buNone/>
            </a:pPr>
            <a:r>
              <a:rPr lang="en-US" sz="1800" b="1" dirty="0">
                <a:solidFill>
                  <a:srgbClr val="172033"/>
                </a:solidFill>
                <a:latin typeface="Helvetica" pitchFamily="34" charset="0"/>
                <a:ea typeface="Helvetica" pitchFamily="34" charset="-122"/>
                <a:cs typeface="Helvetica" pitchFamily="34" charset="-120"/>
              </a:rPr>
              <a:t>20 g reference weight</a:t>
            </a:r>
            <a:endParaRPr lang="en-US" sz="1800" dirty="0"/>
          </a:p>
        </p:txBody>
      </p:sp>
      <p:sp>
        <p:nvSpPr>
          <p:cNvPr id="23" name="Text 20"/>
          <p:cNvSpPr/>
          <p:nvPr/>
        </p:nvSpPr>
        <p:spPr>
          <a:xfrm>
            <a:off x="5577840" y="5184648"/>
            <a:ext cx="5303520" cy="457200"/>
          </a:xfrm>
          <a:prstGeom prst="rect">
            <a:avLst/>
          </a:prstGeom>
          <a:noFill/>
          <a:ln/>
        </p:spPr>
        <p:txBody>
          <a:bodyPr wrap="square" lIns="635" tIns="635" rIns="635" bIns="635" rtlCol="0" anchor="ctr">
            <a:normAutofit/>
          </a:bodyPr>
          <a:lstStyle/>
          <a:p>
            <a:pPr algn="l" indent="0" marL="0">
              <a:buNone/>
            </a:pPr>
            <a:r>
              <a:rPr lang="en-US" sz="1600" dirty="0">
                <a:solidFill>
                  <a:srgbClr val="5B677A"/>
                </a:solidFill>
                <a:latin typeface="Helvetica" pitchFamily="34" charset="0"/>
                <a:ea typeface="Helvetica" pitchFamily="34" charset="-122"/>
                <a:cs typeface="Helvetica" pitchFamily="34" charset="-120"/>
              </a:rPr>
              <a:t>The wire pulls upward; the decrease in scale reading is the tensile load.</a:t>
            </a:r>
            <a:endParaRPr lang="en-US" sz="1600" dirty="0"/>
          </a:p>
        </p:txBody>
      </p:sp>
      <p:sp>
        <p:nvSpPr>
          <p:cNvPr id="25" name="Text 21"/>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7/14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How an iso-stress sweep works</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motor compensates while current heats the wire</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generated/mini_dma_ui_crop.png">    </p:cNvPr>
          <p:cNvPicPr>
            <a:picLocks noChangeAspect="1"/>
          </p:cNvPicPr>
          <p:nvPr/>
        </p:nvPicPr>
        <p:blipFill>
          <a:blip r:embed="rId1"/>
          <a:stretch>
            <a:fillRect/>
          </a:stretch>
        </p:blipFill>
        <p:spPr>
          <a:xfrm>
            <a:off x="594360" y="1261872"/>
            <a:ext cx="5806440" cy="3886200"/>
          </a:xfrm>
          <a:prstGeom prst="rect">
            <a:avLst/>
          </a:prstGeom>
        </p:spPr>
      </p:pic>
      <p:sp>
        <p:nvSpPr>
          <p:cNvPr id="6" name="Shape 3"/>
          <p:cNvSpPr/>
          <p:nvPr/>
        </p:nvSpPr>
        <p:spPr>
          <a:xfrm>
            <a:off x="6903720" y="1417320"/>
            <a:ext cx="384048" cy="384048"/>
          </a:xfrm>
          <a:prstGeom prst="ellipse">
            <a:avLst/>
          </a:prstGeom>
          <a:solidFill>
            <a:srgbClr val="1F77B4"/>
          </a:solidFill>
          <a:ln w="12700">
            <a:solidFill>
              <a:srgbClr val="1F77B4"/>
            </a:solidFill>
            <a:prstDash val="solid"/>
          </a:ln>
        </p:spPr>
      </p:sp>
      <p:sp>
        <p:nvSpPr>
          <p:cNvPr id="7" name="Text 4"/>
          <p:cNvSpPr/>
          <p:nvPr/>
        </p:nvSpPr>
        <p:spPr>
          <a:xfrm>
            <a:off x="7013448" y="1508760"/>
            <a:ext cx="164592" cy="128016"/>
          </a:xfrm>
          <a:prstGeom prst="rect">
            <a:avLst/>
          </a:prstGeom>
          <a:noFill/>
          <a:ln/>
        </p:spPr>
        <p:txBody>
          <a:bodyPr wrap="square" lIns="635" tIns="635" rIns="635" bIns="635" rtlCol="0" anchor="ctr">
            <a:normAutofit/>
          </a:bodyPr>
          <a:lstStyle/>
          <a:p>
            <a:pPr algn="ctr" indent="0" marL="0">
              <a:buNone/>
            </a:pPr>
            <a:r>
              <a:rPr lang="en-US" sz="1100" b="1" dirty="0">
                <a:solidFill>
                  <a:srgbClr val="FFFFFF"/>
                </a:solidFill>
                <a:latin typeface="Helvetica" pitchFamily="34" charset="0"/>
                <a:ea typeface="Helvetica" pitchFamily="34" charset="-122"/>
                <a:cs typeface="Helvetica" pitchFamily="34" charset="-120"/>
              </a:rPr>
              <a:t>1</a:t>
            </a:r>
            <a:endParaRPr lang="en-US" sz="1100" dirty="0"/>
          </a:p>
        </p:txBody>
      </p:sp>
      <p:sp>
        <p:nvSpPr>
          <p:cNvPr id="8" name="Text 5"/>
          <p:cNvSpPr/>
          <p:nvPr/>
        </p:nvSpPr>
        <p:spPr>
          <a:xfrm>
            <a:off x="7452360" y="1399032"/>
            <a:ext cx="3566160" cy="438912"/>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Set target stress</a:t>
            </a:r>
            <a:endParaRPr lang="en-US" sz="2000" dirty="0"/>
          </a:p>
        </p:txBody>
      </p:sp>
      <p:sp>
        <p:nvSpPr>
          <p:cNvPr id="9" name="Shape 6"/>
          <p:cNvSpPr/>
          <p:nvPr/>
        </p:nvSpPr>
        <p:spPr>
          <a:xfrm>
            <a:off x="6903720" y="2130552"/>
            <a:ext cx="384048" cy="384048"/>
          </a:xfrm>
          <a:prstGeom prst="ellipse">
            <a:avLst/>
          </a:prstGeom>
          <a:solidFill>
            <a:srgbClr val="1F77B4"/>
          </a:solidFill>
          <a:ln w="12700">
            <a:solidFill>
              <a:srgbClr val="1F77B4"/>
            </a:solidFill>
            <a:prstDash val="solid"/>
          </a:ln>
        </p:spPr>
      </p:sp>
      <p:sp>
        <p:nvSpPr>
          <p:cNvPr id="10" name="Text 7"/>
          <p:cNvSpPr/>
          <p:nvPr/>
        </p:nvSpPr>
        <p:spPr>
          <a:xfrm>
            <a:off x="7013448" y="2221992"/>
            <a:ext cx="164592" cy="128016"/>
          </a:xfrm>
          <a:prstGeom prst="rect">
            <a:avLst/>
          </a:prstGeom>
          <a:noFill/>
          <a:ln/>
        </p:spPr>
        <p:txBody>
          <a:bodyPr wrap="square" lIns="635" tIns="635" rIns="635" bIns="635" rtlCol="0" anchor="ctr">
            <a:normAutofit/>
          </a:bodyPr>
          <a:lstStyle/>
          <a:p>
            <a:pPr algn="ctr" indent="0" marL="0">
              <a:buNone/>
            </a:pPr>
            <a:r>
              <a:rPr lang="en-US" sz="1100" b="1" dirty="0">
                <a:solidFill>
                  <a:srgbClr val="FFFFFF"/>
                </a:solidFill>
                <a:latin typeface="Helvetica" pitchFamily="34" charset="0"/>
                <a:ea typeface="Helvetica" pitchFamily="34" charset="-122"/>
                <a:cs typeface="Helvetica" pitchFamily="34" charset="-120"/>
              </a:rPr>
              <a:t>2</a:t>
            </a:r>
            <a:endParaRPr lang="en-US" sz="1100" dirty="0"/>
          </a:p>
        </p:txBody>
      </p:sp>
      <p:sp>
        <p:nvSpPr>
          <p:cNvPr id="11" name="Text 8"/>
          <p:cNvSpPr/>
          <p:nvPr/>
        </p:nvSpPr>
        <p:spPr>
          <a:xfrm>
            <a:off x="7452360" y="2112264"/>
            <a:ext cx="3566160" cy="438912"/>
          </a:xfrm>
          <a:prstGeom prst="rect">
            <a:avLst/>
          </a:prstGeom>
          <a:noFill/>
          <a:ln/>
        </p:spPr>
        <p:txBody>
          <a:bodyPr wrap="square" lIns="635" tIns="635" rIns="635" bIns="635" rtlCol="0" anchor="ctr">
            <a:normAutofit/>
          </a:bodyPr>
          <a:lstStyle/>
          <a:p>
            <a:pPr algn="l" indent="0" marL="0">
              <a:buNone/>
            </a:pPr>
            <a:r>
              <a:rPr lang="en-US" sz="2000" dirty="0">
                <a:solidFill>
                  <a:srgbClr val="172033"/>
                </a:solidFill>
                <a:latin typeface="Helvetica" pitchFamily="34" charset="0"/>
                <a:ea typeface="Helvetica" pitchFamily="34" charset="-122"/>
                <a:cs typeface="Helvetica" pitchFamily="34" charset="-120"/>
              </a:rPr>
              <a:t>Start current sweep</a:t>
            </a:r>
            <a:endParaRPr lang="en-US" sz="2000" dirty="0"/>
          </a:p>
        </p:txBody>
      </p:sp>
      <p:sp>
        <p:nvSpPr>
          <p:cNvPr id="12" name="Shape 9"/>
          <p:cNvSpPr/>
          <p:nvPr/>
        </p:nvSpPr>
        <p:spPr>
          <a:xfrm>
            <a:off x="6903720" y="2843784"/>
            <a:ext cx="384048" cy="384048"/>
          </a:xfrm>
          <a:prstGeom prst="ellipse">
            <a:avLst/>
          </a:prstGeom>
          <a:solidFill>
            <a:srgbClr val="1F77B4"/>
          </a:solidFill>
          <a:ln w="12700">
            <a:solidFill>
              <a:srgbClr val="1F77B4"/>
            </a:solidFill>
            <a:prstDash val="solid"/>
          </a:ln>
        </p:spPr>
      </p:sp>
      <p:sp>
        <p:nvSpPr>
          <p:cNvPr id="13" name="Text 10"/>
          <p:cNvSpPr/>
          <p:nvPr/>
        </p:nvSpPr>
        <p:spPr>
          <a:xfrm>
            <a:off x="7013448" y="2935224"/>
            <a:ext cx="164592" cy="128016"/>
          </a:xfrm>
          <a:prstGeom prst="rect">
            <a:avLst/>
          </a:prstGeom>
          <a:noFill/>
          <a:ln/>
        </p:spPr>
        <p:txBody>
          <a:bodyPr wrap="square" lIns="635" tIns="635" rIns="635" bIns="635" rtlCol="0" anchor="ctr">
            <a:normAutofit/>
          </a:bodyPr>
          <a:lstStyle/>
          <a:p>
            <a:pPr algn="ctr" indent="0" marL="0">
              <a:buNone/>
            </a:pPr>
            <a:r>
              <a:rPr lang="en-US" sz="1100" b="1" dirty="0">
                <a:solidFill>
                  <a:srgbClr val="FFFFFF"/>
                </a:solidFill>
                <a:latin typeface="Helvetica" pitchFamily="34" charset="0"/>
                <a:ea typeface="Helvetica" pitchFamily="34" charset="-122"/>
                <a:cs typeface="Helvetica" pitchFamily="34" charset="-120"/>
              </a:rPr>
              <a:t>3</a:t>
            </a:r>
            <a:endParaRPr lang="en-US" sz="1100" dirty="0"/>
          </a:p>
        </p:txBody>
      </p:sp>
      <p:sp>
        <p:nvSpPr>
          <p:cNvPr id="14" name="Text 11"/>
          <p:cNvSpPr/>
          <p:nvPr/>
        </p:nvSpPr>
        <p:spPr>
          <a:xfrm>
            <a:off x="7452360" y="2825496"/>
            <a:ext cx="3566160" cy="438912"/>
          </a:xfrm>
          <a:prstGeom prst="rect">
            <a:avLst/>
          </a:prstGeom>
          <a:noFill/>
          <a:ln/>
        </p:spPr>
        <p:txBody>
          <a:bodyPr wrap="square" lIns="635" tIns="635" rIns="635" bIns="635" rtlCol="0" anchor="ctr">
            <a:normAutofit/>
          </a:bodyPr>
          <a:lstStyle/>
          <a:p>
            <a:pPr algn="l" indent="0" marL="0">
              <a:buNone/>
            </a:pPr>
            <a:r>
              <a:rPr lang="en-US" sz="2000" dirty="0">
                <a:solidFill>
                  <a:srgbClr val="172033"/>
                </a:solidFill>
                <a:latin typeface="Helvetica" pitchFamily="34" charset="0"/>
                <a:ea typeface="Helvetica" pitchFamily="34" charset="-122"/>
                <a:cs typeface="Helvetica" pitchFamily="34" charset="-120"/>
              </a:rPr>
              <a:t>Wire contracts during transformation</a:t>
            </a:r>
            <a:endParaRPr lang="en-US" sz="2000" dirty="0"/>
          </a:p>
        </p:txBody>
      </p:sp>
      <p:sp>
        <p:nvSpPr>
          <p:cNvPr id="15" name="Shape 12"/>
          <p:cNvSpPr/>
          <p:nvPr/>
        </p:nvSpPr>
        <p:spPr>
          <a:xfrm>
            <a:off x="6903720" y="3557016"/>
            <a:ext cx="384048" cy="384048"/>
          </a:xfrm>
          <a:prstGeom prst="ellipse">
            <a:avLst/>
          </a:prstGeom>
          <a:solidFill>
            <a:srgbClr val="1F77B4"/>
          </a:solidFill>
          <a:ln w="12700">
            <a:solidFill>
              <a:srgbClr val="1F77B4"/>
            </a:solidFill>
            <a:prstDash val="solid"/>
          </a:ln>
        </p:spPr>
      </p:sp>
      <p:sp>
        <p:nvSpPr>
          <p:cNvPr id="16" name="Text 13"/>
          <p:cNvSpPr/>
          <p:nvPr/>
        </p:nvSpPr>
        <p:spPr>
          <a:xfrm>
            <a:off x="7013448" y="3648456"/>
            <a:ext cx="164592" cy="128016"/>
          </a:xfrm>
          <a:prstGeom prst="rect">
            <a:avLst/>
          </a:prstGeom>
          <a:noFill/>
          <a:ln/>
        </p:spPr>
        <p:txBody>
          <a:bodyPr wrap="square" lIns="635" tIns="635" rIns="635" bIns="635" rtlCol="0" anchor="ctr">
            <a:normAutofit/>
          </a:bodyPr>
          <a:lstStyle/>
          <a:p>
            <a:pPr algn="ctr" indent="0" marL="0">
              <a:buNone/>
            </a:pPr>
            <a:r>
              <a:rPr lang="en-US" sz="1100" b="1" dirty="0">
                <a:solidFill>
                  <a:srgbClr val="FFFFFF"/>
                </a:solidFill>
                <a:latin typeface="Helvetica" pitchFamily="34" charset="0"/>
                <a:ea typeface="Helvetica" pitchFamily="34" charset="-122"/>
                <a:cs typeface="Helvetica" pitchFamily="34" charset="-120"/>
              </a:rPr>
              <a:t>4</a:t>
            </a:r>
            <a:endParaRPr lang="en-US" sz="1100" dirty="0"/>
          </a:p>
        </p:txBody>
      </p:sp>
      <p:sp>
        <p:nvSpPr>
          <p:cNvPr id="17" name="Text 14"/>
          <p:cNvSpPr/>
          <p:nvPr/>
        </p:nvSpPr>
        <p:spPr>
          <a:xfrm>
            <a:off x="7452360" y="3538728"/>
            <a:ext cx="3566160" cy="438912"/>
          </a:xfrm>
          <a:prstGeom prst="rect">
            <a:avLst/>
          </a:prstGeom>
          <a:noFill/>
          <a:ln/>
        </p:spPr>
        <p:txBody>
          <a:bodyPr wrap="square" lIns="635" tIns="635" rIns="635" bIns="635" rtlCol="0" anchor="ctr">
            <a:normAutofit/>
          </a:bodyPr>
          <a:lstStyle/>
          <a:p>
            <a:pPr algn="l" indent="0" marL="0">
              <a:buNone/>
            </a:pPr>
            <a:r>
              <a:rPr lang="en-US" sz="2000" dirty="0">
                <a:solidFill>
                  <a:srgbClr val="172033"/>
                </a:solidFill>
                <a:latin typeface="Helvetica" pitchFamily="34" charset="0"/>
                <a:ea typeface="Helvetica" pitchFamily="34" charset="-122"/>
                <a:cs typeface="Helvetica" pitchFamily="34" charset="-120"/>
              </a:rPr>
              <a:t>Motor moves to restore stress</a:t>
            </a:r>
            <a:endParaRPr lang="en-US" sz="2000" dirty="0"/>
          </a:p>
        </p:txBody>
      </p:sp>
      <p:sp>
        <p:nvSpPr>
          <p:cNvPr id="18" name="Shape 15"/>
          <p:cNvSpPr/>
          <p:nvPr/>
        </p:nvSpPr>
        <p:spPr>
          <a:xfrm>
            <a:off x="6903720" y="4270248"/>
            <a:ext cx="384048" cy="384048"/>
          </a:xfrm>
          <a:prstGeom prst="ellipse">
            <a:avLst/>
          </a:prstGeom>
          <a:solidFill>
            <a:srgbClr val="1F77B4"/>
          </a:solidFill>
          <a:ln w="12700">
            <a:solidFill>
              <a:srgbClr val="1F77B4"/>
            </a:solidFill>
            <a:prstDash val="solid"/>
          </a:ln>
        </p:spPr>
      </p:sp>
      <p:sp>
        <p:nvSpPr>
          <p:cNvPr id="19" name="Text 16"/>
          <p:cNvSpPr/>
          <p:nvPr/>
        </p:nvSpPr>
        <p:spPr>
          <a:xfrm>
            <a:off x="7013448" y="4361688"/>
            <a:ext cx="164592" cy="128016"/>
          </a:xfrm>
          <a:prstGeom prst="rect">
            <a:avLst/>
          </a:prstGeom>
          <a:noFill/>
          <a:ln/>
        </p:spPr>
        <p:txBody>
          <a:bodyPr wrap="square" lIns="635" tIns="635" rIns="635" bIns="635" rtlCol="0" anchor="ctr">
            <a:normAutofit/>
          </a:bodyPr>
          <a:lstStyle/>
          <a:p>
            <a:pPr algn="ctr" indent="0" marL="0">
              <a:buNone/>
            </a:pPr>
            <a:r>
              <a:rPr lang="en-US" sz="1100" b="1" dirty="0">
                <a:solidFill>
                  <a:srgbClr val="FFFFFF"/>
                </a:solidFill>
                <a:latin typeface="Helvetica" pitchFamily="34" charset="0"/>
                <a:ea typeface="Helvetica" pitchFamily="34" charset="-122"/>
                <a:cs typeface="Helvetica" pitchFamily="34" charset="-120"/>
              </a:rPr>
              <a:t>5</a:t>
            </a:r>
            <a:endParaRPr lang="en-US" sz="1100" dirty="0"/>
          </a:p>
        </p:txBody>
      </p:sp>
      <p:sp>
        <p:nvSpPr>
          <p:cNvPr id="20" name="Text 17"/>
          <p:cNvSpPr/>
          <p:nvPr/>
        </p:nvSpPr>
        <p:spPr>
          <a:xfrm>
            <a:off x="7452360" y="4251960"/>
            <a:ext cx="3566160" cy="438912"/>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Motor displacement gives strain</a:t>
            </a:r>
            <a:endParaRPr lang="en-US" sz="2000" dirty="0"/>
          </a:p>
        </p:txBody>
      </p:sp>
      <p:sp>
        <p:nvSpPr>
          <p:cNvPr id="21" name="Text 18"/>
          <p:cNvSpPr/>
          <p:nvPr/>
        </p:nvSpPr>
        <p:spPr>
          <a:xfrm>
            <a:off x="6903720" y="5257800"/>
            <a:ext cx="4343400" cy="457200"/>
          </a:xfrm>
          <a:prstGeom prst="rect">
            <a:avLst/>
          </a:prstGeom>
          <a:noFill/>
          <a:ln/>
        </p:spPr>
        <p:txBody>
          <a:bodyPr wrap="square" lIns="635" tIns="635" rIns="635" bIns="635" rtlCol="0" anchor="ctr">
            <a:normAutofit/>
          </a:bodyPr>
          <a:lstStyle/>
          <a:p>
            <a:pPr algn="l" indent="0" marL="0">
              <a:buNone/>
            </a:pPr>
            <a:r>
              <a:rPr lang="en-US" sz="1700" dirty="0">
                <a:solidFill>
                  <a:srgbClr val="5B677A"/>
                </a:solidFill>
                <a:latin typeface="Helvetica" pitchFamily="34" charset="0"/>
                <a:ea typeface="Helvetica" pitchFamily="34" charset="-122"/>
                <a:cs typeface="Helvetica" pitchFamily="34" charset="-120"/>
              </a:rPr>
              <a:t>During cooling: elongation -&gt; motor moves back -&gt; stress returns to target.</a:t>
            </a:r>
            <a:endParaRPr lang="en-US" sz="1700" dirty="0"/>
          </a:p>
        </p:txBody>
      </p:sp>
      <p:sp>
        <p:nvSpPr>
          <p:cNvPr id="23" name="Text 19"/>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8/14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Define the initial length before each run</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Stress and strain need a reliable zero-load length</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assets/ppt/media/image6.png">    </p:cNvPr>
          <p:cNvPicPr>
            <a:picLocks noChangeAspect="1"/>
          </p:cNvPicPr>
          <p:nvPr/>
        </p:nvPicPr>
        <p:blipFill>
          <a:blip r:embed="rId1"/>
          <a:stretch>
            <a:fillRect/>
          </a:stretch>
        </p:blipFill>
        <p:spPr>
          <a:xfrm>
            <a:off x="594360" y="1325880"/>
            <a:ext cx="5943600" cy="3429000"/>
          </a:xfrm>
          <a:prstGeom prst="rect">
            <a:avLst/>
          </a:prstGeom>
        </p:spPr>
      </p:pic>
      <p:sp>
        <p:nvSpPr>
          <p:cNvPr id="6" name="Shape 3"/>
          <p:cNvSpPr/>
          <p:nvPr/>
        </p:nvSpPr>
        <p:spPr>
          <a:xfrm>
            <a:off x="6903720" y="1325880"/>
            <a:ext cx="4434840" cy="1005840"/>
          </a:xfrm>
          <a:prstGeom prst="rect">
            <a:avLst/>
          </a:prstGeom>
          <a:solidFill>
            <a:srgbClr val="FFFFFF"/>
          </a:solidFill>
          <a:ln w="12700">
            <a:solidFill>
              <a:srgbClr val="D8DEE8"/>
            </a:solidFill>
            <a:prstDash val="solid"/>
          </a:ln>
        </p:spPr>
      </p:sp>
      <p:sp>
        <p:nvSpPr>
          <p:cNvPr id="7" name="Shape 4"/>
          <p:cNvSpPr/>
          <p:nvPr/>
        </p:nvSpPr>
        <p:spPr>
          <a:xfrm>
            <a:off x="6903720" y="1325880"/>
            <a:ext cx="64008" cy="1005840"/>
          </a:xfrm>
          <a:prstGeom prst="rect">
            <a:avLst/>
          </a:prstGeom>
          <a:solidFill>
            <a:srgbClr val="1F77B4"/>
          </a:solidFill>
          <a:ln w="12700">
            <a:solidFill>
              <a:srgbClr val="1F77B4"/>
            </a:solidFill>
            <a:prstDash val="solid"/>
          </a:ln>
        </p:spPr>
      </p:sp>
      <p:sp>
        <p:nvSpPr>
          <p:cNvPr id="8" name="Text 5"/>
          <p:cNvSpPr/>
          <p:nvPr/>
        </p:nvSpPr>
        <p:spPr>
          <a:xfrm>
            <a:off x="7132320" y="1490472"/>
            <a:ext cx="40690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1. Preload the wire</a:t>
            </a:r>
            <a:endParaRPr lang="en-US" sz="2000" dirty="0"/>
          </a:p>
        </p:txBody>
      </p:sp>
      <p:sp>
        <p:nvSpPr>
          <p:cNvPr id="9" name="Text 6"/>
          <p:cNvSpPr/>
          <p:nvPr/>
        </p:nvSpPr>
        <p:spPr>
          <a:xfrm>
            <a:off x="7132320" y="1947672"/>
            <a:ext cx="4069080" cy="2560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Move to a set target, for example 20 MPa.</a:t>
            </a:r>
            <a:endParaRPr lang="en-US" sz="1500" dirty="0"/>
          </a:p>
        </p:txBody>
      </p:sp>
      <p:sp>
        <p:nvSpPr>
          <p:cNvPr id="10" name="Shape 7"/>
          <p:cNvSpPr/>
          <p:nvPr/>
        </p:nvSpPr>
        <p:spPr>
          <a:xfrm>
            <a:off x="6903720" y="2606040"/>
            <a:ext cx="4434840" cy="1005840"/>
          </a:xfrm>
          <a:prstGeom prst="rect">
            <a:avLst/>
          </a:prstGeom>
          <a:solidFill>
            <a:srgbClr val="FFFFFF"/>
          </a:solidFill>
          <a:ln w="12700">
            <a:solidFill>
              <a:srgbClr val="D8DEE8"/>
            </a:solidFill>
            <a:prstDash val="solid"/>
          </a:ln>
        </p:spPr>
      </p:sp>
      <p:sp>
        <p:nvSpPr>
          <p:cNvPr id="11" name="Shape 8"/>
          <p:cNvSpPr/>
          <p:nvPr/>
        </p:nvSpPr>
        <p:spPr>
          <a:xfrm>
            <a:off x="6903720" y="2606040"/>
            <a:ext cx="64008" cy="1005840"/>
          </a:xfrm>
          <a:prstGeom prst="rect">
            <a:avLst/>
          </a:prstGeom>
          <a:solidFill>
            <a:srgbClr val="2A9D8F"/>
          </a:solidFill>
          <a:ln w="12700">
            <a:solidFill>
              <a:srgbClr val="2A9D8F"/>
            </a:solidFill>
            <a:prstDash val="solid"/>
          </a:ln>
        </p:spPr>
      </p:sp>
      <p:sp>
        <p:nvSpPr>
          <p:cNvPr id="12" name="Text 9"/>
          <p:cNvSpPr/>
          <p:nvPr/>
        </p:nvSpPr>
        <p:spPr>
          <a:xfrm>
            <a:off x="7132320" y="2770632"/>
            <a:ext cx="40690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2. Enter measured length</a:t>
            </a:r>
            <a:endParaRPr lang="en-US" sz="2000" dirty="0"/>
          </a:p>
        </p:txBody>
      </p:sp>
      <p:sp>
        <p:nvSpPr>
          <p:cNvPr id="13" name="Text 10"/>
          <p:cNvSpPr/>
          <p:nvPr/>
        </p:nvSpPr>
        <p:spPr>
          <a:xfrm>
            <a:off x="7132320" y="3227832"/>
            <a:ext cx="4069080" cy="2560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The wire is straight, so the manual length is meaningful.</a:t>
            </a:r>
            <a:endParaRPr lang="en-US" sz="1500" dirty="0"/>
          </a:p>
        </p:txBody>
      </p:sp>
      <p:sp>
        <p:nvSpPr>
          <p:cNvPr id="14" name="Shape 11"/>
          <p:cNvSpPr/>
          <p:nvPr/>
        </p:nvSpPr>
        <p:spPr>
          <a:xfrm>
            <a:off x="6903720" y="3886200"/>
            <a:ext cx="4434840" cy="1005840"/>
          </a:xfrm>
          <a:prstGeom prst="rect">
            <a:avLst/>
          </a:prstGeom>
          <a:solidFill>
            <a:srgbClr val="FFFFFF"/>
          </a:solidFill>
          <a:ln w="12700">
            <a:solidFill>
              <a:srgbClr val="D8DEE8"/>
            </a:solidFill>
            <a:prstDash val="solid"/>
          </a:ln>
        </p:spPr>
      </p:sp>
      <p:sp>
        <p:nvSpPr>
          <p:cNvPr id="15" name="Shape 12"/>
          <p:cNvSpPr/>
          <p:nvPr/>
        </p:nvSpPr>
        <p:spPr>
          <a:xfrm>
            <a:off x="6903720" y="3886200"/>
            <a:ext cx="64008" cy="1005840"/>
          </a:xfrm>
          <a:prstGeom prst="rect">
            <a:avLst/>
          </a:prstGeom>
          <a:solidFill>
            <a:srgbClr val="E76F51"/>
          </a:solidFill>
          <a:ln w="12700">
            <a:solidFill>
              <a:srgbClr val="E76F51"/>
            </a:solidFill>
            <a:prstDash val="solid"/>
          </a:ln>
        </p:spPr>
      </p:sp>
      <p:sp>
        <p:nvSpPr>
          <p:cNvPr id="16" name="Text 13"/>
          <p:cNvSpPr/>
          <p:nvPr/>
        </p:nvSpPr>
        <p:spPr>
          <a:xfrm>
            <a:off x="7132320" y="4050792"/>
            <a:ext cx="40690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3. Return toward zero</a:t>
            </a:r>
            <a:endParaRPr lang="en-US" sz="2000" dirty="0"/>
          </a:p>
        </p:txBody>
      </p:sp>
      <p:sp>
        <p:nvSpPr>
          <p:cNvPr id="17" name="Text 14"/>
          <p:cNvSpPr/>
          <p:nvPr/>
        </p:nvSpPr>
        <p:spPr>
          <a:xfrm>
            <a:off x="7132320" y="4507992"/>
            <a:ext cx="4069080" cy="25603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Use the linear unload fit to find the taut zero-load baseline.</a:t>
            </a:r>
            <a:endParaRPr lang="en-US" sz="1500" dirty="0"/>
          </a:p>
        </p:txBody>
      </p:sp>
      <p:sp>
        <p:nvSpPr>
          <p:cNvPr id="18" name="Text 15"/>
          <p:cNvSpPr/>
          <p:nvPr/>
        </p:nvSpPr>
        <p:spPr>
          <a:xfrm>
            <a:off x="1097280" y="5532120"/>
            <a:ext cx="9875520" cy="457200"/>
          </a:xfrm>
          <a:prstGeom prst="rect">
            <a:avLst/>
          </a:prstGeom>
          <a:noFill/>
          <a:ln/>
        </p:spPr>
        <p:txBody>
          <a:bodyPr wrap="square" lIns="635" tIns="635" rIns="635" bIns="635" rtlCol="0" anchor="ctr">
            <a:normAutofit/>
          </a:bodyPr>
          <a:lstStyle/>
          <a:p>
            <a:pPr algn="ctr" indent="0" marL="0">
              <a:buNone/>
            </a:pPr>
            <a:r>
              <a:rPr lang="en-US" sz="2200" b="1" dirty="0">
                <a:solidFill>
                  <a:srgbClr val="172033"/>
                </a:solidFill>
                <a:latin typeface="Helvetica" pitchFamily="34" charset="0"/>
                <a:ea typeface="Helvetica" pitchFamily="34" charset="-122"/>
                <a:cs typeface="Helvetica" pitchFamily="34" charset="-120"/>
              </a:rPr>
              <a:t>Corrected l0 = measured length at preload minus motor return to baseline</a:t>
            </a:r>
            <a:endParaRPr lang="en-US" sz="2200" dirty="0"/>
          </a:p>
        </p:txBody>
      </p:sp>
      <p:sp>
        <p:nvSpPr>
          <p:cNvPr id="20" name="Text 16"/>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9/14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Approach the target quickly, then carefully</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controller changes behavior near the target</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assets/ppt/media/image7.png">    </p:cNvPr>
          <p:cNvPicPr>
            <a:picLocks noChangeAspect="1"/>
          </p:cNvPicPr>
          <p:nvPr/>
        </p:nvPicPr>
        <p:blipFill>
          <a:blip r:embed="rId1"/>
          <a:stretch>
            <a:fillRect/>
          </a:stretch>
        </p:blipFill>
        <p:spPr>
          <a:xfrm>
            <a:off x="685800" y="1371600"/>
            <a:ext cx="6126480" cy="3931920"/>
          </a:xfrm>
          <a:prstGeom prst="rect">
            <a:avLst/>
          </a:prstGeom>
        </p:spPr>
      </p:pic>
      <p:sp>
        <p:nvSpPr>
          <p:cNvPr id="6" name="Shape 3"/>
          <p:cNvSpPr/>
          <p:nvPr/>
        </p:nvSpPr>
        <p:spPr>
          <a:xfrm>
            <a:off x="7223760" y="1417320"/>
            <a:ext cx="3977640" cy="1143000"/>
          </a:xfrm>
          <a:prstGeom prst="rect">
            <a:avLst/>
          </a:prstGeom>
          <a:solidFill>
            <a:srgbClr val="FFFFFF"/>
          </a:solidFill>
          <a:ln w="12700">
            <a:solidFill>
              <a:srgbClr val="D8DEE8"/>
            </a:solidFill>
            <a:prstDash val="solid"/>
          </a:ln>
        </p:spPr>
      </p:sp>
      <p:sp>
        <p:nvSpPr>
          <p:cNvPr id="7" name="Shape 4"/>
          <p:cNvSpPr/>
          <p:nvPr/>
        </p:nvSpPr>
        <p:spPr>
          <a:xfrm>
            <a:off x="7223760" y="1417320"/>
            <a:ext cx="64008" cy="1143000"/>
          </a:xfrm>
          <a:prstGeom prst="rect">
            <a:avLst/>
          </a:prstGeom>
          <a:solidFill>
            <a:srgbClr val="1F77B4"/>
          </a:solidFill>
          <a:ln w="12700">
            <a:solidFill>
              <a:srgbClr val="1F77B4"/>
            </a:solidFill>
            <a:prstDash val="solid"/>
          </a:ln>
        </p:spPr>
      </p:sp>
      <p:sp>
        <p:nvSpPr>
          <p:cNvPr id="8" name="Text 5"/>
          <p:cNvSpPr/>
          <p:nvPr/>
        </p:nvSpPr>
        <p:spPr>
          <a:xfrm>
            <a:off x="7452360" y="1581912"/>
            <a:ext cx="36118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Far from target</a:t>
            </a:r>
            <a:endParaRPr lang="en-US" sz="2000" dirty="0"/>
          </a:p>
        </p:txBody>
      </p:sp>
      <p:sp>
        <p:nvSpPr>
          <p:cNvPr id="9" name="Text 6"/>
          <p:cNvSpPr/>
          <p:nvPr/>
        </p:nvSpPr>
        <p:spPr>
          <a:xfrm>
            <a:off x="7452360" y="2039112"/>
            <a:ext cx="361188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larger corrections and continuous cruise checks</a:t>
            </a:r>
            <a:endParaRPr lang="en-US" sz="1500" dirty="0"/>
          </a:p>
        </p:txBody>
      </p:sp>
      <p:sp>
        <p:nvSpPr>
          <p:cNvPr id="10" name="Shape 7"/>
          <p:cNvSpPr/>
          <p:nvPr/>
        </p:nvSpPr>
        <p:spPr>
          <a:xfrm>
            <a:off x="7223760" y="2743200"/>
            <a:ext cx="3977640" cy="1143000"/>
          </a:xfrm>
          <a:prstGeom prst="rect">
            <a:avLst/>
          </a:prstGeom>
          <a:solidFill>
            <a:srgbClr val="FFFFFF"/>
          </a:solidFill>
          <a:ln w="12700">
            <a:solidFill>
              <a:srgbClr val="D8DEE8"/>
            </a:solidFill>
            <a:prstDash val="solid"/>
          </a:ln>
        </p:spPr>
      </p:sp>
      <p:sp>
        <p:nvSpPr>
          <p:cNvPr id="11" name="Shape 8"/>
          <p:cNvSpPr/>
          <p:nvPr/>
        </p:nvSpPr>
        <p:spPr>
          <a:xfrm>
            <a:off x="7223760" y="2743200"/>
            <a:ext cx="64008" cy="1143000"/>
          </a:xfrm>
          <a:prstGeom prst="rect">
            <a:avLst/>
          </a:prstGeom>
          <a:solidFill>
            <a:srgbClr val="E76F51"/>
          </a:solidFill>
          <a:ln w="12700">
            <a:solidFill>
              <a:srgbClr val="E76F51"/>
            </a:solidFill>
            <a:prstDash val="solid"/>
          </a:ln>
        </p:spPr>
      </p:sp>
      <p:sp>
        <p:nvSpPr>
          <p:cNvPr id="12" name="Text 9"/>
          <p:cNvSpPr/>
          <p:nvPr/>
        </p:nvSpPr>
        <p:spPr>
          <a:xfrm>
            <a:off x="7452360" y="2907792"/>
            <a:ext cx="36118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Near target</a:t>
            </a:r>
            <a:endParaRPr lang="en-US" sz="2000" dirty="0"/>
          </a:p>
        </p:txBody>
      </p:sp>
      <p:sp>
        <p:nvSpPr>
          <p:cNvPr id="13" name="Text 10"/>
          <p:cNvSpPr/>
          <p:nvPr/>
        </p:nvSpPr>
        <p:spPr>
          <a:xfrm>
            <a:off x="7452360" y="3364992"/>
            <a:ext cx="361188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move, wait for a fresh scale value, then move again</a:t>
            </a:r>
            <a:endParaRPr lang="en-US" sz="1500" dirty="0"/>
          </a:p>
        </p:txBody>
      </p:sp>
      <p:sp>
        <p:nvSpPr>
          <p:cNvPr id="14" name="Shape 11"/>
          <p:cNvSpPr/>
          <p:nvPr/>
        </p:nvSpPr>
        <p:spPr>
          <a:xfrm>
            <a:off x="7223760" y="4069080"/>
            <a:ext cx="3977640" cy="1143000"/>
          </a:xfrm>
          <a:prstGeom prst="rect">
            <a:avLst/>
          </a:prstGeom>
          <a:solidFill>
            <a:srgbClr val="FFFFFF"/>
          </a:solidFill>
          <a:ln w="12700">
            <a:solidFill>
              <a:srgbClr val="D8DEE8"/>
            </a:solidFill>
            <a:prstDash val="solid"/>
          </a:ln>
        </p:spPr>
      </p:sp>
      <p:sp>
        <p:nvSpPr>
          <p:cNvPr id="15" name="Shape 12"/>
          <p:cNvSpPr/>
          <p:nvPr/>
        </p:nvSpPr>
        <p:spPr>
          <a:xfrm>
            <a:off x="7223760" y="4069080"/>
            <a:ext cx="64008" cy="1143000"/>
          </a:xfrm>
          <a:prstGeom prst="rect">
            <a:avLst/>
          </a:prstGeom>
          <a:solidFill>
            <a:srgbClr val="2A9D8F"/>
          </a:solidFill>
          <a:ln w="12700">
            <a:solidFill>
              <a:srgbClr val="2A9D8F"/>
            </a:solidFill>
            <a:prstDash val="solid"/>
          </a:ln>
        </p:spPr>
      </p:sp>
      <p:sp>
        <p:nvSpPr>
          <p:cNvPr id="16" name="Text 13"/>
          <p:cNvSpPr/>
          <p:nvPr/>
        </p:nvSpPr>
        <p:spPr>
          <a:xfrm>
            <a:off x="7452360" y="4233672"/>
            <a:ext cx="361188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Final approach</a:t>
            </a:r>
            <a:endParaRPr lang="en-US" sz="2000" dirty="0"/>
          </a:p>
        </p:txBody>
      </p:sp>
      <p:sp>
        <p:nvSpPr>
          <p:cNvPr id="17" name="Text 14"/>
          <p:cNvSpPr/>
          <p:nvPr/>
        </p:nvSpPr>
        <p:spPr>
          <a:xfrm>
            <a:off x="7452360" y="4690872"/>
            <a:ext cx="361188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corrections shrink to single 10 um steps</a:t>
            </a:r>
            <a:endParaRPr lang="en-US" sz="1500" dirty="0"/>
          </a:p>
        </p:txBody>
      </p:sp>
      <p:sp>
        <p:nvSpPr>
          <p:cNvPr id="19" name="Text 15"/>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10/14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First Mini DMA current sweep</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Readable stress levels from the current-driven setup</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generated/mini_dma_result_50_200_mpa.png">    </p:cNvPr>
          <p:cNvPicPr>
            <a:picLocks noChangeAspect="1"/>
          </p:cNvPicPr>
          <p:nvPr/>
        </p:nvPicPr>
        <p:blipFill>
          <a:blip r:embed="rId1"/>
          <a:stretch>
            <a:fillRect/>
          </a:stretch>
        </p:blipFill>
        <p:spPr>
          <a:xfrm>
            <a:off x="685800" y="1234440"/>
            <a:ext cx="8366760" cy="4617720"/>
          </a:xfrm>
          <a:prstGeom prst="rect">
            <a:avLst/>
          </a:prstGeom>
        </p:spPr>
      </p:pic>
      <p:sp>
        <p:nvSpPr>
          <p:cNvPr id="6" name="Shape 3"/>
          <p:cNvSpPr/>
          <p:nvPr/>
        </p:nvSpPr>
        <p:spPr>
          <a:xfrm>
            <a:off x="9326880" y="1600200"/>
            <a:ext cx="2057400" cy="1143000"/>
          </a:xfrm>
          <a:prstGeom prst="rect">
            <a:avLst/>
          </a:prstGeom>
          <a:solidFill>
            <a:srgbClr val="FFFFFF"/>
          </a:solidFill>
          <a:ln w="12700">
            <a:solidFill>
              <a:srgbClr val="D8DEE8"/>
            </a:solidFill>
            <a:prstDash val="solid"/>
          </a:ln>
        </p:spPr>
      </p:sp>
      <p:sp>
        <p:nvSpPr>
          <p:cNvPr id="7" name="Shape 4"/>
          <p:cNvSpPr/>
          <p:nvPr/>
        </p:nvSpPr>
        <p:spPr>
          <a:xfrm>
            <a:off x="9326880" y="1600200"/>
            <a:ext cx="64008" cy="1143000"/>
          </a:xfrm>
          <a:prstGeom prst="rect">
            <a:avLst/>
          </a:prstGeom>
          <a:solidFill>
            <a:srgbClr val="1F77B4"/>
          </a:solidFill>
          <a:ln w="12700">
            <a:solidFill>
              <a:srgbClr val="1F77B4"/>
            </a:solidFill>
            <a:prstDash val="solid"/>
          </a:ln>
        </p:spPr>
      </p:sp>
      <p:sp>
        <p:nvSpPr>
          <p:cNvPr id="8" name="Text 5"/>
          <p:cNvSpPr/>
          <p:nvPr/>
        </p:nvSpPr>
        <p:spPr>
          <a:xfrm>
            <a:off x="9555480" y="1764792"/>
            <a:ext cx="16916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Clearer graph</a:t>
            </a:r>
            <a:endParaRPr lang="en-US" sz="2000" dirty="0"/>
          </a:p>
        </p:txBody>
      </p:sp>
      <p:sp>
        <p:nvSpPr>
          <p:cNvPr id="9" name="Text 6"/>
          <p:cNvSpPr/>
          <p:nvPr/>
        </p:nvSpPr>
        <p:spPr>
          <a:xfrm>
            <a:off x="9555480" y="2221992"/>
            <a:ext cx="169164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250 MPa and above removed for readability.</a:t>
            </a:r>
            <a:endParaRPr lang="en-US" sz="1500" dirty="0"/>
          </a:p>
        </p:txBody>
      </p:sp>
      <p:sp>
        <p:nvSpPr>
          <p:cNvPr id="10" name="Shape 7"/>
          <p:cNvSpPr/>
          <p:nvPr/>
        </p:nvSpPr>
        <p:spPr>
          <a:xfrm>
            <a:off x="9326880" y="3063240"/>
            <a:ext cx="2057400" cy="1143000"/>
          </a:xfrm>
          <a:prstGeom prst="rect">
            <a:avLst/>
          </a:prstGeom>
          <a:solidFill>
            <a:srgbClr val="FFFFFF"/>
          </a:solidFill>
          <a:ln w="12700">
            <a:solidFill>
              <a:srgbClr val="D8DEE8"/>
            </a:solidFill>
            <a:prstDash val="solid"/>
          </a:ln>
        </p:spPr>
      </p:sp>
      <p:sp>
        <p:nvSpPr>
          <p:cNvPr id="11" name="Shape 8"/>
          <p:cNvSpPr/>
          <p:nvPr/>
        </p:nvSpPr>
        <p:spPr>
          <a:xfrm>
            <a:off x="9326880" y="3063240"/>
            <a:ext cx="64008" cy="1143000"/>
          </a:xfrm>
          <a:prstGeom prst="rect">
            <a:avLst/>
          </a:prstGeom>
          <a:solidFill>
            <a:srgbClr val="E76F51"/>
          </a:solidFill>
          <a:ln w="12700">
            <a:solidFill>
              <a:srgbClr val="E76F51"/>
            </a:solidFill>
            <a:prstDash val="solid"/>
          </a:ln>
        </p:spPr>
      </p:sp>
      <p:sp>
        <p:nvSpPr>
          <p:cNvPr id="12" name="Text 9"/>
          <p:cNvSpPr/>
          <p:nvPr/>
        </p:nvSpPr>
        <p:spPr>
          <a:xfrm>
            <a:off x="9555480" y="3227832"/>
            <a:ext cx="16916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Power axis</a:t>
            </a:r>
            <a:endParaRPr lang="en-US" sz="2000" dirty="0"/>
          </a:p>
        </p:txBody>
      </p:sp>
      <p:sp>
        <p:nvSpPr>
          <p:cNvPr id="13" name="Text 10"/>
          <p:cNvSpPr/>
          <p:nvPr/>
        </p:nvSpPr>
        <p:spPr>
          <a:xfrm>
            <a:off x="9555480" y="3685032"/>
            <a:ext cx="169164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Calculated from measured current and resistance.</a:t>
            </a:r>
            <a:endParaRPr lang="en-US" sz="1500" dirty="0"/>
          </a:p>
        </p:txBody>
      </p:sp>
      <p:sp>
        <p:nvSpPr>
          <p:cNvPr id="14" name="Shape 11"/>
          <p:cNvSpPr/>
          <p:nvPr/>
        </p:nvSpPr>
        <p:spPr>
          <a:xfrm>
            <a:off x="9326880" y="4526280"/>
            <a:ext cx="2057400" cy="1143000"/>
          </a:xfrm>
          <a:prstGeom prst="rect">
            <a:avLst/>
          </a:prstGeom>
          <a:solidFill>
            <a:srgbClr val="FFFFFF"/>
          </a:solidFill>
          <a:ln w="12700">
            <a:solidFill>
              <a:srgbClr val="D8DEE8"/>
            </a:solidFill>
            <a:prstDash val="solid"/>
          </a:ln>
        </p:spPr>
      </p:sp>
      <p:sp>
        <p:nvSpPr>
          <p:cNvPr id="15" name="Shape 12"/>
          <p:cNvSpPr/>
          <p:nvPr/>
        </p:nvSpPr>
        <p:spPr>
          <a:xfrm>
            <a:off x="9326880" y="4526280"/>
            <a:ext cx="64008" cy="1143000"/>
          </a:xfrm>
          <a:prstGeom prst="rect">
            <a:avLst/>
          </a:prstGeom>
          <a:solidFill>
            <a:srgbClr val="2A9D8F"/>
          </a:solidFill>
          <a:ln w="12700">
            <a:solidFill>
              <a:srgbClr val="2A9D8F"/>
            </a:solidFill>
            <a:prstDash val="solid"/>
          </a:ln>
        </p:spPr>
      </p:sp>
      <p:sp>
        <p:nvSpPr>
          <p:cNvPr id="16" name="Text 13"/>
          <p:cNvSpPr/>
          <p:nvPr/>
        </p:nvSpPr>
        <p:spPr>
          <a:xfrm>
            <a:off x="9555480" y="4690872"/>
            <a:ext cx="169164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Practical question</a:t>
            </a:r>
            <a:endParaRPr lang="en-US" sz="2000" dirty="0"/>
          </a:p>
        </p:txBody>
      </p:sp>
      <p:sp>
        <p:nvSpPr>
          <p:cNvPr id="17" name="Text 14"/>
          <p:cNvSpPr/>
          <p:nvPr/>
        </p:nvSpPr>
        <p:spPr>
          <a:xfrm>
            <a:off x="9555480" y="5148072"/>
            <a:ext cx="1691640" cy="39319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How much power gives about 10% contraction?</a:t>
            </a:r>
            <a:endParaRPr lang="en-US" sz="1500" dirty="0"/>
          </a:p>
        </p:txBody>
      </p:sp>
      <p:sp>
        <p:nvSpPr>
          <p:cNvPr id="19" name="Text 15"/>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11/14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Mini DMA and commercial DMA have different roles</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low-cost setup is for screening; the commercial instrument is for validation</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Text 3"/>
          <p:cNvSpPr/>
          <p:nvPr/>
        </p:nvSpPr>
        <p:spPr>
          <a:xfrm>
            <a:off x="777240" y="1234440"/>
            <a:ext cx="2103120" cy="365760"/>
          </a:xfrm>
          <a:prstGeom prst="rect">
            <a:avLst/>
          </a:prstGeom>
          <a:noFill/>
          <a:ln/>
        </p:spPr>
        <p:txBody>
          <a:bodyPr wrap="square" lIns="635" tIns="635" rIns="635" bIns="635" rtlCol="0" anchor="ctr">
            <a:normAutofit/>
          </a:bodyPr>
          <a:lstStyle/>
          <a:p>
            <a:pPr algn="l" indent="0" marL="0">
              <a:buNone/>
            </a:pPr>
            <a:r>
              <a:rPr lang="en-US" sz="2200" b="1" dirty="0">
                <a:solidFill>
                  <a:srgbClr val="172033"/>
                </a:solidFill>
                <a:latin typeface="Helvetica" pitchFamily="34" charset="0"/>
                <a:ea typeface="Helvetica" pitchFamily="34" charset="-122"/>
                <a:cs typeface="Helvetica" pitchFamily="34" charset="-120"/>
              </a:rPr>
              <a:t>Mini DMA</a:t>
            </a:r>
            <a:endParaRPr lang="en-US" sz="2200" dirty="0"/>
          </a:p>
        </p:txBody>
      </p:sp>
      <p:pic>
        <p:nvPicPr>
          <p:cNvPr id="6" name="Image 0" descr="/Users/martin/PyPlot/outputs/manual-20260520-mini-dma-deck/presentations/mini-dma-colloquium/generated/mini_dma_result_50_200_mpa.png">    </p:cNvPr>
          <p:cNvPicPr>
            <a:picLocks noChangeAspect="1"/>
          </p:cNvPicPr>
          <p:nvPr/>
        </p:nvPicPr>
        <p:blipFill>
          <a:blip r:embed="rId1"/>
          <a:stretch>
            <a:fillRect/>
          </a:stretch>
        </p:blipFill>
        <p:spPr>
          <a:xfrm>
            <a:off x="685800" y="1691640"/>
            <a:ext cx="4983480" cy="3063240"/>
          </a:xfrm>
          <a:prstGeom prst="rect">
            <a:avLst/>
          </a:prstGeom>
        </p:spPr>
      </p:pic>
      <p:sp>
        <p:nvSpPr>
          <p:cNvPr id="7" name="Text 4"/>
          <p:cNvSpPr/>
          <p:nvPr/>
        </p:nvSpPr>
        <p:spPr>
          <a:xfrm>
            <a:off x="822960" y="5074920"/>
            <a:ext cx="4663440" cy="365760"/>
          </a:xfrm>
          <a:prstGeom prst="rect">
            <a:avLst/>
          </a:prstGeom>
          <a:noFill/>
          <a:ln/>
        </p:spPr>
        <p:txBody>
          <a:bodyPr wrap="square" lIns="635" tIns="635" rIns="635" bIns="635" rtlCol="0" anchor="ctr">
            <a:normAutofit/>
          </a:bodyPr>
          <a:lstStyle/>
          <a:p>
            <a:pPr algn="ctr" indent="0" marL="0">
              <a:buNone/>
            </a:pPr>
            <a:r>
              <a:rPr lang="en-US" sz="1700" dirty="0">
                <a:solidFill>
                  <a:srgbClr val="5B677A"/>
                </a:solidFill>
                <a:latin typeface="Helvetica" pitchFamily="34" charset="0"/>
                <a:ea typeface="Helvetica" pitchFamily="34" charset="-122"/>
                <a:cs typeface="Helvetica" pitchFamily="34" charset="-120"/>
              </a:rPr>
              <a:t>fast screening / current-driven / low-cost custom setup</a:t>
            </a:r>
            <a:endParaRPr lang="en-US" sz="1700" dirty="0"/>
          </a:p>
        </p:txBody>
      </p:sp>
      <p:sp>
        <p:nvSpPr>
          <p:cNvPr id="8" name="Text 5"/>
          <p:cNvSpPr/>
          <p:nvPr/>
        </p:nvSpPr>
        <p:spPr>
          <a:xfrm>
            <a:off x="6446520" y="1234440"/>
            <a:ext cx="2743200" cy="365760"/>
          </a:xfrm>
          <a:prstGeom prst="rect">
            <a:avLst/>
          </a:prstGeom>
          <a:noFill/>
          <a:ln/>
        </p:spPr>
        <p:txBody>
          <a:bodyPr wrap="square" lIns="635" tIns="635" rIns="635" bIns="635" rtlCol="0" anchor="ctr">
            <a:normAutofit/>
          </a:bodyPr>
          <a:lstStyle/>
          <a:p>
            <a:pPr algn="l" indent="0" marL="0">
              <a:buNone/>
            </a:pPr>
            <a:r>
              <a:rPr lang="en-US" sz="2200" b="1" dirty="0">
                <a:solidFill>
                  <a:srgbClr val="172033"/>
                </a:solidFill>
                <a:latin typeface="Helvetica" pitchFamily="34" charset="0"/>
                <a:ea typeface="Helvetica" pitchFamily="34" charset="-122"/>
                <a:cs typeface="Helvetica" pitchFamily="34" charset="-120"/>
              </a:rPr>
              <a:t>Commercial DMA</a:t>
            </a:r>
            <a:endParaRPr lang="en-US" sz="2200" dirty="0"/>
          </a:p>
        </p:txBody>
      </p:sp>
      <p:pic>
        <p:nvPicPr>
          <p:cNvPr id="9" name="Image 1" descr="/Users/martin/PyPlot/outputs/manual-20260520-mini-dma-deck/presentations/mini-dma-colloquium/assets/ppt/media/image2.png">    </p:cNvPr>
          <p:cNvPicPr>
            <a:picLocks noChangeAspect="1"/>
          </p:cNvPicPr>
          <p:nvPr/>
        </p:nvPicPr>
        <p:blipFill>
          <a:blip r:embed="rId2"/>
          <a:stretch>
            <a:fillRect/>
          </a:stretch>
        </p:blipFill>
        <p:spPr>
          <a:xfrm>
            <a:off x="6263640" y="1691640"/>
            <a:ext cx="5074920" cy="3063240"/>
          </a:xfrm>
          <a:prstGeom prst="rect">
            <a:avLst/>
          </a:prstGeom>
        </p:spPr>
      </p:pic>
      <p:sp>
        <p:nvSpPr>
          <p:cNvPr id="10" name="Text 6"/>
          <p:cNvSpPr/>
          <p:nvPr/>
        </p:nvSpPr>
        <p:spPr>
          <a:xfrm>
            <a:off x="6400800" y="5074920"/>
            <a:ext cx="4800600" cy="365760"/>
          </a:xfrm>
          <a:prstGeom prst="rect">
            <a:avLst/>
          </a:prstGeom>
          <a:noFill/>
          <a:ln/>
        </p:spPr>
        <p:txBody>
          <a:bodyPr wrap="square" lIns="635" tIns="635" rIns="635" bIns="635" rtlCol="0" anchor="ctr">
            <a:normAutofit/>
          </a:bodyPr>
          <a:lstStyle/>
          <a:p>
            <a:pPr algn="ctr" indent="0" marL="0">
              <a:buNone/>
            </a:pPr>
            <a:r>
              <a:rPr lang="en-US" sz="1700" dirty="0">
                <a:solidFill>
                  <a:srgbClr val="5B677A"/>
                </a:solidFill>
                <a:latin typeface="Helvetica" pitchFamily="34" charset="0"/>
                <a:ea typeface="Helvetica" pitchFamily="34" charset="-122"/>
                <a:cs typeface="Helvetica" pitchFamily="34" charset="-120"/>
              </a:rPr>
              <a:t>precise validation / temperature-controlled / slower and expensive</a:t>
            </a:r>
            <a:endParaRPr lang="en-US" sz="1700" dirty="0"/>
          </a:p>
        </p:txBody>
      </p:sp>
      <p:sp>
        <p:nvSpPr>
          <p:cNvPr id="11" name="Text 7"/>
          <p:cNvSpPr/>
          <p:nvPr/>
        </p:nvSpPr>
        <p:spPr>
          <a:xfrm>
            <a:off x="1325880" y="5806440"/>
            <a:ext cx="3200400" cy="320040"/>
          </a:xfrm>
          <a:prstGeom prst="rect">
            <a:avLst/>
          </a:prstGeom>
          <a:noFill/>
          <a:ln/>
        </p:spPr>
        <p:txBody>
          <a:bodyPr wrap="square" lIns="635" tIns="635" rIns="635" bIns="635" rtlCol="0" anchor="ctr">
            <a:normAutofit/>
          </a:bodyPr>
          <a:lstStyle/>
          <a:p>
            <a:pPr algn="ctr" indent="0" marL="0">
              <a:buNone/>
            </a:pPr>
            <a:r>
              <a:rPr lang="en-US" sz="2000" b="1" dirty="0">
                <a:solidFill>
                  <a:srgbClr val="2A9D8F"/>
                </a:solidFill>
                <a:latin typeface="Helvetica" pitchFamily="34" charset="0"/>
                <a:ea typeface="Helvetica" pitchFamily="34" charset="-122"/>
                <a:cs typeface="Helvetica" pitchFamily="34" charset="-120"/>
              </a:rPr>
              <a:t>approx. hundreds of EUR</a:t>
            </a:r>
            <a:endParaRPr lang="en-US" sz="2000" dirty="0"/>
          </a:p>
        </p:txBody>
      </p:sp>
      <p:sp>
        <p:nvSpPr>
          <p:cNvPr id="12" name="Text 8"/>
          <p:cNvSpPr/>
          <p:nvPr/>
        </p:nvSpPr>
        <p:spPr>
          <a:xfrm>
            <a:off x="6949440" y="5806440"/>
            <a:ext cx="3566160" cy="320040"/>
          </a:xfrm>
          <a:prstGeom prst="rect">
            <a:avLst/>
          </a:prstGeom>
          <a:noFill/>
          <a:ln/>
        </p:spPr>
        <p:txBody>
          <a:bodyPr wrap="square" lIns="635" tIns="635" rIns="635" bIns="635" rtlCol="0" anchor="ctr">
            <a:normAutofit/>
          </a:bodyPr>
          <a:lstStyle/>
          <a:p>
            <a:pPr algn="ctr" indent="0" marL="0">
              <a:buNone/>
            </a:pPr>
            <a:r>
              <a:rPr lang="en-US" sz="2000" b="1" dirty="0">
                <a:solidFill>
                  <a:srgbClr val="E76F51"/>
                </a:solidFill>
                <a:latin typeface="Helvetica" pitchFamily="34" charset="0"/>
                <a:ea typeface="Helvetica" pitchFamily="34" charset="-122"/>
                <a:cs typeface="Helvetica" pitchFamily="34" charset="-120"/>
              </a:rPr>
              <a:t>approx. tens of thousands of EUR</a:t>
            </a:r>
            <a:endParaRPr lang="en-US" sz="2000" dirty="0"/>
          </a:p>
        </p:txBody>
      </p:sp>
      <p:sp>
        <p:nvSpPr>
          <p:cNvPr id="14" name="Text 9"/>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12/14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Next step: add temperature measurement</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Current is useful, but temperature will make validation stronger</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pic>
        <p:nvPicPr>
          <p:cNvPr id="5" name="Image 0" descr="/Users/martin/PyPlot/outputs/manual-20260520-mini-dma-deck/presentations/mini-dma-colloquium/assets/ppt/media/image2.jpeg">    </p:cNvPr>
          <p:cNvPicPr>
            <a:picLocks noChangeAspect="1"/>
          </p:cNvPicPr>
          <p:nvPr/>
        </p:nvPicPr>
        <p:blipFill>
          <a:blip r:embed="rId1"/>
          <a:stretch>
            <a:fillRect/>
          </a:stretch>
        </p:blipFill>
        <p:spPr>
          <a:xfrm>
            <a:off x="685800" y="1325880"/>
            <a:ext cx="2834640" cy="4251960"/>
          </a:xfrm>
          <a:prstGeom prst="rect">
            <a:avLst/>
          </a:prstGeom>
        </p:spPr>
      </p:pic>
      <p:pic>
        <p:nvPicPr>
          <p:cNvPr id="6" name="Image 1" descr="/Users/martin/PyPlot/outputs/manual-20260520-mini-dma-deck/presentations/mini-dma-colloquium/generated/thermal_camera_trace.png">    </p:cNvPr>
          <p:cNvPicPr>
            <a:picLocks noChangeAspect="1"/>
          </p:cNvPicPr>
          <p:nvPr/>
        </p:nvPicPr>
        <p:blipFill>
          <a:blip r:embed="rId2"/>
          <a:stretch>
            <a:fillRect/>
          </a:stretch>
        </p:blipFill>
        <p:spPr>
          <a:xfrm>
            <a:off x="3886200" y="1600200"/>
            <a:ext cx="4526280" cy="2331720"/>
          </a:xfrm>
          <a:prstGeom prst="rect">
            <a:avLst/>
          </a:prstGeom>
        </p:spPr>
      </p:pic>
      <p:sp>
        <p:nvSpPr>
          <p:cNvPr id="7" name="Shape 3"/>
          <p:cNvSpPr/>
          <p:nvPr/>
        </p:nvSpPr>
        <p:spPr>
          <a:xfrm>
            <a:off x="8823960" y="1554480"/>
            <a:ext cx="2423160" cy="1051560"/>
          </a:xfrm>
          <a:prstGeom prst="rect">
            <a:avLst/>
          </a:prstGeom>
          <a:solidFill>
            <a:srgbClr val="FFFFFF"/>
          </a:solidFill>
          <a:ln w="12700">
            <a:solidFill>
              <a:srgbClr val="D8DEE8"/>
            </a:solidFill>
            <a:prstDash val="solid"/>
          </a:ln>
        </p:spPr>
      </p:sp>
      <p:sp>
        <p:nvSpPr>
          <p:cNvPr id="8" name="Shape 4"/>
          <p:cNvSpPr/>
          <p:nvPr/>
        </p:nvSpPr>
        <p:spPr>
          <a:xfrm>
            <a:off x="8823960" y="1554480"/>
            <a:ext cx="64008" cy="1051560"/>
          </a:xfrm>
          <a:prstGeom prst="rect">
            <a:avLst/>
          </a:prstGeom>
          <a:solidFill>
            <a:srgbClr val="1F77B4"/>
          </a:solidFill>
          <a:ln w="12700">
            <a:solidFill>
              <a:srgbClr val="1F77B4"/>
            </a:solidFill>
            <a:prstDash val="solid"/>
          </a:ln>
        </p:spPr>
      </p:sp>
      <p:sp>
        <p:nvSpPr>
          <p:cNvPr id="9" name="Text 5"/>
          <p:cNvSpPr/>
          <p:nvPr/>
        </p:nvSpPr>
        <p:spPr>
          <a:xfrm>
            <a:off x="9052560" y="1719072"/>
            <a:ext cx="20574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Now</a:t>
            </a:r>
            <a:endParaRPr lang="en-US" sz="2000" dirty="0"/>
          </a:p>
        </p:txBody>
      </p:sp>
      <p:sp>
        <p:nvSpPr>
          <p:cNvPr id="10" name="Text 6"/>
          <p:cNvSpPr/>
          <p:nvPr/>
        </p:nvSpPr>
        <p:spPr>
          <a:xfrm>
            <a:off x="9052560" y="2176272"/>
            <a:ext cx="20574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current, voltage, resistance, power</a:t>
            </a:r>
            <a:endParaRPr lang="en-US" sz="1500" dirty="0"/>
          </a:p>
        </p:txBody>
      </p:sp>
      <p:sp>
        <p:nvSpPr>
          <p:cNvPr id="11" name="Shape 7"/>
          <p:cNvSpPr/>
          <p:nvPr/>
        </p:nvSpPr>
        <p:spPr>
          <a:xfrm>
            <a:off x="8823960" y="2880360"/>
            <a:ext cx="2423160" cy="1051560"/>
          </a:xfrm>
          <a:prstGeom prst="rect">
            <a:avLst/>
          </a:prstGeom>
          <a:solidFill>
            <a:srgbClr val="FFFFFF"/>
          </a:solidFill>
          <a:ln w="12700">
            <a:solidFill>
              <a:srgbClr val="D8DEE8"/>
            </a:solidFill>
            <a:prstDash val="solid"/>
          </a:ln>
        </p:spPr>
      </p:sp>
      <p:sp>
        <p:nvSpPr>
          <p:cNvPr id="12" name="Shape 8"/>
          <p:cNvSpPr/>
          <p:nvPr/>
        </p:nvSpPr>
        <p:spPr>
          <a:xfrm>
            <a:off x="8823960" y="2880360"/>
            <a:ext cx="64008" cy="1051560"/>
          </a:xfrm>
          <a:prstGeom prst="rect">
            <a:avLst/>
          </a:prstGeom>
          <a:solidFill>
            <a:srgbClr val="E76F51"/>
          </a:solidFill>
          <a:ln w="12700">
            <a:solidFill>
              <a:srgbClr val="E76F51"/>
            </a:solidFill>
            <a:prstDash val="solid"/>
          </a:ln>
        </p:spPr>
      </p:sp>
      <p:sp>
        <p:nvSpPr>
          <p:cNvPr id="13" name="Text 9"/>
          <p:cNvSpPr/>
          <p:nvPr/>
        </p:nvSpPr>
        <p:spPr>
          <a:xfrm>
            <a:off x="9052560" y="3044952"/>
            <a:ext cx="20574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Next</a:t>
            </a:r>
            <a:endParaRPr lang="en-US" sz="2000" dirty="0"/>
          </a:p>
        </p:txBody>
      </p:sp>
      <p:sp>
        <p:nvSpPr>
          <p:cNvPr id="14" name="Text 10"/>
          <p:cNvSpPr/>
          <p:nvPr/>
        </p:nvSpPr>
        <p:spPr>
          <a:xfrm>
            <a:off x="9052560" y="3502152"/>
            <a:ext cx="20574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actual wire temperature during the sweep</a:t>
            </a:r>
            <a:endParaRPr lang="en-US" sz="1500" dirty="0"/>
          </a:p>
        </p:txBody>
      </p:sp>
      <p:sp>
        <p:nvSpPr>
          <p:cNvPr id="15" name="Shape 11"/>
          <p:cNvSpPr/>
          <p:nvPr/>
        </p:nvSpPr>
        <p:spPr>
          <a:xfrm>
            <a:off x="8823960" y="4206240"/>
            <a:ext cx="2423160" cy="1051560"/>
          </a:xfrm>
          <a:prstGeom prst="rect">
            <a:avLst/>
          </a:prstGeom>
          <a:solidFill>
            <a:srgbClr val="FFFFFF"/>
          </a:solidFill>
          <a:ln w="12700">
            <a:solidFill>
              <a:srgbClr val="D8DEE8"/>
            </a:solidFill>
            <a:prstDash val="solid"/>
          </a:ln>
        </p:spPr>
      </p:sp>
      <p:sp>
        <p:nvSpPr>
          <p:cNvPr id="16" name="Shape 12"/>
          <p:cNvSpPr/>
          <p:nvPr/>
        </p:nvSpPr>
        <p:spPr>
          <a:xfrm>
            <a:off x="8823960" y="4206240"/>
            <a:ext cx="64008" cy="1051560"/>
          </a:xfrm>
          <a:prstGeom prst="rect">
            <a:avLst/>
          </a:prstGeom>
          <a:solidFill>
            <a:srgbClr val="2A9D8F"/>
          </a:solidFill>
          <a:ln w="12700">
            <a:solidFill>
              <a:srgbClr val="2A9D8F"/>
            </a:solidFill>
            <a:prstDash val="solid"/>
          </a:ln>
        </p:spPr>
      </p:sp>
      <p:sp>
        <p:nvSpPr>
          <p:cNvPr id="17" name="Text 13"/>
          <p:cNvSpPr/>
          <p:nvPr/>
        </p:nvSpPr>
        <p:spPr>
          <a:xfrm>
            <a:off x="9052560" y="4370832"/>
            <a:ext cx="2057400" cy="320040"/>
          </a:xfrm>
          <a:prstGeom prst="rect">
            <a:avLst/>
          </a:prstGeom>
          <a:noFill/>
          <a:ln/>
        </p:spPr>
        <p:txBody>
          <a:bodyPr wrap="square" lIns="635" tIns="635" rIns="635" bIns="635" rtlCol="0" anchor="ctr">
            <a:normAutofit/>
          </a:bodyPr>
          <a:lstStyle/>
          <a:p>
            <a:pPr algn="l" indent="0" marL="0">
              <a:buNone/>
            </a:pPr>
            <a:r>
              <a:rPr lang="en-US" sz="2000" b="1" dirty="0">
                <a:solidFill>
                  <a:srgbClr val="172033"/>
                </a:solidFill>
                <a:latin typeface="Helvetica" pitchFamily="34" charset="0"/>
                <a:ea typeface="Helvetica" pitchFamily="34" charset="-122"/>
                <a:cs typeface="Helvetica" pitchFamily="34" charset="-120"/>
              </a:rPr>
              <a:t>Later</a:t>
            </a:r>
            <a:endParaRPr lang="en-US" sz="2000" dirty="0"/>
          </a:p>
        </p:txBody>
      </p:sp>
      <p:sp>
        <p:nvSpPr>
          <p:cNvPr id="18" name="Text 14"/>
          <p:cNvSpPr/>
          <p:nvPr/>
        </p:nvSpPr>
        <p:spPr>
          <a:xfrm>
            <a:off x="9052560" y="4828032"/>
            <a:ext cx="2057400" cy="301752"/>
          </a:xfrm>
          <a:prstGeom prst="rect">
            <a:avLst/>
          </a:prstGeom>
          <a:noFill/>
          <a:ln/>
        </p:spPr>
        <p:txBody>
          <a:bodyPr wrap="square" lIns="635" tIns="635" rIns="635" bIns="635" rtlCol="0" anchor="t">
            <a:normAutofit/>
          </a:bodyPr>
          <a:lstStyle/>
          <a:p>
            <a:pPr algn="l" indent="0" marL="0">
              <a:buNone/>
            </a:pPr>
            <a:r>
              <a:rPr lang="en-US" sz="1500" dirty="0">
                <a:solidFill>
                  <a:srgbClr val="5B677A"/>
                </a:solidFill>
                <a:latin typeface="Helvetica" pitchFamily="34" charset="0"/>
                <a:ea typeface="Helvetica" pitchFamily="34" charset="-122"/>
                <a:cs typeface="Helvetica" pitchFamily="34" charset="-120"/>
              </a:rPr>
              <a:t>temperature-strain data for elastocaloric studies</a:t>
            </a:r>
            <a:endParaRPr lang="en-US" sz="1500" dirty="0"/>
          </a:p>
        </p:txBody>
      </p:sp>
      <p:sp>
        <p:nvSpPr>
          <p:cNvPr id="19" name="Text 15"/>
          <p:cNvSpPr/>
          <p:nvPr/>
        </p:nvSpPr>
        <p:spPr>
          <a:xfrm>
            <a:off x="3977640" y="4343400"/>
            <a:ext cx="4297680" cy="411480"/>
          </a:xfrm>
          <a:prstGeom prst="rect">
            <a:avLst/>
          </a:prstGeom>
          <a:noFill/>
          <a:ln/>
        </p:spPr>
        <p:txBody>
          <a:bodyPr wrap="square" lIns="635" tIns="635" rIns="635" bIns="635" rtlCol="0" anchor="ctr">
            <a:normAutofit/>
          </a:bodyPr>
          <a:lstStyle/>
          <a:p>
            <a:pPr algn="ctr" indent="0" marL="0">
              <a:buNone/>
            </a:pPr>
            <a:r>
              <a:rPr lang="en-US" sz="1700" dirty="0">
                <a:solidFill>
                  <a:srgbClr val="5B677A"/>
                </a:solidFill>
                <a:latin typeface="Helvetica" pitchFamily="34" charset="0"/>
                <a:ea typeface="Helvetica" pitchFamily="34" charset="-122"/>
                <a:cs typeface="Helvetica" pitchFamily="34" charset="-120"/>
              </a:rPr>
              <a:t>Infrared camera data gives the missing temperature channel.</a:t>
            </a:r>
            <a:endParaRPr lang="en-US" sz="1700" dirty="0"/>
          </a:p>
        </p:txBody>
      </p:sp>
      <p:sp>
        <p:nvSpPr>
          <p:cNvPr id="21" name="Text 16"/>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13/14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778240" cy="411480"/>
          </a:xfrm>
          <a:prstGeom prst="rect">
            <a:avLst/>
          </a:prstGeom>
          <a:noFill/>
          <a:ln/>
        </p:spPr>
        <p:txBody>
          <a:bodyPr wrap="square" lIns="0" tIns="0" rIns="0" bIns="0" rtlCol="0" anchor="ctr">
            <a:normAutofit/>
          </a:bodyPr>
          <a:lstStyle/>
          <a:p>
            <a:pPr indent="0" marL="0">
              <a:buNone/>
            </a:pPr>
            <a:r>
              <a:rPr lang="en-US" sz="2800" b="1" dirty="0">
                <a:solidFill>
                  <a:srgbClr val="172033"/>
                </a:solidFill>
                <a:latin typeface="Helvetica Neue" pitchFamily="34" charset="0"/>
                <a:ea typeface="Helvetica Neue" pitchFamily="34" charset="-122"/>
                <a:cs typeface="Helvetica Neue" pitchFamily="34" charset="-120"/>
              </a:rPr>
              <a:t>AI made the prototype much faster</a:t>
            </a:r>
            <a:endParaRPr lang="en-US" sz="2800" dirty="0"/>
          </a:p>
        </p:txBody>
      </p:sp>
      <p:sp>
        <p:nvSpPr>
          <p:cNvPr id="3" name="Text 1"/>
          <p:cNvSpPr/>
          <p:nvPr/>
        </p:nvSpPr>
        <p:spPr>
          <a:xfrm>
            <a:off x="521208" y="749808"/>
            <a:ext cx="8686800" cy="256032"/>
          </a:xfrm>
          <a:prstGeom prst="rect">
            <a:avLst/>
          </a:prstGeom>
          <a:noFill/>
          <a:ln/>
        </p:spPr>
        <p:txBody>
          <a:bodyPr wrap="square" lIns="0" tIns="0" rIns="0" bIns="0" rtlCol="0" anchor="ctr">
            <a:normAutofit/>
          </a:bodyPr>
          <a:lstStyle/>
          <a:p>
            <a:pPr indent="0" marL="0">
              <a:buNone/>
            </a:pPr>
            <a:r>
              <a:rPr lang="en-US" sz="1200" dirty="0">
                <a:solidFill>
                  <a:srgbClr val="5B677A"/>
                </a:solidFill>
              </a:rPr>
              <a:t>The experimental idea still had to be tested in the lab</a:t>
            </a:r>
            <a:endParaRPr lang="en-US" sz="1200" dirty="0"/>
          </a:p>
        </p:txBody>
      </p:sp>
      <p:sp>
        <p:nvSpPr>
          <p:cNvPr id="4" name="Shape 2"/>
          <p:cNvSpPr/>
          <p:nvPr/>
        </p:nvSpPr>
        <p:spPr>
          <a:xfrm>
            <a:off x="502920" y="1042416"/>
            <a:ext cx="11155680" cy="0"/>
          </a:xfrm>
          <a:prstGeom prst="line">
            <a:avLst/>
          </a:prstGeom>
          <a:noFill/>
          <a:ln w="12700">
            <a:solidFill>
              <a:srgbClr val="D8DEE8"/>
            </a:solidFill>
            <a:prstDash val="solid"/>
          </a:ln>
        </p:spPr>
      </p:sp>
      <p:sp>
        <p:nvSpPr>
          <p:cNvPr id="5" name="Shape 3"/>
          <p:cNvSpPr/>
          <p:nvPr/>
        </p:nvSpPr>
        <p:spPr>
          <a:xfrm>
            <a:off x="685800" y="1828800"/>
            <a:ext cx="685800" cy="685800"/>
          </a:xfrm>
          <a:prstGeom prst="ellipse">
            <a:avLst/>
          </a:prstGeom>
          <a:solidFill>
            <a:srgbClr val="1F77B4"/>
          </a:solidFill>
          <a:ln w="12700">
            <a:solidFill>
              <a:srgbClr val="FFFFFF"/>
            </a:solidFill>
            <a:prstDash val="solid"/>
          </a:ln>
        </p:spPr>
      </p:sp>
      <p:sp>
        <p:nvSpPr>
          <p:cNvPr id="6" name="Text 4"/>
          <p:cNvSpPr/>
          <p:nvPr/>
        </p:nvSpPr>
        <p:spPr>
          <a:xfrm>
            <a:off x="914400"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7" name="Shape 5"/>
          <p:cNvSpPr/>
          <p:nvPr/>
        </p:nvSpPr>
        <p:spPr>
          <a:xfrm>
            <a:off x="1417320" y="2176272"/>
            <a:ext cx="841248" cy="0"/>
          </a:xfrm>
          <a:prstGeom prst="line">
            <a:avLst/>
          </a:prstGeom>
          <a:noFill/>
          <a:ln w="25400">
            <a:solidFill>
              <a:srgbClr val="D8DEE8"/>
            </a:solidFill>
            <a:prstDash val="solid"/>
            <a:headEnd type="none"/>
            <a:tailEnd type="triangle"/>
          </a:ln>
        </p:spPr>
      </p:sp>
      <p:sp>
        <p:nvSpPr>
          <p:cNvPr id="8" name="Text 6"/>
          <p:cNvSpPr/>
          <p:nvPr/>
        </p:nvSpPr>
        <p:spPr>
          <a:xfrm>
            <a:off x="429768"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idea</a:t>
            </a:r>
            <a:endParaRPr lang="en-US" sz="1800" dirty="0"/>
          </a:p>
        </p:txBody>
      </p:sp>
      <p:sp>
        <p:nvSpPr>
          <p:cNvPr id="9" name="Text 7"/>
          <p:cNvSpPr/>
          <p:nvPr/>
        </p:nvSpPr>
        <p:spPr>
          <a:xfrm>
            <a:off x="274320"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measurement need</a:t>
            </a:r>
            <a:endParaRPr lang="en-US" sz="1300" dirty="0"/>
          </a:p>
        </p:txBody>
      </p:sp>
      <p:sp>
        <p:nvSpPr>
          <p:cNvPr id="10" name="Shape 8"/>
          <p:cNvSpPr/>
          <p:nvPr/>
        </p:nvSpPr>
        <p:spPr>
          <a:xfrm>
            <a:off x="2532888" y="1828800"/>
            <a:ext cx="685800" cy="685800"/>
          </a:xfrm>
          <a:prstGeom prst="ellipse">
            <a:avLst/>
          </a:prstGeom>
          <a:solidFill>
            <a:srgbClr val="1F77B4"/>
          </a:solidFill>
          <a:ln w="12700">
            <a:solidFill>
              <a:srgbClr val="FFFFFF"/>
            </a:solidFill>
            <a:prstDash val="solid"/>
          </a:ln>
        </p:spPr>
      </p:sp>
      <p:sp>
        <p:nvSpPr>
          <p:cNvPr id="11" name="Text 9"/>
          <p:cNvSpPr/>
          <p:nvPr/>
        </p:nvSpPr>
        <p:spPr>
          <a:xfrm>
            <a:off x="2761488"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2" name="Shape 10"/>
          <p:cNvSpPr/>
          <p:nvPr/>
        </p:nvSpPr>
        <p:spPr>
          <a:xfrm>
            <a:off x="3264408" y="2176272"/>
            <a:ext cx="841248" cy="0"/>
          </a:xfrm>
          <a:prstGeom prst="line">
            <a:avLst/>
          </a:prstGeom>
          <a:noFill/>
          <a:ln w="25400">
            <a:solidFill>
              <a:srgbClr val="D8DEE8"/>
            </a:solidFill>
            <a:prstDash val="solid"/>
            <a:headEnd type="none"/>
            <a:tailEnd type="triangle"/>
          </a:ln>
        </p:spPr>
      </p:sp>
      <p:sp>
        <p:nvSpPr>
          <p:cNvPr id="13" name="Text 11"/>
          <p:cNvSpPr/>
          <p:nvPr/>
        </p:nvSpPr>
        <p:spPr>
          <a:xfrm>
            <a:off x="2276856"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components</a:t>
            </a:r>
            <a:endParaRPr lang="en-US" sz="1800" dirty="0"/>
          </a:p>
        </p:txBody>
      </p:sp>
      <p:sp>
        <p:nvSpPr>
          <p:cNvPr id="14" name="Text 12"/>
          <p:cNvSpPr/>
          <p:nvPr/>
        </p:nvSpPr>
        <p:spPr>
          <a:xfrm>
            <a:off x="2121408"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selected with AI help</a:t>
            </a:r>
            <a:endParaRPr lang="en-US" sz="1300" dirty="0"/>
          </a:p>
        </p:txBody>
      </p:sp>
      <p:sp>
        <p:nvSpPr>
          <p:cNvPr id="15" name="Shape 13"/>
          <p:cNvSpPr/>
          <p:nvPr/>
        </p:nvSpPr>
        <p:spPr>
          <a:xfrm>
            <a:off x="4379976" y="1828800"/>
            <a:ext cx="685800" cy="685800"/>
          </a:xfrm>
          <a:prstGeom prst="ellipse">
            <a:avLst/>
          </a:prstGeom>
          <a:solidFill>
            <a:srgbClr val="1F77B4"/>
          </a:solidFill>
          <a:ln w="12700">
            <a:solidFill>
              <a:srgbClr val="FFFFFF"/>
            </a:solidFill>
            <a:prstDash val="solid"/>
          </a:ln>
        </p:spPr>
      </p:sp>
      <p:sp>
        <p:nvSpPr>
          <p:cNvPr id="16" name="Text 14"/>
          <p:cNvSpPr/>
          <p:nvPr/>
        </p:nvSpPr>
        <p:spPr>
          <a:xfrm>
            <a:off x="4608576"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17" name="Shape 15"/>
          <p:cNvSpPr/>
          <p:nvPr/>
        </p:nvSpPr>
        <p:spPr>
          <a:xfrm>
            <a:off x="5111496" y="2176272"/>
            <a:ext cx="841248" cy="0"/>
          </a:xfrm>
          <a:prstGeom prst="line">
            <a:avLst/>
          </a:prstGeom>
          <a:noFill/>
          <a:ln w="25400">
            <a:solidFill>
              <a:srgbClr val="D8DEE8"/>
            </a:solidFill>
            <a:prstDash val="solid"/>
            <a:headEnd type="none"/>
            <a:tailEnd type="triangle"/>
          </a:ln>
        </p:spPr>
      </p:sp>
      <p:sp>
        <p:nvSpPr>
          <p:cNvPr id="18" name="Text 16"/>
          <p:cNvSpPr/>
          <p:nvPr/>
        </p:nvSpPr>
        <p:spPr>
          <a:xfrm>
            <a:off x="4123944"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wiring</a:t>
            </a:r>
            <a:endParaRPr lang="en-US" sz="1800" dirty="0"/>
          </a:p>
        </p:txBody>
      </p:sp>
      <p:sp>
        <p:nvSpPr>
          <p:cNvPr id="19" name="Text 17"/>
          <p:cNvSpPr/>
          <p:nvPr/>
        </p:nvSpPr>
        <p:spPr>
          <a:xfrm>
            <a:off x="3968496"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pin-by-pin guidance</a:t>
            </a:r>
            <a:endParaRPr lang="en-US" sz="1300" dirty="0"/>
          </a:p>
        </p:txBody>
      </p:sp>
      <p:sp>
        <p:nvSpPr>
          <p:cNvPr id="20" name="Shape 18"/>
          <p:cNvSpPr/>
          <p:nvPr/>
        </p:nvSpPr>
        <p:spPr>
          <a:xfrm>
            <a:off x="6227064" y="1828800"/>
            <a:ext cx="685800" cy="685800"/>
          </a:xfrm>
          <a:prstGeom prst="ellipse">
            <a:avLst/>
          </a:prstGeom>
          <a:solidFill>
            <a:srgbClr val="E76F51"/>
          </a:solidFill>
          <a:ln w="12700">
            <a:solidFill>
              <a:srgbClr val="FFFFFF"/>
            </a:solidFill>
            <a:prstDash val="solid"/>
          </a:ln>
        </p:spPr>
      </p:sp>
      <p:sp>
        <p:nvSpPr>
          <p:cNvPr id="21" name="Text 19"/>
          <p:cNvSpPr/>
          <p:nvPr/>
        </p:nvSpPr>
        <p:spPr>
          <a:xfrm>
            <a:off x="6455664"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4</a:t>
            </a:r>
            <a:endParaRPr lang="en-US" sz="1400" dirty="0"/>
          </a:p>
        </p:txBody>
      </p:sp>
      <p:sp>
        <p:nvSpPr>
          <p:cNvPr id="22" name="Shape 20"/>
          <p:cNvSpPr/>
          <p:nvPr/>
        </p:nvSpPr>
        <p:spPr>
          <a:xfrm>
            <a:off x="6958584" y="2176272"/>
            <a:ext cx="841248" cy="0"/>
          </a:xfrm>
          <a:prstGeom prst="line">
            <a:avLst/>
          </a:prstGeom>
          <a:noFill/>
          <a:ln w="25400">
            <a:solidFill>
              <a:srgbClr val="D8DEE8"/>
            </a:solidFill>
            <a:prstDash val="solid"/>
            <a:headEnd type="none"/>
            <a:tailEnd type="triangle"/>
          </a:ln>
        </p:spPr>
      </p:sp>
      <p:sp>
        <p:nvSpPr>
          <p:cNvPr id="23" name="Text 21"/>
          <p:cNvSpPr/>
          <p:nvPr/>
        </p:nvSpPr>
        <p:spPr>
          <a:xfrm>
            <a:off x="5971032"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drivers</a:t>
            </a:r>
            <a:endParaRPr lang="en-US" sz="1800" dirty="0"/>
          </a:p>
        </p:txBody>
      </p:sp>
      <p:sp>
        <p:nvSpPr>
          <p:cNvPr id="24" name="Text 22"/>
          <p:cNvSpPr/>
          <p:nvPr/>
        </p:nvSpPr>
        <p:spPr>
          <a:xfrm>
            <a:off x="5815584"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PC setup and checks</a:t>
            </a:r>
            <a:endParaRPr lang="en-US" sz="1300" dirty="0"/>
          </a:p>
        </p:txBody>
      </p:sp>
      <p:sp>
        <p:nvSpPr>
          <p:cNvPr id="25" name="Shape 23"/>
          <p:cNvSpPr/>
          <p:nvPr/>
        </p:nvSpPr>
        <p:spPr>
          <a:xfrm>
            <a:off x="8074152" y="1828800"/>
            <a:ext cx="685800" cy="685800"/>
          </a:xfrm>
          <a:prstGeom prst="ellipse">
            <a:avLst/>
          </a:prstGeom>
          <a:solidFill>
            <a:srgbClr val="E76F51"/>
          </a:solidFill>
          <a:ln w="12700">
            <a:solidFill>
              <a:srgbClr val="FFFFFF"/>
            </a:solidFill>
            <a:prstDash val="solid"/>
          </a:ln>
        </p:spPr>
      </p:sp>
      <p:sp>
        <p:nvSpPr>
          <p:cNvPr id="26" name="Text 24"/>
          <p:cNvSpPr/>
          <p:nvPr/>
        </p:nvSpPr>
        <p:spPr>
          <a:xfrm>
            <a:off x="8302752"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5</a:t>
            </a:r>
            <a:endParaRPr lang="en-US" sz="1400" dirty="0"/>
          </a:p>
        </p:txBody>
      </p:sp>
      <p:sp>
        <p:nvSpPr>
          <p:cNvPr id="27" name="Shape 25"/>
          <p:cNvSpPr/>
          <p:nvPr/>
        </p:nvSpPr>
        <p:spPr>
          <a:xfrm>
            <a:off x="8805672" y="2176272"/>
            <a:ext cx="841248" cy="0"/>
          </a:xfrm>
          <a:prstGeom prst="line">
            <a:avLst/>
          </a:prstGeom>
          <a:noFill/>
          <a:ln w="25400">
            <a:solidFill>
              <a:srgbClr val="D8DEE8"/>
            </a:solidFill>
            <a:prstDash val="solid"/>
            <a:headEnd type="none"/>
            <a:tailEnd type="triangle"/>
          </a:ln>
        </p:spPr>
      </p:sp>
      <p:sp>
        <p:nvSpPr>
          <p:cNvPr id="28" name="Text 26"/>
          <p:cNvSpPr/>
          <p:nvPr/>
        </p:nvSpPr>
        <p:spPr>
          <a:xfrm>
            <a:off x="7818120"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software</a:t>
            </a:r>
            <a:endParaRPr lang="en-US" sz="1800" dirty="0"/>
          </a:p>
        </p:txBody>
      </p:sp>
      <p:sp>
        <p:nvSpPr>
          <p:cNvPr id="29" name="Text 27"/>
          <p:cNvSpPr/>
          <p:nvPr/>
        </p:nvSpPr>
        <p:spPr>
          <a:xfrm>
            <a:off x="7662672"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Codex wrote and tested the app</a:t>
            </a:r>
            <a:endParaRPr lang="en-US" sz="1300" dirty="0"/>
          </a:p>
        </p:txBody>
      </p:sp>
      <p:sp>
        <p:nvSpPr>
          <p:cNvPr id="30" name="Shape 28"/>
          <p:cNvSpPr/>
          <p:nvPr/>
        </p:nvSpPr>
        <p:spPr>
          <a:xfrm>
            <a:off x="9921240" y="1828800"/>
            <a:ext cx="685800" cy="685800"/>
          </a:xfrm>
          <a:prstGeom prst="ellipse">
            <a:avLst/>
          </a:prstGeom>
          <a:solidFill>
            <a:srgbClr val="E76F51"/>
          </a:solidFill>
          <a:ln w="12700">
            <a:solidFill>
              <a:srgbClr val="FFFFFF"/>
            </a:solidFill>
            <a:prstDash val="solid"/>
          </a:ln>
        </p:spPr>
      </p:sp>
      <p:sp>
        <p:nvSpPr>
          <p:cNvPr id="31" name="Text 29"/>
          <p:cNvSpPr/>
          <p:nvPr/>
        </p:nvSpPr>
        <p:spPr>
          <a:xfrm>
            <a:off x="10149840" y="1993392"/>
            <a:ext cx="228600" cy="182880"/>
          </a:xfrm>
          <a:prstGeom prst="rect">
            <a:avLst/>
          </a:prstGeom>
          <a:noFill/>
          <a:ln/>
        </p:spPr>
        <p:txBody>
          <a:bodyPr wrap="square" lIns="635" tIns="635" rIns="635" bIns="635" rtlCol="0" anchor="ctr">
            <a:normAutofit/>
          </a:bodyPr>
          <a:lstStyle/>
          <a:p>
            <a:pPr algn="ctr" indent="0" marL="0">
              <a:buNone/>
            </a:pPr>
            <a:r>
              <a:rPr lang="en-US" sz="1400" b="1" dirty="0">
                <a:solidFill>
                  <a:srgbClr val="FFFFFF"/>
                </a:solidFill>
                <a:latin typeface="Helvetica" pitchFamily="34" charset="0"/>
                <a:ea typeface="Helvetica" pitchFamily="34" charset="-122"/>
                <a:cs typeface="Helvetica" pitchFamily="34" charset="-120"/>
              </a:rPr>
              <a:t>6</a:t>
            </a:r>
            <a:endParaRPr lang="en-US" sz="1400" dirty="0"/>
          </a:p>
        </p:txBody>
      </p:sp>
      <p:sp>
        <p:nvSpPr>
          <p:cNvPr id="32" name="Text 30"/>
          <p:cNvSpPr/>
          <p:nvPr/>
        </p:nvSpPr>
        <p:spPr>
          <a:xfrm>
            <a:off x="9665208" y="2743200"/>
            <a:ext cx="1234440" cy="256032"/>
          </a:xfrm>
          <a:prstGeom prst="rect">
            <a:avLst/>
          </a:prstGeom>
          <a:noFill/>
          <a:ln/>
        </p:spPr>
        <p:txBody>
          <a:bodyPr wrap="square" lIns="635" tIns="635" rIns="635" bIns="635" rtlCol="0" anchor="ctr">
            <a:normAutofit/>
          </a:bodyPr>
          <a:lstStyle/>
          <a:p>
            <a:pPr algn="ctr" indent="0" marL="0">
              <a:buNone/>
            </a:pPr>
            <a:r>
              <a:rPr lang="en-US" sz="1800" b="1" dirty="0">
                <a:solidFill>
                  <a:srgbClr val="172033"/>
                </a:solidFill>
                <a:latin typeface="Helvetica" pitchFamily="34" charset="0"/>
                <a:ea typeface="Helvetica" pitchFamily="34" charset="-122"/>
                <a:cs typeface="Helvetica" pitchFamily="34" charset="-120"/>
              </a:rPr>
              <a:t>prototype</a:t>
            </a:r>
            <a:endParaRPr lang="en-US" sz="1800" dirty="0"/>
          </a:p>
        </p:txBody>
      </p:sp>
      <p:sp>
        <p:nvSpPr>
          <p:cNvPr id="33" name="Text 31"/>
          <p:cNvSpPr/>
          <p:nvPr/>
        </p:nvSpPr>
        <p:spPr>
          <a:xfrm>
            <a:off x="9509760" y="3081528"/>
            <a:ext cx="1554480" cy="502920"/>
          </a:xfrm>
          <a:prstGeom prst="rect">
            <a:avLst/>
          </a:prstGeom>
          <a:noFill/>
          <a:ln/>
        </p:spPr>
        <p:txBody>
          <a:bodyPr wrap="square" lIns="635" tIns="635" rIns="635" bIns="635" rtlCol="0" anchor="t">
            <a:normAutofit/>
          </a:bodyPr>
          <a:lstStyle/>
          <a:p>
            <a:pPr algn="ctr" indent="0" marL="0">
              <a:buNone/>
            </a:pPr>
            <a:r>
              <a:rPr lang="en-US" sz="1300" dirty="0">
                <a:solidFill>
                  <a:srgbClr val="5B677A"/>
                </a:solidFill>
                <a:latin typeface="Helvetica" pitchFamily="34" charset="0"/>
                <a:ea typeface="Helvetica" pitchFamily="34" charset="-122"/>
                <a:cs typeface="Helvetica" pitchFamily="34" charset="-120"/>
              </a:rPr>
              <a:t>working in about two weeks</a:t>
            </a:r>
            <a:endParaRPr lang="en-US" sz="1300" dirty="0"/>
          </a:p>
        </p:txBody>
      </p:sp>
      <p:sp>
        <p:nvSpPr>
          <p:cNvPr id="34" name="Text 32"/>
          <p:cNvSpPr/>
          <p:nvPr/>
        </p:nvSpPr>
        <p:spPr>
          <a:xfrm>
            <a:off x="1234440" y="5074920"/>
            <a:ext cx="9692640" cy="502920"/>
          </a:xfrm>
          <a:prstGeom prst="rect">
            <a:avLst/>
          </a:prstGeom>
          <a:noFill/>
          <a:ln/>
        </p:spPr>
        <p:txBody>
          <a:bodyPr wrap="square" lIns="635" tIns="635" rIns="635" bIns="635" rtlCol="0" anchor="ctr">
            <a:normAutofit/>
          </a:bodyPr>
          <a:lstStyle/>
          <a:p>
            <a:pPr algn="ctr" indent="0" marL="0">
              <a:buNone/>
            </a:pPr>
            <a:r>
              <a:rPr lang="en-US" sz="2700" b="1" dirty="0">
                <a:solidFill>
                  <a:srgbClr val="172033"/>
                </a:solidFill>
                <a:latin typeface="Helvetica" pitchFamily="34" charset="0"/>
                <a:ea typeface="Helvetica" pitchFamily="34" charset="-122"/>
                <a:cs typeface="Helvetica" pitchFamily="34" charset="-120"/>
              </a:rPr>
              <a:t>AI compressed the engineering path. The validation remains experimental.</a:t>
            </a:r>
            <a:endParaRPr lang="en-US" sz="2700" dirty="0"/>
          </a:p>
        </p:txBody>
      </p:sp>
      <p:sp>
        <p:nvSpPr>
          <p:cNvPr id="36" name="Text 33"/>
          <p:cNvSpPr/>
          <p:nvPr/>
        </p:nvSpPr>
        <p:spPr>
          <a:xfrm>
            <a:off x="11201400" y="6428232"/>
            <a:ext cx="502920" cy="164592"/>
          </a:xfrm>
          <a:prstGeom prst="rect">
            <a:avLst/>
          </a:prstGeom>
          <a:noFill/>
          <a:ln/>
        </p:spPr>
        <p:txBody>
          <a:bodyPr wrap="square" lIns="0" tIns="0" rIns="0" bIns="0" rtlCol="0" anchor="ctr"/>
          <a:lstStyle/>
          <a:p>
            <a:pPr algn="r" indent="0" marL="0">
              <a:buNone/>
            </a:pPr>
            <a:r>
              <a:rPr lang="en-US" sz="900" dirty="0">
                <a:solidFill>
                  <a:srgbClr val="5B677A"/>
                </a:solidFill>
              </a:rPr>
              <a:t>14/14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Technicka univerzita v Kosiciach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Instrumentation for Ni-Fe-Ga microwire research</dc:title>
  <dc:subject>Mini DMA colloquium presentation</dc:subject>
  <dc:creator>Martin Elias</dc:creator>
  <cp:lastModifiedBy>Martin Elias</cp:lastModifiedBy>
  <cp:revision>1</cp:revision>
  <dcterms:created xsi:type="dcterms:W3CDTF">2026-05-20T19:17:27Z</dcterms:created>
  <dcterms:modified xsi:type="dcterms:W3CDTF">2026-05-20T19:17:27Z</dcterms:modified>
</cp:coreProperties>
</file>