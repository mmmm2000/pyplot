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acc13d8dd4967" /><Relationship Type="http://schemas.openxmlformats.org/officeDocument/2006/relationships/extended-properties" Target="/docProps/app.xml" Id="Rf5e2568b789040dd" /><Relationship Type="http://schemas.openxmlformats.org/officeDocument/2006/relationships/officeDocument" Target="/ppt/presentation.xml" Id="R424d272f71f6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cb5b78e9b4405e"/>
  </p:sldMasterIdLst>
  <p:notesMasterIdLst>
    <p:notesMasterId xmlns:r="http://schemas.openxmlformats.org/officeDocument/2006/relationships" r:id="R2a0c39a6fbbc4782"/>
  </p:notesMasterIdLst>
  <p:sldIdLst>
    <p:sldId xmlns:r="http://schemas.openxmlformats.org/officeDocument/2006/relationships" id="256" r:id="Rf05d85a42873402a"/>
    <p:sldId xmlns:r="http://schemas.openxmlformats.org/officeDocument/2006/relationships" id="257" r:id="R121d514486ae4071"/>
    <p:sldId xmlns:r="http://schemas.openxmlformats.org/officeDocument/2006/relationships" id="258" r:id="Re52bb0048cb94622"/>
    <p:sldId xmlns:r="http://schemas.openxmlformats.org/officeDocument/2006/relationships" id="259" r:id="Rcce14e0bac7b4050"/>
    <p:sldId xmlns:r="http://schemas.openxmlformats.org/officeDocument/2006/relationships" id="260" r:id="R45b1fffe009b45e5"/>
    <p:sldId xmlns:r="http://schemas.openxmlformats.org/officeDocument/2006/relationships" id="261" r:id="Rdd3c78cd13c74642"/>
    <p:sldId xmlns:r="http://schemas.openxmlformats.org/officeDocument/2006/relationships" id="262" r:id="R74cc233b2e7245f3"/>
    <p:sldId xmlns:r="http://schemas.openxmlformats.org/officeDocument/2006/relationships" id="263" r:id="R86b1321d2e1648ab"/>
    <p:sldId xmlns:r="http://schemas.openxmlformats.org/officeDocument/2006/relationships" id="264" r:id="Re8d8f92d47ee4230"/>
    <p:sldId xmlns:r="http://schemas.openxmlformats.org/officeDocument/2006/relationships" id="265" r:id="R779cbd829ea34e8b"/>
    <p:sldId xmlns:r="http://schemas.openxmlformats.org/officeDocument/2006/relationships" id="266" r:id="R7f0c931e8944453c"/>
    <p:sldId xmlns:r="http://schemas.openxmlformats.org/officeDocument/2006/relationships" id="267" r:id="Rb83a39b484e84d9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b5b78e9b4405e" /><Relationship Type="http://schemas.openxmlformats.org/officeDocument/2006/relationships/theme" Target="/ppt/theme/theme1.xml" Id="Rea9f574ed5294ae3" /><Relationship Type="http://schemas.openxmlformats.org/officeDocument/2006/relationships/notesMaster" Target="/ppt/notesMasters/notesMaster1.xml" Id="R2a0c39a6fbbc4782" /><Relationship Type="http://schemas.openxmlformats.org/officeDocument/2006/relationships/presProps" Target="/ppt/presProps.xml" Id="R2a40c393db8e457f" /><Relationship Type="http://schemas.openxmlformats.org/officeDocument/2006/relationships/viewProps" Target="/ppt/viewProps.xml" Id="R5e30076fbdb8448d" /><Relationship Type="http://schemas.openxmlformats.org/officeDocument/2006/relationships/tableStyles" Target="/ppt/tableStyles.xml" Id="R564e0cb2faeb47d9" /><Relationship Type="http://schemas.openxmlformats.org/officeDocument/2006/relationships/slide" Target="/ppt/slides/slide1.xml" Id="Rf05d85a42873402a" /><Relationship Type="http://schemas.openxmlformats.org/officeDocument/2006/relationships/slide" Target="/ppt/slides/slide2.xml" Id="R121d514486ae4071" /><Relationship Type="http://schemas.openxmlformats.org/officeDocument/2006/relationships/slide" Target="/ppt/slides/slide3.xml" Id="Re52bb0048cb94622" /><Relationship Type="http://schemas.openxmlformats.org/officeDocument/2006/relationships/slide" Target="/ppt/slides/slide4.xml" Id="Rcce14e0bac7b4050" /><Relationship Type="http://schemas.openxmlformats.org/officeDocument/2006/relationships/slide" Target="/ppt/slides/slide5.xml" Id="R45b1fffe009b45e5" /><Relationship Type="http://schemas.openxmlformats.org/officeDocument/2006/relationships/slide" Target="/ppt/slides/slide6.xml" Id="Rdd3c78cd13c74642" /><Relationship Type="http://schemas.openxmlformats.org/officeDocument/2006/relationships/slide" Target="/ppt/slides/slide7.xml" Id="R74cc233b2e7245f3" /><Relationship Type="http://schemas.openxmlformats.org/officeDocument/2006/relationships/slide" Target="/ppt/slides/slide8.xml" Id="R86b1321d2e1648ab" /><Relationship Type="http://schemas.openxmlformats.org/officeDocument/2006/relationships/slide" Target="/ppt/slides/slide9.xml" Id="Re8d8f92d47ee4230" /><Relationship Type="http://schemas.openxmlformats.org/officeDocument/2006/relationships/slide" Target="/ppt/slides/slide10.xml" Id="R779cbd829ea34e8b" /><Relationship Type="http://schemas.openxmlformats.org/officeDocument/2006/relationships/slide" Target="/ppt/slides/slide11.xml" Id="R7f0c931e8944453c" /><Relationship Type="http://schemas.openxmlformats.org/officeDocument/2006/relationships/slide" Target="/ppt/slides/slide12.xml" Id="Rb83a39b484e8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c6596953cfb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7483e265542af" /><Relationship Type="http://schemas.openxmlformats.org/officeDocument/2006/relationships/notesMaster" Target="/ppt/notesMasters/notesMaster1.xml" Id="Rd0efa69022a8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7e4f690564e10" /><Relationship Type="http://schemas.openxmlformats.org/officeDocument/2006/relationships/notesMaster" Target="/ppt/notesMasters/notesMaster1.xml" Id="R6ad71873112a46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080a1d5afd4afc" /><Relationship Type="http://schemas.openxmlformats.org/officeDocument/2006/relationships/notesMaster" Target="/ppt/notesMasters/notesMaster1.xml" Id="Red0b74a847ee44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7b604029b4da2" /><Relationship Type="http://schemas.openxmlformats.org/officeDocument/2006/relationships/notesMaster" Target="/ppt/notesMasters/notesMaster1.xml" Id="Rddc4553d377e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49868440f43bf" /><Relationship Type="http://schemas.openxmlformats.org/officeDocument/2006/relationships/notesMaster" Target="/ppt/notesMasters/notesMaster1.xml" Id="R4ef6463a7c454d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35fc29c88b4fa1" /><Relationship Type="http://schemas.openxmlformats.org/officeDocument/2006/relationships/notesMaster" Target="/ppt/notesMasters/notesMaster1.xml" Id="Race20a3a4dfe4b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c7edf18484d50" /><Relationship Type="http://schemas.openxmlformats.org/officeDocument/2006/relationships/notesMaster" Target="/ppt/notesMasters/notesMaster1.xml" Id="Rf99ad0faeb0343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82eec0af848c1" /><Relationship Type="http://schemas.openxmlformats.org/officeDocument/2006/relationships/notesMaster" Target="/ppt/notesMasters/notesMaster1.xml" Id="Re71dc15069fa46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19c6a025340dc" /><Relationship Type="http://schemas.openxmlformats.org/officeDocument/2006/relationships/notesMaster" Target="/ppt/notesMasters/notesMaster1.xml" Id="Rbb240848367444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f472164794b62" /><Relationship Type="http://schemas.openxmlformats.org/officeDocument/2006/relationships/notesMaster" Target="/ppt/notesMasters/notesMaster1.xml" Id="Rda2d6f5fc47c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723caa8f5d4255" /><Relationship Type="http://schemas.openxmlformats.org/officeDocument/2006/relationships/notesMaster" Target="/ppt/notesMasters/notesMaster1.xml" Id="Rbddba2c931c14a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ac9b82784f4c80" /><Relationship Type="http://schemas.openxmlformats.org/officeDocument/2006/relationships/notesMaster" Target="/ppt/notesMasters/notesMaster1.xml" Id="R549808c94fbf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Limpat has already introduced the microwire side, so I would not spend time repeating that.</a:t>
            </a:r>
          </a:p>
          <a:p xmlns:a="http://schemas.openxmlformats.org/drawingml/2006/main">
            <a:r>
              <a:t>    I would start by saying: I will show the instrumentation problem that appeared once we began preparing many wires.</a:t>
            </a:r>
          </a:p>
          <a:p xmlns:a="http://schemas.openxmlformats.org/drawingml/2006/main">
            <a:r>
              <a:t>    The key message is that this is not a single-machine story; it is a workflow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phrase this naturally: the practical goal is not just to measure one nice wire.</a:t>
            </a:r>
          </a:p>
          <a:p xmlns:a="http://schemas.openxmlformats.org/drawingml/2006/main">
            <a:r>
              <a:t>    The goal is to understand how to prepare good wires reproducibly.</a:t>
            </a:r>
          </a:p>
          <a:p xmlns:a="http://schemas.openxmlformats.org/drawingml/2006/main">
            <a:r>
              <a:t>    That means I need a way to make quick decisions before investing time in the slow, precise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motivation slide. I would not over-explain the matrix.</a:t>
            </a:r>
          </a:p>
          <a:p xmlns:a="http://schemas.openxmlformats.org/drawingml/2006/main">
            <a:r>
              <a:t>    Just say that each change in preparation creates a new measurement branch, and if every branch needs commercial DMA first, the project becomes too slow.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clean bridge into DMA.</a:t>
            </a:r>
          </a:p>
          <a:p xmlns:a="http://schemas.openxmlformats.org/drawingml/2006/main">
            <a:r>
              <a:t>    I would say: for each wire I need transition temperatures, strain values, stress dependence, and now also current/power.</a:t>
            </a:r>
          </a:p>
          <a:p xmlns:a="http://schemas.openxmlformats.org/drawingml/2006/main">
            <a:r>
              <a:t>    These are not just nice plots; they are criteria for choosing the next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be fair here: commercial DMA is not the problem; it is the reference method.</a:t>
            </a:r>
          </a:p>
          <a:p xmlns:a="http://schemas.openxmlformats.org/drawingml/2006/main">
            <a:r>
              <a:t>    The problem is using it as the first filter for many samples.</a:t>
            </a:r>
          </a:p>
          <a:p xmlns:a="http://schemas.openxmlformats.org/drawingml/2006/main">
            <a:r>
              <a:t>    It gives excellent strain and temperature values, but it takes time and consumes liquid nitrogen.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logic of the talk.</a:t>
            </a:r>
          </a:p>
          <a:p xmlns:a="http://schemas.openxmlformats.org/drawingml/2006/main">
            <a:r>
              <a:t>    I would say: I am not trying to replace the commercial DMA.</a:t>
            </a:r>
          </a:p>
          <a:p xmlns:a="http://schemas.openxmlformats.org/drawingml/2006/main">
            <a:r>
              <a:t>    I am trying to build the missing middle step: enough precision and control to decide which samples are worth validating.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introduce the setup physically: one side is a motorized stage, the load is monitored by a balance, and the source meter gives the electrical part.</a:t>
            </a:r>
          </a:p>
          <a:p xmlns:a="http://schemas.openxmlformats.org/drawingml/2006/main">
            <a:r>
              <a:t>    The important point is synchronization: current, resistance, power, displacement, and load are recorded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I would slow down for a few seconds.</a:t>
            </a:r>
          </a:p>
          <a:p xmlns:a="http://schemas.openxmlformats.org/drawingml/2006/main">
            <a:r>
              <a:t>    A gram sounds small, but for a 13 micrometer wire it is already tens of MPa.</a:t>
            </a:r>
          </a:p>
          <a:p xmlns:a="http://schemas.openxmlformats.org/drawingml/2006/main">
            <a:r>
              <a:t>    That makes the balance feedback and control algorithm necessary, not cosmetic.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explain only the practical idea.</a:t>
            </a:r>
          </a:p>
          <a:p xmlns:a="http://schemas.openxmlformats.org/drawingml/2006/main">
            <a:r>
              <a:t>    First the setup estimates l0 from a preload/unload sequence.</a:t>
            </a:r>
          </a:p>
          <a:p xmlns:a="http://schemas.openxmlformats.org/drawingml/2006/main">
            <a:r>
              <a:t>    Then, during a stress plateau, it uses fresh balance readings and smaller corrections near the target so it does not overshoot.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place to mention the merged plotting functionality.</a:t>
            </a:r>
          </a:p>
          <a:p xmlns:a="http://schemas.openxmlformats.org/drawingml/2006/main">
            <a:r>
              <a:t>    I would say: because current and resistance are logged together, power is not an extra measurement.</a:t>
            </a:r>
          </a:p>
          <a:p xmlns:a="http://schemas.openxmlformats.org/drawingml/2006/main">
            <a:r>
              <a:t>    The Mini DMA plots can put power on the top axis, which is more physically useful for Joule-heated actuation than current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be careful not to overclaim.</a:t>
            </a:r>
          </a:p>
          <a:p xmlns:a="http://schemas.openxmlformats.org/drawingml/2006/main">
            <a:r>
              <a:t>    The machine is already producing controlled sweeps and synchronized logs.</a:t>
            </a:r>
          </a:p>
          <a:p xmlns:a="http://schemas.openxmlformats.org/drawingml/2006/main">
            <a:r>
              <a:t>    The next scientific step is validation against commercial DMA, especially for samples where the screening trace looks promising.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closing reflection, not a sales pitch.</a:t>
            </a:r>
          </a:p>
          <a:p xmlns:a="http://schemas.openxmlformats.org/drawingml/2006/main">
            <a:r>
              <a:t>    I would say: the unusual part is how the instrument was built.</a:t>
            </a:r>
          </a:p>
          <a:p xmlns:a="http://schemas.openxmlformats.org/drawingml/2006/main">
            <a:r>
              <a:t>    ChatGPT helped choose components and wiring, Codex installed drivers, read manuals, and wrote the software.</a:t>
            </a:r>
          </a:p>
          <a:p xmlns:a="http://schemas.openxmlformats.org/drawingml/2006/main">
            <a:r>
              <a:t>    A task that would normally need several people and much more time became possible for one person with a clear physical idea.</a:t>
            </a:r>
          </a:p>
          <a:p xmlns:a="http://schemas.openxmlformats.org/drawingml/2006/main">
            <a:r>
              <a:t>    But the final proof still comes from the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a5cab5d25484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b7fa1aea7de4157" /><Relationship Type="http://schemas.openxmlformats.org/officeDocument/2006/relationships/slideLayout" Target="/ppt/slideLayouts/slideLayout2.xml" Id="R57e1d75676fb42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1d75676fb42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dd5e1b3e1471f" /><Relationship Type="http://schemas.openxmlformats.org/officeDocument/2006/relationships/image" Target="/ppt/media/image.png" Id="Rb8e5bfed28b245ae" /><Relationship Type="http://schemas.openxmlformats.org/officeDocument/2006/relationships/notesSlide" Target="/ppt/notesSlides/notesSlide1.xml" Id="R6ac99c6704ba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f542bb2164ebe" /><Relationship Type="http://schemas.openxmlformats.org/officeDocument/2006/relationships/notesSlide" Target="/ppt/notesSlides/notesSlide2.xml" Id="R45dab3d4876945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c62c361cc4da2" /><Relationship Type="http://schemas.openxmlformats.org/officeDocument/2006/relationships/notesSlide" Target="/ppt/notesSlides/notesSlide3.xml" Id="R51530ab7d9f6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69b98c5ce1410c" /><Relationship Type="http://schemas.openxmlformats.org/officeDocument/2006/relationships/notesSlide" Target="/ppt/notesSlides/notesSlide4.xml" Id="Rd4225c5343e2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4cdca931641f4" /><Relationship Type="http://schemas.openxmlformats.org/officeDocument/2006/relationships/image" Target="/ppt/media/image2.png" Id="R6b0d6b2004d44518" /><Relationship Type="http://schemas.openxmlformats.org/officeDocument/2006/relationships/notesSlide" Target="/ppt/notesSlides/notesSlide5.xml" Id="R0a3af55bba86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43791199c4a75" /><Relationship Type="http://schemas.openxmlformats.org/officeDocument/2006/relationships/notesSlide" Target="/ppt/notesSlides/notesSlide6.xml" Id="R9858b470649444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6ee29214af4b18" /><Relationship Type="http://schemas.openxmlformats.org/officeDocument/2006/relationships/image" Target="/ppt/media/image3.png" Id="R103c84e64ba34952" /><Relationship Type="http://schemas.openxmlformats.org/officeDocument/2006/relationships/notesSlide" Target="/ppt/notesSlides/notesSlide7.xml" Id="Rcb42143e8023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ec65d04d9c419c" /><Relationship Type="http://schemas.openxmlformats.org/officeDocument/2006/relationships/image" Target="/ppt/media/image4.png" Id="Rfacbebf3541b43c4" /><Relationship Type="http://schemas.openxmlformats.org/officeDocument/2006/relationships/image" Target="/ppt/media/image5.png" Id="R5576f50f490a4d81" /><Relationship Type="http://schemas.openxmlformats.org/officeDocument/2006/relationships/notesSlide" Target="/ppt/notesSlides/notesSlide8.xml" Id="Rc4d854914a31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abcef735d945ba" /><Relationship Type="http://schemas.openxmlformats.org/officeDocument/2006/relationships/image" Target="/ppt/media/image6.png" Id="R0b86a424047e4352" /><Relationship Type="http://schemas.openxmlformats.org/officeDocument/2006/relationships/image" Target="/ppt/media/image7.png" Id="R376de9695f354d04" /><Relationship Type="http://schemas.openxmlformats.org/officeDocument/2006/relationships/notesSlide" Target="/ppt/notesSlides/notesSlide9.xml" Id="Re7bea72473db4c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2198612b0e4841" /><Relationship Type="http://schemas.openxmlformats.org/officeDocument/2006/relationships/image" Target="/ppt/media/image8.png" Id="Rf814b424983d47d5" /><Relationship Type="http://schemas.openxmlformats.org/officeDocument/2006/relationships/notesSlide" Target="/ppt/notesSlides/notesSlide10.xml" Id="R646aef91f69447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14862061b4e97" /><Relationship Type="http://schemas.openxmlformats.org/officeDocument/2006/relationships/image" Target="/ppt/media/image.jpeg" Id="R8c4f42b34fd74222" /><Relationship Type="http://schemas.openxmlformats.org/officeDocument/2006/relationships/notesSlide" Target="/ppt/notesSlides/notesSlide11.xml" Id="R0b71828e134944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d5c97bbc74ae7" /><Relationship Type="http://schemas.openxmlformats.org/officeDocument/2006/relationships/image" Target="/ppt/media/image2.jpeg" Id="Ra828581f595a4fd9" /><Relationship Type="http://schemas.openxmlformats.org/officeDocument/2006/relationships/notesSlide" Target="/ppt/notesSlides/notesSlide12.xml" Id="Rabf9e10ad46441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6D74CEF-381F-4C88-89D5-97A4D15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NI-FE-GA COLLOQUIUM / 21 MAY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4BB5D-4423-4A4E-A8FE-6A4A463E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68199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1828"/>
                </a:solidFill>
              </a:defRPr>
            </a:pPr>
            <a:r>
              <a:rPr sz="4800" b="1">
                <a:solidFill>
                  <a:srgbClr val="101828"/>
                </a:solidFill>
              </a:rPr>
              <a:t>Instrumentation for Ni-Fe-Ga microwire research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8DC7D4F-D914-4261-87B0-3386CBC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E9200-796A-4F60-A316-F0A6EAC4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6819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475467"/>
                </a:solidFill>
              </a:defRPr>
            </a:pPr>
            <a:r>
              <a:rPr sz="2550">
                <a:solidFill>
                  <a:srgbClr val="475467"/>
                </a:solidFill>
              </a:rPr>
              <a:t>Faster measurement workflow for preparation mapping.</a:t>
            </a:r>
          </a:p>
        </p:txBody>
      </p:sp>
      <p:sp>
        <p:nvSpPr>
          <p:cNvPr id="5" name="pill-Mini DMA">
            <a:extLst xmlns:a="http://schemas.openxmlformats.org/drawingml/2006/main">
              <a:ext uri="{FF2B5EF4-FFF2-40B4-BE49-F238E27FC236}">
                <a16:creationId xmlns:a16="http://schemas.microsoft.com/office/drawing/2014/main" id="{001701B5-CD12-44EB-91CB-01D83549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7295"/>
            <a:ext cx="1619250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3747-CBC8-43C5-88AB-0F7AFCF8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7490"/>
                </a:solidFill>
              </a:defRPr>
            </a:pPr>
            <a:r>
              <a:rPr sz="1725" b="1">
                <a:solidFill>
                  <a:srgbClr val="0E7490"/>
                </a:solidFill>
              </a:rPr>
              <a:t>Mini DMA</a:t>
            </a:r>
          </a:p>
        </p:txBody>
      </p:sp>
      <p:sp>
        <p:nvSpPr>
          <p:cNvPr id="7" name="pill-screening">
            <a:extLst xmlns:a="http://schemas.openxmlformats.org/drawingml/2006/main">
              <a:ext uri="{FF2B5EF4-FFF2-40B4-BE49-F238E27FC236}">
                <a16:creationId xmlns:a16="http://schemas.microsoft.com/office/drawing/2014/main" id="{6B897E2F-B2F1-400D-A148-BE6DD557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7295"/>
            <a:ext cx="1666875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E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7AE5D-BDE8-45DA-B414-F971F8B8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43500"/>
            <a:ext cx="129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B4D89"/>
                </a:solidFill>
              </a:defRPr>
            </a:pPr>
            <a:r>
              <a:rPr sz="1725" b="1">
                <a:solidFill>
                  <a:srgbClr val="1B4D89"/>
                </a:solidFill>
              </a:rPr>
              <a:t>screening</a:t>
            </a:r>
          </a:p>
        </p:txBody>
      </p:sp>
      <p:sp>
        <p:nvSpPr>
          <p:cNvPr id="9" name="pill-validation">
            <a:extLst xmlns:a="http://schemas.openxmlformats.org/drawingml/2006/main">
              <a:ext uri="{FF2B5EF4-FFF2-40B4-BE49-F238E27FC236}">
                <a16:creationId xmlns:a16="http://schemas.microsoft.com/office/drawing/2014/main" id="{52A04725-B6FD-46AE-87C7-7C40706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27295"/>
            <a:ext cx="1666875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5E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9E242-5A51-4BB2-BEED-41363EEC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129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F7D32"/>
                </a:solidFill>
              </a:defRPr>
            </a:pPr>
            <a:r>
              <a:rPr sz="1725" b="1">
                <a:solidFill>
                  <a:srgbClr val="3F7D32"/>
                </a:solidFill>
              </a:rPr>
              <a:t>validation</a:t>
            </a:r>
          </a:p>
        </p:txBody>
      </p:sp>
      <p:sp>
        <p:nvSpPr>
          <p:cNvPr id="11" name="cover-image">
            <a:extLst xmlns:a="http://schemas.openxmlformats.org/drawingml/2006/main">
              <a:ext uri="{FF2B5EF4-FFF2-40B4-BE49-F238E27FC236}">
                <a16:creationId xmlns:a16="http://schemas.microsoft.com/office/drawing/2014/main" id="{EB74A199-95F1-417E-82F6-CF1F7DBA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570" y="723900"/>
            <a:ext cx="9045130" cy="8328660"/>
          </a:xfrm>
          <a:prstGeom xmlns:a="http://schemas.openxmlformats.org/drawingml/2006/main" prst="roundRect">
            <a:avLst>
              <a:gd name="adj" fmla="val 915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2" name="Mini DMA setu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5bfed28b245ae"/>
          <a:srcRect xmlns:a="http://schemas.openxmlformats.org/drawingml/2006/main" l="9285" t="0" r="92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6570" y="723900"/>
            <a:ext cx="9045130" cy="8328660"/>
          </a:xfrm>
          <a:prstGeom xmlns:a="http://schemas.openxmlformats.org/drawingml/2006/main" prst="rect">
            <a:avLst/>
          </a:prstGeom>
        </p:spPr>
      </p:pic>
      <p:sp>
        <p:nvSpPr>
          <p:cNvPr id="13" name="author">
            <a:extLst xmlns:a="http://schemas.openxmlformats.org/drawingml/2006/main">
              <a:ext uri="{FF2B5EF4-FFF2-40B4-BE49-F238E27FC236}">
                <a16:creationId xmlns:a16="http://schemas.microsoft.com/office/drawing/2014/main" id="{77E4AE9C-C455-40A3-AE2E-D0F69C9A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9640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7085"/>
                </a:solidFill>
              </a:defRPr>
            </a:pPr>
            <a:r>
              <a:rPr sz="1725">
                <a:solidFill>
                  <a:srgbClr val="667085"/>
                </a:solidFill>
              </a:rPr>
              <a:t>Martin Elias</a:t>
            </a:r>
          </a:p>
        </p:txBody>
      </p:sp>
    </p:spTree>
    <p:extLst>
      <p:ext uri="{BB962C8B-B14F-4D97-AF65-F5344CB8AC3E}">
        <p14:creationId xmlns:p14="http://schemas.microsoft.com/office/powerpoint/2010/main" val="26706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9BD7B83-A2F8-41CC-A9C7-23287F5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547BD3-C2DB-45AB-B910-9E2B7695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The goal is preparation, not a single plot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E809E9E-C95C-4346-8BFF-20E2A87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F8CFA-17E0-40C5-8077-C513F91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89154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1828"/>
                </a:solidFill>
              </a:defRPr>
            </a:pPr>
            <a:r>
              <a:rPr sz="2850">
                <a:solidFill>
                  <a:srgbClr val="101828"/>
                </a:solidFill>
              </a:rPr>
              <a:t>In Prague I need to learn which preparation routes actually produce useful functional wires.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1F4BE-FBB5-4974-B973-A673ECE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7490"/>
                </a:solidFill>
              </a:defRPr>
            </a:pPr>
            <a:r>
              <a:rPr sz="232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DFEF8-5501-4FA4-AE75-6962A09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8"/>
                </a:solidFill>
              </a:defRPr>
            </a:pPr>
            <a:r>
              <a:rPr sz="2325">
                <a:solidFill>
                  <a:srgbClr val="101828"/>
                </a:solidFill>
              </a:rPr>
              <a:t>select samples with clear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47DC9-FB0B-4A0E-B8C8-68ACB33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7490"/>
                </a:solidFill>
              </a:defRPr>
            </a:pPr>
            <a:r>
              <a:rPr sz="232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5DA8F-1D40-41ED-A442-54BD674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8"/>
                </a:solidFill>
              </a:defRPr>
            </a:pPr>
            <a:r>
              <a:rPr sz="2325">
                <a:solidFill>
                  <a:srgbClr val="101828"/>
                </a:solidFill>
              </a:rPr>
              <a:t>connect preparation to strain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F866A-4A7E-48D5-BCD3-A2B96EF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7490"/>
                </a:solidFill>
              </a:defRPr>
            </a:pPr>
            <a:r>
              <a:rPr sz="232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B5E96-1435-4D8C-9105-BCAD018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8"/>
                </a:solidFill>
              </a:defRPr>
            </a:pPr>
            <a:r>
              <a:rPr sz="2325">
                <a:solidFill>
                  <a:srgbClr val="101828"/>
                </a:solidFill>
              </a:rPr>
              <a:t>reserve slow measurements for the best candidates</a:t>
            </a:r>
          </a:p>
        </p:txBody>
      </p:sp>
      <p:sp>
        <p:nvSpPr>
          <p:cNvPr id="11" name="metric-compositions and annealing conditions">
            <a:extLst xmlns:a="http://schemas.openxmlformats.org/drawingml/2006/main">
              <a:ext uri="{FF2B5EF4-FFF2-40B4-BE49-F238E27FC236}">
                <a16:creationId xmlns:a16="http://schemas.microsoft.com/office/drawing/2014/main" id="{24B9D740-BD8C-422D-9861-6C69930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348" y="2120265"/>
            <a:ext cx="7007352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FE916-FE14-40A4-9568-5834E8C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2410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many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61C5-C1B1-48D4-B39E-D4262D04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337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compositions and annealing conditions</a:t>
            </a:r>
          </a:p>
        </p:txBody>
      </p:sp>
      <p:sp>
        <p:nvSpPr>
          <p:cNvPr id="14" name="metric-screening before high-precision validation">
            <a:extLst xmlns:a="http://schemas.openxmlformats.org/drawingml/2006/main">
              <a:ext uri="{FF2B5EF4-FFF2-40B4-BE49-F238E27FC236}">
                <a16:creationId xmlns:a16="http://schemas.microsoft.com/office/drawing/2014/main" id="{38B5C029-EA82-4C00-9E04-BFCAF2D2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348" y="4044315"/>
            <a:ext cx="7007352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FDECD-A5C2-4883-87CC-B7C4934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4815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4D89"/>
                </a:solidFill>
              </a:defRPr>
            </a:pPr>
            <a:r>
              <a:rPr sz="3150" b="1">
                <a:solidFill>
                  <a:srgbClr val="1B4D89"/>
                </a:solidFill>
              </a:rPr>
              <a:t>fast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3CB3D-2D44-4613-9D9C-B735831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85775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screening before high-precision validation</a:t>
            </a:r>
          </a:p>
        </p:txBody>
      </p:sp>
      <p:sp>
        <p:nvSpPr>
          <p:cNvPr id="17" name="metric-commercial DMA slots per week">
            <a:extLst xmlns:a="http://schemas.openxmlformats.org/drawingml/2006/main">
              <a:ext uri="{FF2B5EF4-FFF2-40B4-BE49-F238E27FC236}">
                <a16:creationId xmlns:a16="http://schemas.microsoft.com/office/drawing/2014/main" id="{4881A0DF-0CD7-479F-8AD4-4C368415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348" y="5968365"/>
            <a:ext cx="7007352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C62D9-8AB9-4240-8B81-4239A3F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72200"/>
            <a:ext cx="651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5309"/>
                </a:solidFill>
              </a:defRPr>
            </a:pPr>
            <a:r>
              <a:rPr sz="3150" b="1">
                <a:solidFill>
                  <a:srgbClr val="B45309"/>
                </a:solidFill>
              </a:rPr>
              <a:t>few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B0B6A-7978-423B-84BD-74260E22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781800"/>
            <a:ext cx="651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commercial DMA slots per week</a:t>
            </a:r>
          </a:p>
        </p:txBody>
      </p:sp>
    </p:spTree>
    <p:extLst>
      <p:ext uri="{BB962C8B-B14F-4D97-AF65-F5344CB8AC3E}">
        <p14:creationId xmlns:p14="http://schemas.microsoft.com/office/powerpoint/2010/main" val="886029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B2CE8B1-B3EC-4B82-9754-D5440655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MEASUREMENT LOAD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25279F-922A-44B2-AB2A-E41E1FF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The real workload is the sample matrix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709B5F9-9BE6-4439-BC5C-2D7E784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96A2-475E-46FF-B83F-F0A21AE7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7524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1828"/>
                </a:solidFill>
              </a:defRPr>
            </a:pPr>
            <a:r>
              <a:rPr sz="2850">
                <a:solidFill>
                  <a:srgbClr val="101828"/>
                </a:solidFill>
              </a:rPr>
              <a:t>Each preparation choice creates another branch to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158EA-A0CE-4698-AF8D-099D87B9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7490"/>
                </a:solidFill>
              </a:defRPr>
            </a:pPr>
            <a:r>
              <a:rPr sz="217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9C8A4-6AED-41EA-96FF-0ABFEDC1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1828"/>
                </a:solidFill>
              </a:defRPr>
            </a:pPr>
            <a:r>
              <a:rPr sz="2175">
                <a:solidFill>
                  <a:srgbClr val="101828"/>
                </a:solidFill>
              </a:rPr>
              <a:t>current annealing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1EA8B-72E8-4B8F-B3F5-251E64D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7490"/>
                </a:solidFill>
              </a:defRPr>
            </a:pPr>
            <a:r>
              <a:rPr sz="217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29C4D-EFFE-4A3C-9B86-4A720A8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1828"/>
                </a:solidFill>
              </a:defRPr>
            </a:pPr>
            <a:r>
              <a:rPr sz="2175">
                <a:solidFill>
                  <a:srgbClr val="101828"/>
                </a:solidFill>
              </a:rPr>
              <a:t>stress during activation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B27EA-FCC1-4BDC-884D-39B425A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7490"/>
                </a:solidFill>
              </a:defRPr>
            </a:pPr>
            <a:r>
              <a:rPr sz="217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7DCF1-D68E-4173-9875-B2935CA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1828"/>
                </a:solidFill>
              </a:defRPr>
            </a:pPr>
            <a:r>
              <a:rPr sz="2175">
                <a:solidFill>
                  <a:srgbClr val="101828"/>
                </a:solidFill>
              </a:rPr>
              <a:t>thermal and electrical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4FB1B-F694-4055-BE05-4AF777DD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7490"/>
                </a:solidFill>
              </a:defRPr>
            </a:pPr>
            <a:r>
              <a:rPr sz="2175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6DB7A-D89E-4E6A-9716-86206D8E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1828"/>
                </a:solidFill>
              </a:defRPr>
            </a:pPr>
            <a:r>
              <a:rPr sz="2175">
                <a:solidFill>
                  <a:srgbClr val="101828"/>
                </a:solidFill>
              </a:rPr>
              <a:t>repeatability after cycling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50CEF-5BB1-46F2-BB18-52DC8C4F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BE56-7062-4C11-A264-54B8E1A0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14550"/>
            <a:ext cx="127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sample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A4E22-FA3E-4B0F-992B-5332C27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14550"/>
            <a:ext cx="127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sample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8D004-E53B-4D6F-92B4-F493E77F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114550"/>
            <a:ext cx="127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sample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DCEFF-5C9C-4779-B01F-6EEEEFA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2114550"/>
            <a:ext cx="127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sample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20581-9C99-424A-9A65-1D997C25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350" y="2114550"/>
            <a:ext cx="127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sample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CDD4B-A8FD-4E16-8EE2-47D338BD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1257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as-cast</a:t>
            </a:r>
          </a:p>
        </p:txBody>
      </p:sp>
      <p:sp>
        <p:nvSpPr>
          <p:cNvPr id="20" name="matrix-0-0">
            <a:extLst xmlns:a="http://schemas.openxmlformats.org/drawingml/2006/main">
              <a:ext uri="{FF2B5EF4-FFF2-40B4-BE49-F238E27FC236}">
                <a16:creationId xmlns:a16="http://schemas.microsoft.com/office/drawing/2014/main" id="{646E314A-D01E-4A30-A01A-F8E74542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249364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742F4-ED06-4E4D-A0ED-A98F4F6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289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22" name="matrix-0-1">
            <a:extLst xmlns:a="http://schemas.openxmlformats.org/drawingml/2006/main">
              <a:ext uri="{FF2B5EF4-FFF2-40B4-BE49-F238E27FC236}">
                <a16:creationId xmlns:a16="http://schemas.microsoft.com/office/drawing/2014/main" id="{D6BE0A4F-25BE-4C8A-AB04-6E77A90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058" y="249364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C12BE-1291-4074-90A6-619DFEBE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6289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24" name="matrix-0-2">
            <a:extLst xmlns:a="http://schemas.openxmlformats.org/drawingml/2006/main">
              <a:ext uri="{FF2B5EF4-FFF2-40B4-BE49-F238E27FC236}">
                <a16:creationId xmlns:a16="http://schemas.microsoft.com/office/drawing/2014/main" id="{7A5494C6-CBCF-4F14-A993-78A7DBB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06" y="249364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18FF3-6CC9-4E4A-ACA8-963F91D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6289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26" name="matrix-0-3">
            <a:extLst xmlns:a="http://schemas.openxmlformats.org/drawingml/2006/main">
              <a:ext uri="{FF2B5EF4-FFF2-40B4-BE49-F238E27FC236}">
                <a16:creationId xmlns:a16="http://schemas.microsoft.com/office/drawing/2014/main" id="{23D1C422-1387-4EEA-8A92-4217CC2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554" y="249364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682DD-2884-479B-A67C-5788899F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26289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28" name="matrix-0-4">
            <a:extLst xmlns:a="http://schemas.openxmlformats.org/drawingml/2006/main">
              <a:ext uri="{FF2B5EF4-FFF2-40B4-BE49-F238E27FC236}">
                <a16:creationId xmlns:a16="http://schemas.microsoft.com/office/drawing/2014/main" id="{4A833B30-40BE-47C2-A35F-BEAA281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302" y="249364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8394C-7F49-4BB2-BAFE-D4C10D3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26289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C8E5A-A620-49F0-96AE-E14E6E6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48100"/>
            <a:ext cx="1257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anneal A</a:t>
            </a:r>
          </a:p>
        </p:txBody>
      </p:sp>
      <p:sp>
        <p:nvSpPr>
          <p:cNvPr id="31" name="matrix-1-0">
            <a:extLst xmlns:a="http://schemas.openxmlformats.org/drawingml/2006/main">
              <a:ext uri="{FF2B5EF4-FFF2-40B4-BE49-F238E27FC236}">
                <a16:creationId xmlns:a16="http://schemas.microsoft.com/office/drawing/2014/main" id="{D2299EF9-1086-45BA-8E08-AC6AFD5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383857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DBE49F-5C4D-451A-835B-5561760D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9814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33" name="matrix-1-1">
            <a:extLst xmlns:a="http://schemas.openxmlformats.org/drawingml/2006/main">
              <a:ext uri="{FF2B5EF4-FFF2-40B4-BE49-F238E27FC236}">
                <a16:creationId xmlns:a16="http://schemas.microsoft.com/office/drawing/2014/main" id="{B300126D-E4D3-40EE-BF17-3A6A3C9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058" y="383857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4C9DE-6D7A-4F74-9C80-20FA6EBF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814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35" name="matrix-1-2">
            <a:extLst xmlns:a="http://schemas.openxmlformats.org/drawingml/2006/main">
              <a:ext uri="{FF2B5EF4-FFF2-40B4-BE49-F238E27FC236}">
                <a16:creationId xmlns:a16="http://schemas.microsoft.com/office/drawing/2014/main" id="{9C438E39-41C7-4DB1-85F8-E763E206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06" y="383857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6D349B-9FE0-4067-B150-B63F837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814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37" name="matrix-1-3">
            <a:extLst xmlns:a="http://schemas.openxmlformats.org/drawingml/2006/main">
              <a:ext uri="{FF2B5EF4-FFF2-40B4-BE49-F238E27FC236}">
                <a16:creationId xmlns:a16="http://schemas.microsoft.com/office/drawing/2014/main" id="{99818346-A0A0-4CA4-977E-AE0C8705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554" y="383857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31F05F-EE15-4474-BEE2-B0DF15E6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9814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39" name="matrix-1-4">
            <a:extLst xmlns:a="http://schemas.openxmlformats.org/drawingml/2006/main">
              <a:ext uri="{FF2B5EF4-FFF2-40B4-BE49-F238E27FC236}">
                <a16:creationId xmlns:a16="http://schemas.microsoft.com/office/drawing/2014/main" id="{15710C17-6DC9-4144-82F3-0B42B81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302" y="383857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037DA2-CC4F-4E72-A6B1-0CFF431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39814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7DF999-2E26-4256-801A-F3524290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81600"/>
            <a:ext cx="1257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anneal B</a:t>
            </a:r>
          </a:p>
        </p:txBody>
      </p:sp>
      <p:sp>
        <p:nvSpPr>
          <p:cNvPr id="42" name="matrix-2-0">
            <a:extLst xmlns:a="http://schemas.openxmlformats.org/drawingml/2006/main">
              <a:ext uri="{FF2B5EF4-FFF2-40B4-BE49-F238E27FC236}">
                <a16:creationId xmlns:a16="http://schemas.microsoft.com/office/drawing/2014/main" id="{517E853C-C888-4F80-9082-333E3E7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518350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9E240-49B8-465A-9374-BF8B2EAE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149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44" name="matrix-2-1">
            <a:extLst xmlns:a="http://schemas.openxmlformats.org/drawingml/2006/main">
              <a:ext uri="{FF2B5EF4-FFF2-40B4-BE49-F238E27FC236}">
                <a16:creationId xmlns:a16="http://schemas.microsoft.com/office/drawing/2014/main" id="{75961F97-E76D-4627-B0DB-7A43E387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058" y="518350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CBC221-F7AC-4FE2-B8E7-146160D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3149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46" name="matrix-2-2">
            <a:extLst xmlns:a="http://schemas.openxmlformats.org/drawingml/2006/main">
              <a:ext uri="{FF2B5EF4-FFF2-40B4-BE49-F238E27FC236}">
                <a16:creationId xmlns:a16="http://schemas.microsoft.com/office/drawing/2014/main" id="{5C462C36-7341-44A3-BDDE-6AF1677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06" y="518350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29BD69-F9EF-40F9-9281-7CACE2F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3149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48" name="matrix-2-3">
            <a:extLst xmlns:a="http://schemas.openxmlformats.org/drawingml/2006/main">
              <a:ext uri="{FF2B5EF4-FFF2-40B4-BE49-F238E27FC236}">
                <a16:creationId xmlns:a16="http://schemas.microsoft.com/office/drawing/2014/main" id="{D5FDCC4F-A970-46BF-9B01-872C0CDB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554" y="518350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CA4B55-5406-453C-873C-5B81B0B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3149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50" name="matrix-2-4">
            <a:extLst xmlns:a="http://schemas.openxmlformats.org/drawingml/2006/main">
              <a:ext uri="{FF2B5EF4-FFF2-40B4-BE49-F238E27FC236}">
                <a16:creationId xmlns:a16="http://schemas.microsoft.com/office/drawing/2014/main" id="{A0B65221-088D-4883-8A79-4224EE3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302" y="518350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33DFCC-E343-43D9-8E62-42FCC1D2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53149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E7490"/>
                </a:solidFill>
              </a:defRPr>
            </a:pPr>
            <a:r>
              <a:rPr sz="1500" b="0">
                <a:solidFill>
                  <a:srgbClr val="0E7490"/>
                </a:solidFill>
              </a:rPr>
              <a:t>screen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63F942-2439-445C-B0B7-CE4CF85E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534150"/>
            <a:ext cx="12573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selected</a:t>
            </a:r>
          </a:p>
        </p:txBody>
      </p:sp>
      <p:sp>
        <p:nvSpPr>
          <p:cNvPr id="53" name="matrix-3-0">
            <a:extLst xmlns:a="http://schemas.openxmlformats.org/drawingml/2006/main">
              <a:ext uri="{FF2B5EF4-FFF2-40B4-BE49-F238E27FC236}">
                <a16:creationId xmlns:a16="http://schemas.microsoft.com/office/drawing/2014/main" id="{93DCB2A5-DE8D-48E6-A80D-72B3DAC9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652843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4E5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4BBE8C-4150-4294-B7DC-1CFB2C9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667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DMA</a:t>
            </a:r>
          </a:p>
        </p:txBody>
      </p:sp>
      <p:sp>
        <p:nvSpPr>
          <p:cNvPr id="55" name="matrix-3-1">
            <a:extLst xmlns:a="http://schemas.openxmlformats.org/drawingml/2006/main">
              <a:ext uri="{FF2B5EF4-FFF2-40B4-BE49-F238E27FC236}">
                <a16:creationId xmlns:a16="http://schemas.microsoft.com/office/drawing/2014/main" id="{C643ADAB-7D55-4FD1-AAFF-1C666E5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058" y="652843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4E5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2886AD-76DA-4159-9F50-AA25B3B2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667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DMA</a:t>
            </a:r>
          </a:p>
        </p:txBody>
      </p:sp>
      <p:sp>
        <p:nvSpPr>
          <p:cNvPr id="57" name="matrix-3-2">
            <a:extLst xmlns:a="http://schemas.openxmlformats.org/drawingml/2006/main">
              <a:ext uri="{FF2B5EF4-FFF2-40B4-BE49-F238E27FC236}">
                <a16:creationId xmlns:a16="http://schemas.microsoft.com/office/drawing/2014/main" id="{516173DE-2E15-47D5-9A40-C6E75A12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06" y="652843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948679-8853-41A8-B27B-F940AFF6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667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skip</a:t>
            </a:r>
          </a:p>
        </p:txBody>
      </p:sp>
      <p:sp>
        <p:nvSpPr>
          <p:cNvPr id="59" name="matrix-3-3">
            <a:extLst xmlns:a="http://schemas.openxmlformats.org/drawingml/2006/main">
              <a:ext uri="{FF2B5EF4-FFF2-40B4-BE49-F238E27FC236}">
                <a16:creationId xmlns:a16="http://schemas.microsoft.com/office/drawing/2014/main" id="{CD34150A-5DFF-4117-8DC0-0243567A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554" y="652843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4E5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798B39-FA1E-49A0-9B13-EC40F33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667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DMA</a:t>
            </a:r>
          </a:p>
        </p:txBody>
      </p:sp>
      <p:sp>
        <p:nvSpPr>
          <p:cNvPr id="61" name="matrix-3-4">
            <a:extLst xmlns:a="http://schemas.openxmlformats.org/drawingml/2006/main">
              <a:ext uri="{FF2B5EF4-FFF2-40B4-BE49-F238E27FC236}">
                <a16:creationId xmlns:a16="http://schemas.microsoft.com/office/drawing/2014/main" id="{9F5E49FE-BA6B-44FE-A085-940F17E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302" y="6528435"/>
            <a:ext cx="1279398" cy="121158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930939-576E-40DD-AC1B-658D554D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66675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1685446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3F16BAB-2AB7-4AA9-9F77-2BA949A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SELECTION CRITERIA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3697E6-E610-4824-B4B0-4A0C3A66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What the measurements must answer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53AB925-726B-4027-8194-877CF24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F9A6F-D9ED-4898-9DDB-77D549C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82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2C167-07AC-40B5-AECC-35DC4C4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82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Transition temperature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67AC-25BE-4441-8301-D622F15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where the response begins and ends</a:t>
            </a:r>
          </a:p>
        </p:txBody>
      </p:sp>
      <p:sp>
        <p:nvSpPr>
          <p:cNvPr id="7" name="criterion-rule-01">
            <a:extLst xmlns:a="http://schemas.openxmlformats.org/drawingml/2006/main">
              <a:ext uri="{FF2B5EF4-FFF2-40B4-BE49-F238E27FC236}">
                <a16:creationId xmlns:a16="http://schemas.microsoft.com/office/drawing/2014/main" id="{A1D6F4A0-3BDC-471D-A69A-E0A71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18371-19EA-484E-8788-209CC0E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14550"/>
            <a:ext cx="382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F7D32"/>
                </a:solidFill>
              </a:defRPr>
            </a:pPr>
            <a:r>
              <a:rPr sz="2250" b="1">
                <a:solidFill>
                  <a:srgbClr val="3F7D3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9069D-0556-4846-BC16-3C0AB2E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382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Recoverable strain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CA43-48F8-4797-A0F0-0D28EE4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how much usable motion is available</a:t>
            </a:r>
          </a:p>
        </p:txBody>
      </p:sp>
      <p:sp>
        <p:nvSpPr>
          <p:cNvPr id="11" name="criterion-rule-02">
            <a:extLst xmlns:a="http://schemas.openxmlformats.org/drawingml/2006/main">
              <a:ext uri="{FF2B5EF4-FFF2-40B4-BE49-F238E27FC236}">
                <a16:creationId xmlns:a16="http://schemas.microsoft.com/office/drawing/2014/main" id="{C7863DF8-9648-4B26-AF4C-F4B6EB3B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solidFill>
              <a:srgbClr val="3F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EBFDA-CA8B-465B-8F5C-24EC1CFF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382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4D89"/>
                </a:solidFill>
              </a:defRPr>
            </a:pPr>
            <a:r>
              <a:rPr sz="2250" b="1">
                <a:solidFill>
                  <a:srgbClr val="1B4D8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3376A-7B22-4296-975F-34EBBCF8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382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Stress dependence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719B9-E6B7-40EC-80F5-1C0DA9E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whether the effect survives load</a:t>
            </a:r>
          </a:p>
        </p:txBody>
      </p:sp>
      <p:sp>
        <p:nvSpPr>
          <p:cNvPr id="15" name="criterion-rule-03">
            <a:extLst xmlns:a="http://schemas.openxmlformats.org/drawingml/2006/main">
              <a:ext uri="{FF2B5EF4-FFF2-40B4-BE49-F238E27FC236}">
                <a16:creationId xmlns:a16="http://schemas.microsoft.com/office/drawing/2014/main" id="{C6FFD8D5-1D75-4B73-BE2E-78ED241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89"/>
          </a:solidFill>
          <a:ln xmlns:a="http://schemas.openxmlformats.org/drawingml/2006/main" w="0">
            <a:solidFill>
              <a:srgbClr val="1B4D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F8D0F-136F-4532-AA7B-821CF48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114550"/>
            <a:ext cx="382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5309"/>
                </a:solidFill>
              </a:defRPr>
            </a:pPr>
            <a:r>
              <a:rPr sz="2250" b="1">
                <a:solidFill>
                  <a:srgbClr val="B45309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EE584-BCA5-43F6-ADD2-5F8806B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590800"/>
            <a:ext cx="382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8"/>
                </a:solidFill>
              </a:defRPr>
            </a:pPr>
            <a:r>
              <a:rPr sz="2625" b="1">
                <a:solidFill>
                  <a:srgbClr val="101828"/>
                </a:solidFill>
              </a:rPr>
              <a:t>Power and 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8E247-CEB1-4A16-BA44-082DE39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12420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what actuation costs electrically</a:t>
            </a:r>
          </a:p>
        </p:txBody>
      </p:sp>
      <p:sp>
        <p:nvSpPr>
          <p:cNvPr id="19" name="criterion-rule-04">
            <a:extLst xmlns:a="http://schemas.openxmlformats.org/drawingml/2006/main">
              <a:ext uri="{FF2B5EF4-FFF2-40B4-BE49-F238E27FC236}">
                <a16:creationId xmlns:a16="http://schemas.microsoft.com/office/drawing/2014/main" id="{A194497A-0CD6-42EF-B43C-5FF1916F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543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0" name="criteria-bottom">
            <a:extLst xmlns:a="http://schemas.openxmlformats.org/drawingml/2006/main">
              <a:ext uri="{FF2B5EF4-FFF2-40B4-BE49-F238E27FC236}">
                <a16:creationId xmlns:a16="http://schemas.microsoft.com/office/drawing/2014/main" id="{E3F6E30F-5790-4079-BABA-6B4A266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These are selection variables: they decide which wires deserve slow validation.</a:t>
            </a:r>
          </a:p>
        </p:txBody>
      </p:sp>
    </p:spTree>
    <p:extLst>
      <p:ext uri="{BB962C8B-B14F-4D97-AF65-F5344CB8AC3E}">
        <p14:creationId xmlns:p14="http://schemas.microsoft.com/office/powerpoint/2010/main" val="1482834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BFF04DE-834C-4231-87C5-AEA93D3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BOTTLENECK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87D26D-3AB5-4B65-BA8F-3309A04D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Commercial DMA gives the answer, slowly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D000DEF-85D4-4D9B-B735-33BB5E1B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commercial-chart">
            <a:extLst xmlns:a="http://schemas.openxmlformats.org/drawingml/2006/main">
              <a:ext uri="{FF2B5EF4-FFF2-40B4-BE49-F238E27FC236}">
                <a16:creationId xmlns:a16="http://schemas.microsoft.com/office/drawing/2014/main" id="{BCDC2A23-8FBA-4B6C-AC56-4634921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9749600" cy="7519035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Commercial DMA 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d6b2004d44518"/>
          <a:stretch xmlns:a="http://schemas.openxmlformats.org/drawingml/2006/main"/>
        </p:blipFill>
        <p:spPr>
          <a:xfrm xmlns:a="http://schemas.openxmlformats.org/drawingml/2006/main">
            <a:off x="876300" y="2800962"/>
            <a:ext cx="9749600" cy="615764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7D63-2B94-4DB3-9D5A-92EF610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114550"/>
            <a:ext cx="6229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E7490"/>
                </a:solidFill>
              </a:defRPr>
            </a:pPr>
            <a:r>
              <a:rPr sz="4200" b="1">
                <a:solidFill>
                  <a:srgbClr val="0E7490"/>
                </a:solidFill>
              </a:rPr>
              <a:t>precise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B005B-F90F-4713-8A6F-D6F161B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38450"/>
            <a:ext cx="622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transition temperatures and strain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FFC25-684B-4D3E-A4DC-7717C7C4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33750"/>
            <a:ext cx="6229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45309"/>
                </a:solidFill>
              </a:defRPr>
            </a:pPr>
            <a:r>
              <a:rPr sz="4200" b="1">
                <a:solidFill>
                  <a:srgbClr val="B45309"/>
                </a:solidFill>
              </a:rPr>
              <a:t>slow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8B039-1DD9-4598-BD66-D698C858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57650"/>
            <a:ext cx="622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long runs, setup time, liquid nitrogen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8DD7E-C768-41F3-9D0D-A25ADDA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552950"/>
            <a:ext cx="6229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23E48"/>
                </a:solidFill>
              </a:defRPr>
            </a:pPr>
            <a:r>
              <a:rPr sz="4200" b="1">
                <a:solidFill>
                  <a:srgbClr val="A23E48"/>
                </a:solidFill>
              </a:rPr>
              <a:t>scarce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A8785-A349-4CD6-AA90-D0EAD51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76850"/>
            <a:ext cx="622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not ideal for testing every branch</a:t>
            </a:r>
          </a:p>
        </p:txBody>
      </p:sp>
    </p:spTree>
    <p:extLst>
      <p:ext uri="{BB962C8B-B14F-4D97-AF65-F5344CB8AC3E}">
        <p14:creationId xmlns:p14="http://schemas.microsoft.com/office/powerpoint/2010/main" val="152320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1D1D70A-233F-4E4B-87A5-CC7480D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STRATEGY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59C5A7-B84D-418D-ACC9-548C34EA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Two speeds instead of one bottleneck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CF47A7A-89E6-4D1F-B0C7-756000B7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compact-step-1">
            <a:extLst xmlns:a="http://schemas.openxmlformats.org/drawingml/2006/main">
              <a:ext uri="{FF2B5EF4-FFF2-40B4-BE49-F238E27FC236}">
                <a16:creationId xmlns:a16="http://schemas.microsoft.com/office/drawing/2014/main" id="{4E2A8449-13D7-4654-A2B1-B74284F8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485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5687A-515C-4EC9-BB30-A140183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32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4D89"/>
                </a:solidFill>
              </a:defRPr>
            </a:pPr>
            <a:r>
              <a:rPr sz="2100" b="1">
                <a:solidFill>
                  <a:srgbClr val="1B4D8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F78BD-8BDA-45AE-8A3C-904C29A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432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Fast screening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01F81-1ECD-48BD-8E2D-575523E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324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many wires, quick electrical and mechanical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1549-515B-426C-8D48-C4CA021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571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67085"/>
                </a:solidFill>
              </a:defRPr>
            </a:pPr>
            <a:r>
              <a:rPr sz="3150" b="1">
                <a:solidFill>
                  <a:srgbClr val="667085"/>
                </a:solidFill>
              </a:rPr>
              <a:t>-&gt;</a:t>
            </a:r>
          </a:p>
        </p:txBody>
      </p:sp>
      <p:sp>
        <p:nvSpPr>
          <p:cNvPr id="9" name="compact-step-2">
            <a:extLst xmlns:a="http://schemas.openxmlformats.org/drawingml/2006/main">
              <a:ext uri="{FF2B5EF4-FFF2-40B4-BE49-F238E27FC236}">
                <a16:creationId xmlns:a16="http://schemas.microsoft.com/office/drawing/2014/main" id="{AF90999A-A226-43D5-AFF0-C1C6FD9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2120265"/>
            <a:ext cx="485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5FBD1-5C34-45BB-9BC8-DBE8ABD4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432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E54C5-4963-458A-9E6E-D4D1327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19400"/>
            <a:ext cx="432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Mini DMA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636C4-5915-4EE6-8F26-307F189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4324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controlled stress/current sweeps on promising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09458-0CC8-4368-84A3-16F1CA9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14550"/>
            <a:ext cx="571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67085"/>
                </a:solidFill>
              </a:defRPr>
            </a:pPr>
            <a:r>
              <a:rPr sz="3150" b="1">
                <a:solidFill>
                  <a:srgbClr val="667085"/>
                </a:solidFill>
              </a:rPr>
              <a:t>-&gt;</a:t>
            </a:r>
          </a:p>
        </p:txBody>
      </p:sp>
      <p:sp>
        <p:nvSpPr>
          <p:cNvPr id="14" name="compact-step-3">
            <a:extLst xmlns:a="http://schemas.openxmlformats.org/drawingml/2006/main">
              <a:ext uri="{FF2B5EF4-FFF2-40B4-BE49-F238E27FC236}">
                <a16:creationId xmlns:a16="http://schemas.microsoft.com/office/drawing/2014/main" id="{97F3F5F8-5D1B-4DD7-8BBD-04B5B317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2120265"/>
            <a:ext cx="485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C8AD4-A55F-4E0B-AA2D-4E176724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343150"/>
            <a:ext cx="432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D20E1-A173-467E-9724-15D4B5B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819400"/>
            <a:ext cx="432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Commercial DMA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DFE82-4744-4481-AE1E-B74BCA3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371850"/>
            <a:ext cx="4324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467"/>
                </a:solidFill>
              </a:defRPr>
            </a:pPr>
            <a:r>
              <a:rPr sz="1875">
                <a:solidFill>
                  <a:srgbClr val="475467"/>
                </a:solidFill>
              </a:rPr>
              <a:t>high-precision validation only where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B58C2-4374-4414-BADA-64835FB7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653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The Mini DMA is a decision instrument before it is a replacement instrument.</a:t>
            </a:r>
          </a:p>
        </p:txBody>
      </p:sp>
    </p:spTree>
    <p:extLst>
      <p:ext uri="{BB962C8B-B14F-4D97-AF65-F5344CB8AC3E}">
        <p14:creationId xmlns:p14="http://schemas.microsoft.com/office/powerpoint/2010/main" val="2109272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BDC9BEB-C06B-4C0D-B3EC-491B0AC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INSTRUMENT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B1A2CD-29E1-46C9-9B27-6011E6F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Mini DMA concept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C548A79-06E3-405E-8678-985F1CF9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setup-photo">
            <a:extLst xmlns:a="http://schemas.openxmlformats.org/drawingml/2006/main">
              <a:ext uri="{FF2B5EF4-FFF2-40B4-BE49-F238E27FC236}">
                <a16:creationId xmlns:a16="http://schemas.microsoft.com/office/drawing/2014/main" id="{D2C39D59-3471-44C5-BB13-5E605CC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9292209" cy="7519035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Mini DMA setup 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c84e64ba34952"/>
          <a:srcRect xmlns:a="http://schemas.openxmlformats.org/drawingml/2006/main" l="3669" t="0" r="3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120265"/>
            <a:ext cx="9292209" cy="7519035"/>
          </a:xfrm>
          <a:prstGeom xmlns:a="http://schemas.openxmlformats.org/drawingml/2006/main" prst="rect">
            <a:avLst/>
          </a:prstGeom>
        </p:spPr>
      </p:pic>
      <p:sp>
        <p:nvSpPr>
          <p:cNvPr id="6" name="step-A">
            <a:extLst xmlns:a="http://schemas.openxmlformats.org/drawingml/2006/main">
              <a:ext uri="{FF2B5EF4-FFF2-40B4-BE49-F238E27FC236}">
                <a16:creationId xmlns:a16="http://schemas.microsoft.com/office/drawing/2014/main" id="{94DD5DD8-53C7-4144-963D-5F443DEC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859" y="2120265"/>
            <a:ext cx="6728841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33616-8847-4FA5-9ED8-DEA7892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43150"/>
            <a:ext cx="622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1D39F-77FC-48C3-954C-CA93D62B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19400"/>
            <a:ext cx="6229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motorized displacement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C446F-BF34-4A73-98A2-60BDB6E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7185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sets length and controlled strain path</a:t>
            </a:r>
          </a:p>
        </p:txBody>
      </p:sp>
      <p:sp>
        <p:nvSpPr>
          <p:cNvPr id="10" name="step-B">
            <a:extLst xmlns:a="http://schemas.openxmlformats.org/drawingml/2006/main">
              <a:ext uri="{FF2B5EF4-FFF2-40B4-BE49-F238E27FC236}">
                <a16:creationId xmlns:a16="http://schemas.microsoft.com/office/drawing/2014/main" id="{EEB3A50C-65C3-41C7-A7E2-7BFFDB2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859" y="3979545"/>
            <a:ext cx="6728841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F4542-CAC7-4B3D-8687-CD297CB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10050"/>
            <a:ext cx="622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4D89"/>
                </a:solidFill>
              </a:defRPr>
            </a:pPr>
            <a:r>
              <a:rPr sz="2100" b="1">
                <a:solidFill>
                  <a:srgbClr val="1B4D89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E2DF4-079B-43D5-97AC-020EEF7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86300"/>
            <a:ext cx="6229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balance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99775-8F42-460D-AC01-B8F1774B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1970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keeps target stress instead of target position</a:t>
            </a:r>
          </a:p>
        </p:txBody>
      </p:sp>
      <p:sp>
        <p:nvSpPr>
          <p:cNvPr id="14" name="step-C">
            <a:extLst xmlns:a="http://schemas.openxmlformats.org/drawingml/2006/main">
              <a:ext uri="{FF2B5EF4-FFF2-40B4-BE49-F238E27FC236}">
                <a16:creationId xmlns:a16="http://schemas.microsoft.com/office/drawing/2014/main" id="{7A52C0B3-D03E-4313-8D38-FD67C13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859" y="5838825"/>
            <a:ext cx="6728841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CD083-BB39-4AA5-AF0C-6E983C4A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76950"/>
            <a:ext cx="622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88F03-FF69-45AB-BC33-8936CF56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6229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source meter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11266-E50D-4CB5-93CC-3245B81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08660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logs current, voltage, resistance, power</a:t>
            </a:r>
          </a:p>
        </p:txBody>
      </p:sp>
      <p:sp>
        <p:nvSpPr>
          <p:cNvPr id="18" name="step-D">
            <a:extLst xmlns:a="http://schemas.openxmlformats.org/drawingml/2006/main">
              <a:ext uri="{FF2B5EF4-FFF2-40B4-BE49-F238E27FC236}">
                <a16:creationId xmlns:a16="http://schemas.microsoft.com/office/drawing/2014/main" id="{4D3D246A-F5AF-4449-9B37-599A5F8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859" y="7698105"/>
            <a:ext cx="6728841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69037-A426-4422-92F1-1FF85450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924800"/>
            <a:ext cx="622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7D32"/>
                </a:solidFill>
              </a:defRPr>
            </a:pPr>
            <a:r>
              <a:rPr sz="2100" b="1">
                <a:solidFill>
                  <a:srgbClr val="3F7D32"/>
                </a:solidFill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BA12A-E792-460E-B987-1B07E9C8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401050"/>
            <a:ext cx="6229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software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06A7F-B164-4D65-A3E6-F6F01A24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934450"/>
            <a:ext cx="6229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runs recipes and records synchronized data</a:t>
            </a:r>
          </a:p>
        </p:txBody>
      </p:sp>
    </p:spTree>
    <p:extLst>
      <p:ext uri="{BB962C8B-B14F-4D97-AF65-F5344CB8AC3E}">
        <p14:creationId xmlns:p14="http://schemas.microsoft.com/office/powerpoint/2010/main" val="1008765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F8A1FBB-1405-48ED-A93F-F120729E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CONTROL SCALE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EF6AC0-4D24-48A6-AEAA-9903A85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At microwire scale, grams are not small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4928F98-1880-4846-B051-7420D1B6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metric-wire diameter used for the estimate">
            <a:extLst xmlns:a="http://schemas.openxmlformats.org/drawingml/2006/main">
              <a:ext uri="{FF2B5EF4-FFF2-40B4-BE49-F238E27FC236}">
                <a16:creationId xmlns:a16="http://schemas.microsoft.com/office/drawing/2014/main" id="{90649B77-0D39-4103-8210-AB229205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749408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4556F-A4E2-4353-B59A-3B6357E3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6991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13 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3032B-1598-4494-84AF-1165268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wire diameter used for the estimate</a:t>
            </a:r>
          </a:p>
        </p:txBody>
      </p:sp>
      <p:sp>
        <p:nvSpPr>
          <p:cNvPr id="7" name="metric-stress scale for this cross-section">
            <a:extLst xmlns:a="http://schemas.openxmlformats.org/drawingml/2006/main">
              <a:ext uri="{FF2B5EF4-FFF2-40B4-BE49-F238E27FC236}">
                <a16:creationId xmlns:a16="http://schemas.microsoft.com/office/drawing/2014/main" id="{96E288CD-7B61-48C4-8938-AE3CD5C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3365"/>
            <a:ext cx="749408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3398-73AD-4F89-84F5-2D2EB701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6991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7490"/>
                </a:solidFill>
              </a:defRPr>
            </a:pPr>
            <a:r>
              <a:rPr sz="3150" b="1">
                <a:solidFill>
                  <a:srgbClr val="0E7490"/>
                </a:solidFill>
              </a:rPr>
              <a:t>1 g -&gt; ~74 MPa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B6DC7-2057-4328-9FE4-106DA8A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stress scale for this cross-section</a:t>
            </a:r>
          </a:p>
        </p:txBody>
      </p:sp>
      <p:sp>
        <p:nvSpPr>
          <p:cNvPr id="10" name="metric-balance noise is already visible">
            <a:extLst xmlns:a="http://schemas.openxmlformats.org/drawingml/2006/main">
              <a:ext uri="{FF2B5EF4-FFF2-40B4-BE49-F238E27FC236}">
                <a16:creationId xmlns:a16="http://schemas.microsoft.com/office/drawing/2014/main" id="{BF98891D-3159-415B-9A6A-798CE45B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6465"/>
            <a:ext cx="749408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DB5C6-50FF-4DC9-88C9-916E34E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10300"/>
            <a:ext cx="6991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5309"/>
                </a:solidFill>
              </a:defRPr>
            </a:pPr>
            <a:r>
              <a:rPr sz="3150" b="1">
                <a:solidFill>
                  <a:srgbClr val="B45309"/>
                </a:solidFill>
              </a:rPr>
              <a:t>0.005 g -&gt; ~0.37 MPa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4A76D-DDD7-46A6-94BC-623A6D6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81990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467"/>
                </a:solidFill>
              </a:defRPr>
            </a:pPr>
            <a:r>
              <a:rPr sz="1725">
                <a:solidFill>
                  <a:srgbClr val="475467"/>
                </a:solidFill>
              </a:rPr>
              <a:t>balance noise is already visible</a:t>
            </a:r>
          </a:p>
        </p:txBody>
      </p:sp>
      <p:sp>
        <p:nvSpPr>
          <p:cNvPr id="13" name="wire-image">
            <a:extLst xmlns:a="http://schemas.openxmlformats.org/drawingml/2006/main">
              <a:ext uri="{FF2B5EF4-FFF2-40B4-BE49-F238E27FC236}">
                <a16:creationId xmlns:a16="http://schemas.microsoft.com/office/drawing/2014/main" id="{F6589CE3-6A0B-46FE-8C19-90D6611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930" y="2120265"/>
            <a:ext cx="4130135" cy="7065645"/>
          </a:xfrm>
          <a:prstGeom xmlns:a="http://schemas.openxmlformats.org/drawingml/2006/main" prst="roundRect">
            <a:avLst>
              <a:gd name="adj" fmla="val 1845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4" name="Wire gri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bebf3541b43c4"/>
          <a:srcRect xmlns:a="http://schemas.openxmlformats.org/drawingml/2006/main" l="0" t="7231" r="0" b="7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0930" y="2120265"/>
            <a:ext cx="4130135" cy="7065645"/>
          </a:xfrm>
          <a:prstGeom xmlns:a="http://schemas.openxmlformats.org/drawingml/2006/main" prst="rect">
            <a:avLst/>
          </a:prstGeom>
        </p:spPr>
      </p:pic>
      <p:sp>
        <p:nvSpPr>
          <p:cNvPr id="15" name="scale-image">
            <a:extLst xmlns:a="http://schemas.openxmlformats.org/drawingml/2006/main">
              <a:ext uri="{FF2B5EF4-FFF2-40B4-BE49-F238E27FC236}">
                <a16:creationId xmlns:a16="http://schemas.microsoft.com/office/drawing/2014/main" id="{DD810B20-20E1-4C7C-B8B7-1B291CBD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1565" y="2120265"/>
            <a:ext cx="4130135" cy="7065645"/>
          </a:xfrm>
          <a:prstGeom xmlns:a="http://schemas.openxmlformats.org/drawingml/2006/main" prst="roundRect">
            <a:avLst>
              <a:gd name="adj" fmla="val 1845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6" name="Balance readi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6f50f490a4d81"/>
          <a:srcRect xmlns:a="http://schemas.openxmlformats.org/drawingml/2006/main" l="21491" t="0" r="214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81565" y="2120265"/>
            <a:ext cx="4130135" cy="706564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1D546-94C2-49B9-BC66-107E70E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315450"/>
            <a:ext cx="8458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This is why the setup needs closed-loop control, not only a motor position.</a:t>
            </a:r>
          </a:p>
        </p:txBody>
      </p:sp>
    </p:spTree>
    <p:extLst>
      <p:ext uri="{BB962C8B-B14F-4D97-AF65-F5344CB8AC3E}">
        <p14:creationId xmlns:p14="http://schemas.microsoft.com/office/powerpoint/2010/main" val="16921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8A17CA4-83E2-43BD-BAD6-EBA8393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CONTROL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5362D-DAA6-4512-8B23-4936A82F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Define l0, then approach stress carefully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E7BD434-FA35-4BFC-95AF-54739BF0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l0-figure">
            <a:extLst xmlns:a="http://schemas.openxmlformats.org/drawingml/2006/main">
              <a:ext uri="{FF2B5EF4-FFF2-40B4-BE49-F238E27FC236}">
                <a16:creationId xmlns:a16="http://schemas.microsoft.com/office/drawing/2014/main" id="{50CAEA50-395C-4552-B9AD-9DF38D1B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8124825" cy="6856095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Initial length calibr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6a424047e4352"/>
          <a:stretch xmlns:a="http://schemas.openxmlformats.org/drawingml/2006/main"/>
        </p:blipFill>
        <p:spPr>
          <a:xfrm xmlns:a="http://schemas.openxmlformats.org/drawingml/2006/main">
            <a:off x="876300" y="3226934"/>
            <a:ext cx="8124825" cy="4642757"/>
          </a:xfrm>
          <a:prstGeom xmlns:a="http://schemas.openxmlformats.org/drawingml/2006/main" prst="rect">
            <a:avLst/>
          </a:prstGeom>
        </p:spPr>
      </p:pic>
      <p:sp>
        <p:nvSpPr>
          <p:cNvPr id="6" name="approach-figure">
            <a:extLst xmlns:a="http://schemas.openxmlformats.org/drawingml/2006/main">
              <a:ext uri="{FF2B5EF4-FFF2-40B4-BE49-F238E27FC236}">
                <a16:creationId xmlns:a16="http://schemas.microsoft.com/office/drawing/2014/main" id="{39BC62DB-15C6-4A5A-B4C6-1BD2A1C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0265"/>
            <a:ext cx="8124825" cy="6856095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7" name="Stress approach contro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de9695f354d04"/>
          <a:stretch xmlns:a="http://schemas.openxmlformats.org/drawingml/2006/main"/>
        </p:blipFill>
        <p:spPr>
          <a:xfrm xmlns:a="http://schemas.openxmlformats.org/drawingml/2006/main">
            <a:off x="9286875" y="2982578"/>
            <a:ext cx="8124825" cy="5131468"/>
          </a:xfrm>
          <a:prstGeom xmlns:a="http://schemas.openxmlformats.org/drawingml/2006/main" prst="rect">
            <a:avLst/>
          </a:prstGeom>
        </p:spPr>
      </p:pic>
      <p:sp>
        <p:nvSpPr>
          <p:cNvPr id="8" name="pill-preload / unload">
            <a:extLst xmlns:a="http://schemas.openxmlformats.org/drawingml/2006/main">
              <a:ext uri="{FF2B5EF4-FFF2-40B4-BE49-F238E27FC236}">
                <a16:creationId xmlns:a16="http://schemas.microsoft.com/office/drawing/2014/main" id="{BAD5CC34-74A1-46E5-B479-45A5FAB5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47810"/>
            <a:ext cx="2190750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EF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66824-A56E-4924-9E2A-1DF20E63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583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B4D89"/>
                </a:solidFill>
              </a:defRPr>
            </a:pPr>
            <a:r>
              <a:rPr sz="1725" b="1">
                <a:solidFill>
                  <a:srgbClr val="1B4D89"/>
                </a:solidFill>
              </a:rPr>
              <a:t>preload / unload</a:t>
            </a:r>
          </a:p>
        </p:txBody>
      </p:sp>
      <p:sp>
        <p:nvSpPr>
          <p:cNvPr id="10" name="pill-fit initial length">
            <a:extLst xmlns:a="http://schemas.openxmlformats.org/drawingml/2006/main">
              <a:ext uri="{FF2B5EF4-FFF2-40B4-BE49-F238E27FC236}">
                <a16:creationId xmlns:a16="http://schemas.microsoft.com/office/drawing/2014/main" id="{1D996249-7089-47DD-9A0B-91F136D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147810"/>
            <a:ext cx="2286000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BEC48-C709-4F4D-8E95-4D3FA300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2583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7490"/>
                </a:solidFill>
              </a:defRPr>
            </a:pPr>
            <a:r>
              <a:rPr sz="1725" b="1">
                <a:solidFill>
                  <a:srgbClr val="0E7490"/>
                </a:solidFill>
              </a:rPr>
              <a:t>fit initial length</a:t>
            </a:r>
          </a:p>
        </p:txBody>
      </p:sp>
      <p:sp>
        <p:nvSpPr>
          <p:cNvPr id="12" name="pill-approach with fresh feedback">
            <a:extLst xmlns:a="http://schemas.openxmlformats.org/drawingml/2006/main">
              <a:ext uri="{FF2B5EF4-FFF2-40B4-BE49-F238E27FC236}">
                <a16:creationId xmlns:a16="http://schemas.microsoft.com/office/drawing/2014/main" id="{B0DBE629-46D9-49B7-A275-FBF9849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9147810"/>
            <a:ext cx="3429000" cy="49149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4E5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F02A3-44E6-4D94-8E7B-7A3C974D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92583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5309"/>
                </a:solidFill>
              </a:defRPr>
            </a:pPr>
            <a:r>
              <a:rPr sz="1725" b="1">
                <a:solidFill>
                  <a:srgbClr val="B45309"/>
                </a:solidFill>
              </a:rPr>
              <a:t>approach with fresh feedback</a:t>
            </a:r>
          </a:p>
        </p:txBody>
      </p:sp>
    </p:spTree>
    <p:extLst>
      <p:ext uri="{BB962C8B-B14F-4D97-AF65-F5344CB8AC3E}">
        <p14:creationId xmlns:p14="http://schemas.microsoft.com/office/powerpoint/2010/main" val="847474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B78FE70-57F9-4D73-A050-520890AF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FIRST RESULT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2E7C96-F8CF-45EE-8EF3-2EB536E4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Current sweeps can be read as power sweeps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9372078-2EA2-4A4B-90B8-2307D26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strain-plot">
            <a:extLst xmlns:a="http://schemas.openxmlformats.org/drawingml/2006/main">
              <a:ext uri="{FF2B5EF4-FFF2-40B4-BE49-F238E27FC236}">
                <a16:creationId xmlns:a16="http://schemas.microsoft.com/office/drawing/2014/main" id="{B31C5F86-7389-45A5-959A-4343956F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10314432" cy="7519035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Mini DMA strain graph with power axi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4b424983d47d5"/>
          <a:stretch xmlns:a="http://schemas.openxmlformats.org/drawingml/2006/main"/>
        </p:blipFill>
        <p:spPr>
          <a:xfrm xmlns:a="http://schemas.openxmlformats.org/drawingml/2006/main">
            <a:off x="876300" y="2720988"/>
            <a:ext cx="10314432" cy="631759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30030-5C2F-41EF-82A2-2A0BB111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14550"/>
            <a:ext cx="5810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E7490"/>
                </a:solidFill>
              </a:defRPr>
            </a:pPr>
            <a:r>
              <a:rPr sz="4200" b="1">
                <a:solidFill>
                  <a:srgbClr val="0E7490"/>
                </a:solidFill>
              </a:rPr>
              <a:t>P = I^2R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2838D-8E98-4E61-94D4-B02699D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838450"/>
            <a:ext cx="581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power is available from logged current and 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167A7-44F7-4142-B8AC-7D1C38F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314700"/>
            <a:ext cx="5810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B4D89"/>
                </a:solidFill>
              </a:defRPr>
            </a:pPr>
            <a:r>
              <a:rPr sz="4200" b="1">
                <a:solidFill>
                  <a:srgbClr val="1B4D89"/>
                </a:solidFill>
              </a:rPr>
              <a:t>top 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A62D0-C756-4A99-8F21-FF488DA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38600"/>
            <a:ext cx="581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Mini DMA plots can show power directly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DA8B2-98A0-4588-AFAB-1D3073FC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14850"/>
            <a:ext cx="5810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45309"/>
                </a:solidFill>
              </a:defRPr>
            </a:pPr>
            <a:r>
              <a:rPr sz="4200" b="1">
                <a:solidFill>
                  <a:srgbClr val="B45309"/>
                </a:solidFill>
              </a:rPr>
              <a:t>screening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C136F-3E17-4D5D-976F-E62BF20B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238750"/>
            <a:ext cx="581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467"/>
                </a:solidFill>
              </a:defRPr>
            </a:pPr>
            <a:r>
              <a:rPr sz="1650">
                <a:solidFill>
                  <a:srgbClr val="475467"/>
                </a:solidFill>
              </a:rPr>
              <a:t>enough structure to decide what to validate next</a:t>
            </a:r>
          </a:p>
        </p:txBody>
      </p:sp>
    </p:spTree>
    <p:extLst>
      <p:ext uri="{BB962C8B-B14F-4D97-AF65-F5344CB8AC3E}">
        <p14:creationId xmlns:p14="http://schemas.microsoft.com/office/powerpoint/2010/main" val="1310546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72AEF24-84FE-4722-8433-8999081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2E8FC4-666C-4678-868E-A65B454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What is ready, and what still has to be validated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303621F-76B1-4441-B16E-CBB6D6E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step-done">
            <a:extLst xmlns:a="http://schemas.openxmlformats.org/drawingml/2006/main">
              <a:ext uri="{FF2B5EF4-FFF2-40B4-BE49-F238E27FC236}">
                <a16:creationId xmlns:a16="http://schemas.microsoft.com/office/drawing/2014/main" id="{1A276D9A-C720-4D34-9326-2998425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0265"/>
            <a:ext cx="6889052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44EE5-F843-4817-A0BF-8133883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640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490"/>
                </a:solidFill>
              </a:defRPr>
            </a:pPr>
            <a:r>
              <a:rPr sz="2100" b="1">
                <a:solidFill>
                  <a:srgbClr val="0E7490"/>
                </a:solidFill>
              </a:rPr>
              <a:t>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C0925-F547-40F2-9BB1-ABACC5E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controlled recipes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52094-9E78-4684-AB9D-701F975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640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stress plateaus and current sweeps are automated</a:t>
            </a:r>
          </a:p>
        </p:txBody>
      </p:sp>
      <p:sp>
        <p:nvSpPr>
          <p:cNvPr id="8" name="step-done">
            <a:extLst xmlns:a="http://schemas.openxmlformats.org/drawingml/2006/main">
              <a:ext uri="{FF2B5EF4-FFF2-40B4-BE49-F238E27FC236}">
                <a16:creationId xmlns:a16="http://schemas.microsoft.com/office/drawing/2014/main" id="{25810B03-90E9-49D1-B120-5B9E7956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2895"/>
            <a:ext cx="6889052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BC696-C5B2-4EA3-8982-7FBE5A7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640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4D89"/>
                </a:solidFill>
              </a:defRPr>
            </a:pPr>
            <a:r>
              <a:rPr sz="2100" b="1">
                <a:solidFill>
                  <a:srgbClr val="1B4D89"/>
                </a:solidFill>
              </a:rPr>
              <a:t>done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09045-BF53-4DA0-A0E7-C371121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synchronized logging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8EDE6-1B39-4B17-8489-A25A8684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640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load, strain, current, voltage, resistance, power</a:t>
            </a:r>
          </a:p>
        </p:txBody>
      </p:sp>
      <p:sp>
        <p:nvSpPr>
          <p:cNvPr id="12" name="step-next">
            <a:extLst xmlns:a="http://schemas.openxmlformats.org/drawingml/2006/main">
              <a:ext uri="{FF2B5EF4-FFF2-40B4-BE49-F238E27FC236}">
                <a16:creationId xmlns:a16="http://schemas.microsoft.com/office/drawing/2014/main" id="{1257A4EC-F007-4CDD-8BFB-A403F10A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05525"/>
            <a:ext cx="6889052" cy="1744980"/>
          </a:xfrm>
          <a:prstGeom xmlns:a="http://schemas.openxmlformats.org/drawingml/2006/main" prst="roundRect">
            <a:avLst>
              <a:gd name="adj" fmla="val 43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6B116-01CF-48FD-A8D8-0B166146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43650"/>
            <a:ext cx="6400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220D8-59DC-4413-B2B8-3061699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800850"/>
            <a:ext cx="640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cross-check against DMA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0EBF2-6E95-4874-87D8-441C0A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353300"/>
            <a:ext cx="6400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467"/>
                </a:solidFill>
              </a:defRPr>
            </a:pPr>
            <a:r>
              <a:rPr sz="1800">
                <a:solidFill>
                  <a:srgbClr val="475467"/>
                </a:solidFill>
              </a:rPr>
              <a:t>same samples, same transformation range, better confidence</a:t>
            </a:r>
          </a:p>
        </p:txBody>
      </p:sp>
      <p:sp>
        <p:nvSpPr>
          <p:cNvPr id="16" name="software-photo">
            <a:extLst xmlns:a="http://schemas.openxmlformats.org/drawingml/2006/main">
              <a:ext uri="{FF2B5EF4-FFF2-40B4-BE49-F238E27FC236}">
                <a16:creationId xmlns:a16="http://schemas.microsoft.com/office/drawing/2014/main" id="{7C9B2428-1589-40ED-A733-32C24B8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702" y="2120265"/>
            <a:ext cx="9131998" cy="7519035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7" name="Mini DMA softwa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f42b34fd74222"/>
          <a:srcRect xmlns:a="http://schemas.openxmlformats.org/drawingml/2006/main" l="4456" t="0" r="44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9702" y="2120265"/>
            <a:ext cx="9131998" cy="7519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182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0653BE5-74F2-4D88-A7FD-742ADFA8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1653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E7490"/>
                </a:solidFill>
              </a:defRPr>
            </a:pPr>
            <a:r>
              <a:rPr sz="1425" b="1">
                <a:solidFill>
                  <a:srgbClr val="0E7490"/>
                </a:solidFill>
              </a:rPr>
              <a:t>CLOSING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82F3BA-ABBF-4D21-A113-6EEB798D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The instrument changes the pace of the project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1299E2D-8AFE-4519-8B2E-87EE12F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4B8B3-D275-4626-A05E-2E736BAD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8324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1828"/>
                </a:solidFill>
              </a:defRPr>
            </a:pPr>
            <a:r>
              <a:rPr sz="2850">
                <a:solidFill>
                  <a:srgbClr val="101828"/>
                </a:solidFill>
              </a:rPr>
              <a:t>More samples can be tested before the slow measurement.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8DF5F-FC19-46A4-A98B-8A6F118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802F2-483B-4966-A73F-9B69186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8"/>
                </a:solidFill>
              </a:defRPr>
            </a:pPr>
            <a:r>
              <a:rPr sz="2250">
                <a:solidFill>
                  <a:srgbClr val="101828"/>
                </a:solidFill>
              </a:rPr>
              <a:t>prepare -&gt; screen -&gt; select -&gt; 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ADD51-FDD6-463F-BBD6-325EB432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39203-0F91-4F53-9B48-16070670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8"/>
                </a:solidFill>
              </a:defRPr>
            </a:pPr>
            <a:r>
              <a:rPr sz="2250">
                <a:solidFill>
                  <a:srgbClr val="101828"/>
                </a:solidFill>
              </a:rPr>
              <a:t>spend DMA time on better candidates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E1A90-15C3-4804-AF8A-E2206BDF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53C76-5D70-4D65-9DAF-04183A5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8"/>
                </a:solidFill>
              </a:defRPr>
            </a:pPr>
            <a:r>
              <a:rPr sz="2250">
                <a:solidFill>
                  <a:srgbClr val="101828"/>
                </a:solidFill>
              </a:rPr>
              <a:t>iterate preparation while the idea is still fresh</a:t>
            </a:r>
          </a:p>
        </p:txBody>
      </p:sp>
      <p:sp>
        <p:nvSpPr>
          <p:cNvPr id="11" name="ai-note">
            <a:extLst xmlns:a="http://schemas.openxmlformats.org/drawingml/2006/main">
              <a:ext uri="{FF2B5EF4-FFF2-40B4-BE49-F238E27FC236}">
                <a16:creationId xmlns:a16="http://schemas.microsoft.com/office/drawing/2014/main" id="{EA51D077-0E32-45B0-B0AF-C911B35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8245"/>
            <a:ext cx="83210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7F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B813D-6EAD-4F05-A0CF-67C144D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7791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E7490"/>
                </a:solidFill>
              </a:defRPr>
            </a:pPr>
            <a:r>
              <a:rPr sz="2250" b="1">
                <a:solidFill>
                  <a:srgbClr val="0E7490"/>
                </a:solidFill>
              </a:rPr>
              <a:t>AI-assisted engineering compressed the build path; the validation remains experimental.</a:t>
            </a:r>
          </a:p>
        </p:txBody>
      </p:sp>
      <p:sp>
        <p:nvSpPr>
          <p:cNvPr id="13" name="electronics-photo">
            <a:extLst xmlns:a="http://schemas.openxmlformats.org/drawingml/2006/main">
              <a:ext uri="{FF2B5EF4-FFF2-40B4-BE49-F238E27FC236}">
                <a16:creationId xmlns:a16="http://schemas.microsoft.com/office/drawing/2014/main" id="{61096480-86FB-4AC9-8755-D8E9B63C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120265"/>
            <a:ext cx="7680960" cy="7519035"/>
          </a:xfrm>
          <a:prstGeom xmlns:a="http://schemas.openxmlformats.org/drawingml/2006/main" prst="roundRect">
            <a:avLst>
              <a:gd name="adj" fmla="val 1013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4" name="Mini DMA electronics detai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8581f595a4fd9"/>
          <a:srcRect xmlns:a="http://schemas.openxmlformats.org/drawingml/2006/main" l="0" t="13291" r="0" b="13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0740" y="2120265"/>
            <a:ext cx="7680960" cy="7519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42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2026-05-20T14:11:52.7290000Z</dcterms:created>
  <dcterms:modified xsi:type="dcterms:W3CDTF">2026-05-20T14:11:52.7290000Z</dcterms:modified>
</coreProperties>
</file>